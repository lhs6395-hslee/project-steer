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358" r:id="rId2"/>
    <p:sldId id="304" r:id="rId3"/>
    <p:sldId id="363" r:id="rId4"/>
    <p:sldId id="364" r:id="rId5"/>
    <p:sldId id="365" r:id="rId6"/>
    <p:sldId id="366" r:id="rId7"/>
    <p:sldId id="367" r:id="rId8"/>
    <p:sldId id="374" r:id="rId9"/>
    <p:sldId id="369" r:id="rId10"/>
    <p:sldId id="371" r:id="rId11"/>
    <p:sldId id="372" r:id="rId12"/>
    <p:sldId id="373" r:id="rId13"/>
    <p:sldId id="375" r:id="rId14"/>
    <p:sldId id="376" r:id="rId15"/>
    <p:sldId id="377" r:id="rId16"/>
    <p:sldId id="378" r:id="rId17"/>
    <p:sldId id="379" r:id="rId18"/>
    <p:sldId id="380" r:id="rId19"/>
    <p:sldId id="381" r:id="rId20"/>
    <p:sldId id="314" r:id="rId21"/>
    <p:sldId id="382" r:id="rId22"/>
    <p:sldId id="383" r:id="rId23"/>
    <p:sldId id="384" r:id="rId24"/>
    <p:sldId id="385" r:id="rId25"/>
    <p:sldId id="386" r:id="rId26"/>
    <p:sldId id="387" r:id="rId27"/>
    <p:sldId id="388" r:id="rId28"/>
    <p:sldId id="389" r:id="rId29"/>
    <p:sldId id="390" r:id="rId30"/>
    <p:sldId id="391" r:id="rId31"/>
    <p:sldId id="392" r:id="rId32"/>
    <p:sldId id="356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707F8F92-E977-4AF4-A17B-064B3F7C6292}">
          <p14:sldIdLst>
            <p14:sldId id="358"/>
          </p14:sldIdLst>
        </p14:section>
        <p14:section name="목차" id="{274BBB5B-E2ED-467F-AF7A-784F9A4055E0}">
          <p14:sldIdLst>
            <p14:sldId id="304"/>
          </p14:sldIdLst>
        </p14:section>
        <p14:section name="본문" id="{2BBFEB54-47FC-4EC8-AE18-073925A68771}">
          <p14:sldIdLst>
            <p14:sldId id="363"/>
            <p14:sldId id="364"/>
            <p14:sldId id="365"/>
            <p14:sldId id="366"/>
            <p14:sldId id="367"/>
            <p14:sldId id="374"/>
            <p14:sldId id="369"/>
            <p14:sldId id="371"/>
            <p14:sldId id="372"/>
            <p14:sldId id="373"/>
            <p14:sldId id="375"/>
            <p14:sldId id="376"/>
            <p14:sldId id="377"/>
            <p14:sldId id="378"/>
            <p14:sldId id="379"/>
            <p14:sldId id="380"/>
            <p14:sldId id="381"/>
            <p14:sldId id="314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</p14:sldIdLst>
        </p14:section>
        <p14:section name="끝맺음" id="{C9A1EC51-E183-4528-B5C9-C551F42A7D16}">
          <p14:sldIdLst>
            <p14:sldId id="35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3DA"/>
    <a:srgbClr val="D9E5FF"/>
    <a:srgbClr val="B7CDFF"/>
    <a:srgbClr val="F2F5FD"/>
    <a:srgbClr val="F8FAFE"/>
    <a:srgbClr val="FBFBFB"/>
    <a:srgbClr val="89AEFF"/>
    <a:srgbClr val="3372FF"/>
    <a:srgbClr val="D1DFFF"/>
    <a:srgbClr val="EE81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5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84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78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30D723-4A74-427C-8704-F358CE22FDDC}" type="datetimeFigureOut">
              <a:rPr lang="ko-KR" altLang="en-US" smtClean="0"/>
              <a:t>2026. 4. 21.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1117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378F70-37B2-44B5-9F4B-14A4EA9C44E7}" type="datetimeFigureOut">
              <a:rPr lang="ko-KR" altLang="en-US" smtClean="0"/>
              <a:t>2026. 4. 21.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36B27-1065-44B6-A758-016B3436B2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0647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788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336000" y="1496718"/>
            <a:ext cx="11520000" cy="0"/>
          </a:xfrm>
          <a:prstGeom prst="line">
            <a:avLst/>
          </a:prstGeom>
          <a:ln w="3175">
            <a:solidFill>
              <a:schemeClr val="tx1">
                <a:lumMod val="10000"/>
                <a:lumOff val="9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cxnSp>
        <p:nvCxnSpPr>
          <p:cNvPr id="9" name="직선 연결선 8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4818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강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1496718"/>
            <a:ext cx="12192001" cy="5361282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sp>
        <p:nvSpPr>
          <p:cNvPr id="11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3935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 rot="10800000">
            <a:off x="0" y="1496718"/>
            <a:ext cx="12192001" cy="5361282"/>
          </a:xfrm>
          <a:prstGeom prst="rect">
            <a:avLst/>
          </a:prstGeom>
          <a:gradFill>
            <a:gsLst>
              <a:gs pos="100000">
                <a:srgbClr val="0043DA">
                  <a:alpha val="4000"/>
                </a:srgb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sp>
        <p:nvSpPr>
          <p:cNvPr id="11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9520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3367314" y="397805"/>
            <a:ext cx="0" cy="6460195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sp>
        <p:nvSpPr>
          <p:cNvPr id="11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3590760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구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19"/>
            <a:ext cx="12192000" cy="6857195"/>
          </a:xfrm>
          <a:prstGeom prst="rect">
            <a:avLst/>
          </a:prstGeom>
        </p:spPr>
      </p:pic>
      <p:sp>
        <p:nvSpPr>
          <p:cNvPr id="8" name="직사각형 7"/>
          <p:cNvSpPr/>
          <p:nvPr userDrawn="1"/>
        </p:nvSpPr>
        <p:spPr>
          <a:xfrm>
            <a:off x="3367314" y="397805"/>
            <a:ext cx="8817263" cy="6460195"/>
          </a:xfrm>
          <a:prstGeom prst="rect">
            <a:avLst/>
          </a:prstGeom>
          <a:solidFill>
            <a:schemeClr val="accent5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3675460" y="1539854"/>
            <a:ext cx="0" cy="4421134"/>
          </a:xfrm>
          <a:prstGeom prst="line">
            <a:avLst/>
          </a:prstGeom>
          <a:ln w="3175">
            <a:solidFill>
              <a:schemeClr val="tx1">
                <a:lumMod val="10000"/>
                <a:lumOff val="9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cxnSp>
        <p:nvCxnSpPr>
          <p:cNvPr id="17" name="직선 연결선 16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2165605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강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7588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맺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3675460" y="1539854"/>
            <a:ext cx="0" cy="4421134"/>
          </a:xfrm>
          <a:prstGeom prst="line">
            <a:avLst/>
          </a:prstGeom>
          <a:ln w="3175">
            <a:solidFill>
              <a:schemeClr val="tx1">
                <a:lumMod val="10000"/>
                <a:lumOff val="9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19"/>
            <a:ext cx="12192000" cy="685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52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09537-3B6C-4308-9077-364C9BAEFA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632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9" r:id="rId2"/>
    <p:sldLayoutId id="2147483674" r:id="rId3"/>
    <p:sldLayoutId id="2147483676" r:id="rId4"/>
    <p:sldLayoutId id="2147483670" r:id="rId5"/>
    <p:sldLayoutId id="2147483671" r:id="rId6"/>
    <p:sldLayoutId id="2147483673" r:id="rId7"/>
    <p:sldLayoutId id="2147483675" r:id="rId8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10">
          <p15:clr>
            <a:srgbClr val="F26B43"/>
          </p15:clr>
        </p15:guide>
        <p15:guide id="4" pos="234">
          <p15:clr>
            <a:srgbClr val="F26B43"/>
          </p15:clr>
        </p15:guide>
        <p15:guide id="5" orient="horz" pos="4110">
          <p15:clr>
            <a:srgbClr val="F26B43"/>
          </p15:clr>
        </p15:guide>
        <p15:guide id="6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19"/>
            <a:ext cx="12192000" cy="6857195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1" y="5948604"/>
            <a:ext cx="1329872" cy="33054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138715" y="5760410"/>
            <a:ext cx="1940700" cy="92318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고객의 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Digitalization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을 선도하는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, </a:t>
            </a:r>
          </a:p>
          <a:p>
            <a:pPr latinLnBrk="0">
              <a:lnSpc>
                <a:spcPct val="150000"/>
              </a:lnSpc>
            </a:pP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DX 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전문기업</a:t>
            </a:r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alpha val="80000"/>
                </a:schemeClr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588000" y="5760410"/>
            <a:ext cx="5965370" cy="92318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AI, Cloud, </a:t>
            </a:r>
            <a:r>
              <a:rPr lang="en-US" altLang="ko-KR" sz="11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BigData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, CDN, Contact Center, 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스마트 물류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스마트 인프라 등 다양한 영역에서 </a:t>
            </a:r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alpha val="80000"/>
                </a:schemeClr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  <a:p>
            <a:pPr latinLnBrk="0">
              <a:lnSpc>
                <a:spcPct val="150000"/>
              </a:lnSpc>
            </a:pP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고객의 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Business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를 선도하는 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Digital Innovator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입니다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.</a:t>
            </a:r>
          </a:p>
        </p:txBody>
      </p:sp>
      <p:cxnSp>
        <p:nvCxnSpPr>
          <p:cNvPr id="28" name="직선 연결선 27"/>
          <p:cNvCxnSpPr/>
          <p:nvPr/>
        </p:nvCxnSpPr>
        <p:spPr>
          <a:xfrm>
            <a:off x="355601" y="5759125"/>
            <a:ext cx="11444514" cy="0"/>
          </a:xfrm>
          <a:prstGeom prst="line">
            <a:avLst/>
          </a:prstGeom>
          <a:ln w="3175">
            <a:solidFill>
              <a:schemeClr val="bg1">
                <a:lumMod val="75000"/>
                <a:alpha val="3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57415" y="29028"/>
            <a:ext cx="1940700" cy="3978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8715" y="29028"/>
            <a:ext cx="1940700" cy="3978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04/16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AB2699-131C-8D31-794B-9B2824513DFE}"/>
              </a:ext>
            </a:extLst>
          </p:cNvPr>
          <p:cNvSpPr txBox="1"/>
          <p:nvPr/>
        </p:nvSpPr>
        <p:spPr>
          <a:xfrm>
            <a:off x="3138715" y="1846736"/>
            <a:ext cx="5395685" cy="190647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/>
            <a:r>
              <a:rPr lang="en-US" altLang="ko-KR" sz="5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GS </a:t>
            </a:r>
            <a:r>
              <a:rPr lang="en-US" altLang="ko-KR" sz="50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Neotek</a:t>
            </a:r>
            <a:r>
              <a:rPr lang="en-US" altLang="ko-KR" sz="5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 </a:t>
            </a:r>
          </a:p>
          <a:p>
            <a:pPr latinLnBrk="0"/>
            <a:r>
              <a:rPr lang="en-US" altLang="ko-KR" sz="5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PPT </a:t>
            </a:r>
            <a:r>
              <a:rPr lang="ko-KR" altLang="en-US" sz="5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템플릿 가이드라인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B5BFB3-9BDB-7CF2-577A-FC4D95FDD9BB}"/>
              </a:ext>
            </a:extLst>
          </p:cNvPr>
          <p:cNvSpPr txBox="1"/>
          <p:nvPr/>
        </p:nvSpPr>
        <p:spPr>
          <a:xfrm>
            <a:off x="3138716" y="3754494"/>
            <a:ext cx="5395685" cy="54363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/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Expert Guide — 아키텍처 · 설정 · 운영 · 트러블슈팅</a:t>
            </a:r>
          </a:p>
        </p:txBody>
      </p:sp>
    </p:spTree>
    <p:extLst>
      <p:ext uri="{BB962C8B-B14F-4D97-AF65-F5344CB8AC3E}">
        <p14:creationId xmlns:p14="http://schemas.microsoft.com/office/powerpoint/2010/main" val="1279385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354805" y="545902"/>
            <a:ext cx="3112294" cy="51076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2800" dirty="0"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CONTENTS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67314" y="1715534"/>
            <a:ext cx="1161474" cy="46166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latinLnBrk="0">
              <a:lnSpc>
                <a:spcPct val="250000"/>
              </a:lnSpc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1</a:t>
            </a:r>
          </a:p>
          <a:p>
            <a:pPr algn="ctr" latinLnBrk="0">
              <a:lnSpc>
                <a:spcPct val="250000"/>
              </a:lnSpc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2</a:t>
            </a:r>
          </a:p>
          <a:p>
            <a:pPr algn="ctr" latinLnBrk="0">
              <a:lnSpc>
                <a:spcPct val="250000"/>
              </a:lnSpc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3</a:t>
            </a:r>
          </a:p>
          <a:p>
            <a:pPr algn="ctr" latinLnBrk="0">
              <a:lnSpc>
                <a:spcPct val="250000"/>
              </a:lnSpc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4</a:t>
            </a:r>
          </a:p>
          <a:p>
            <a:pPr algn="ctr" latinLnBrk="0">
              <a:lnSpc>
                <a:spcPct val="250000"/>
              </a:lnSpc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43668" y="1715534"/>
            <a:ext cx="5129783" cy="46166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latinLnBrk="0">
              <a:lnSpc>
                <a:spcPct val="250000"/>
              </a:lnSpc>
              <a:buClr>
                <a:srgbClr val="1F43F9"/>
              </a:buClr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목차 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1</a:t>
            </a:r>
          </a:p>
          <a:p>
            <a:pPr latinLnBrk="0">
              <a:lnSpc>
                <a:spcPct val="250000"/>
              </a:lnSpc>
              <a:buClr>
                <a:srgbClr val="1F43F9"/>
              </a:buClr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목차 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2</a:t>
            </a:r>
          </a:p>
          <a:p>
            <a:pPr latinLnBrk="0">
              <a:lnSpc>
                <a:spcPct val="250000"/>
              </a:lnSpc>
              <a:buClr>
                <a:srgbClr val="1F43F9"/>
              </a:buClr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목차 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3</a:t>
            </a:r>
          </a:p>
          <a:p>
            <a:pPr latinLnBrk="0">
              <a:lnSpc>
                <a:spcPct val="250000"/>
              </a:lnSpc>
              <a:buClr>
                <a:srgbClr val="1F43F9"/>
              </a:buClr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목차 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4</a:t>
            </a:r>
          </a:p>
          <a:p>
            <a:pPr latinLnBrk="0">
              <a:lnSpc>
                <a:spcPct val="250000"/>
              </a:lnSpc>
              <a:buClr>
                <a:srgbClr val="1F43F9"/>
              </a:buClr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목차 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5</a:t>
            </a:r>
          </a:p>
        </p:txBody>
      </p:sp>
      <p:grpSp>
        <p:nvGrpSpPr>
          <p:cNvPr id="53" name="그룹 52"/>
          <p:cNvGrpSpPr/>
          <p:nvPr/>
        </p:nvGrpSpPr>
        <p:grpSpPr>
          <a:xfrm>
            <a:off x="3806048" y="2760055"/>
            <a:ext cx="8385952" cy="2761457"/>
            <a:chOff x="3764222" y="1060078"/>
            <a:chExt cx="5147549" cy="1685118"/>
          </a:xfrm>
        </p:grpSpPr>
        <p:cxnSp>
          <p:nvCxnSpPr>
            <p:cNvPr id="54" name="직선 연결선 53"/>
            <p:cNvCxnSpPr/>
            <p:nvPr/>
          </p:nvCxnSpPr>
          <p:spPr>
            <a:xfrm>
              <a:off x="3764222" y="1060078"/>
              <a:ext cx="5147549" cy="0"/>
            </a:xfrm>
            <a:prstGeom prst="line">
              <a:avLst/>
            </a:prstGeom>
            <a:ln w="3175">
              <a:solidFill>
                <a:schemeClr val="bg1">
                  <a:lumMod val="75000"/>
                  <a:alpha val="48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/>
            <p:cNvCxnSpPr/>
            <p:nvPr/>
          </p:nvCxnSpPr>
          <p:spPr>
            <a:xfrm>
              <a:off x="3764222" y="1621784"/>
              <a:ext cx="5147549" cy="0"/>
            </a:xfrm>
            <a:prstGeom prst="line">
              <a:avLst/>
            </a:prstGeom>
            <a:ln w="3175">
              <a:solidFill>
                <a:schemeClr val="bg1">
                  <a:lumMod val="75000"/>
                  <a:alpha val="48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/>
            <p:nvPr/>
          </p:nvCxnSpPr>
          <p:spPr>
            <a:xfrm>
              <a:off x="3764222" y="2183490"/>
              <a:ext cx="5147549" cy="0"/>
            </a:xfrm>
            <a:prstGeom prst="line">
              <a:avLst/>
            </a:prstGeom>
            <a:ln w="3175">
              <a:solidFill>
                <a:schemeClr val="bg1">
                  <a:lumMod val="75000"/>
                  <a:alpha val="48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/>
            <p:cNvCxnSpPr/>
            <p:nvPr/>
          </p:nvCxnSpPr>
          <p:spPr>
            <a:xfrm>
              <a:off x="3764222" y="2745196"/>
              <a:ext cx="5147549" cy="0"/>
            </a:xfrm>
            <a:prstGeom prst="line">
              <a:avLst/>
            </a:prstGeom>
            <a:ln w="3175">
              <a:solidFill>
                <a:schemeClr val="bg1">
                  <a:lumMod val="75000"/>
                  <a:alpha val="48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2550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628900"/>
            <a:ext cx="5394960" cy="38404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81308" y="2628900"/>
            <a:ext cx="5650992" cy="20574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81308" y="4960620"/>
            <a:ext cx="5650992" cy="15087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4979662"/>
            <a:ext cx="4663440" cy="1256546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34440" y="5242175"/>
            <a:ext cx="1097280" cy="457200"/>
          </a:xfrm>
          <a:prstGeom prst="roundRect">
            <a:avLst/>
          </a:prstGeom>
          <a:solidFill>
            <a:srgbClr val="EE8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06040" y="5242175"/>
            <a:ext cx="1097280" cy="457200"/>
          </a:xfrm>
          <a:prstGeom prst="roundRect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77640" y="5242175"/>
            <a:ext cx="1097280" cy="457200"/>
          </a:xfrm>
          <a:prstGeom prst="roundRect">
            <a:avLst/>
          </a:prstGeom>
          <a:solidFill>
            <a:srgbClr val="4CB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2331720" y="5356475"/>
            <a:ext cx="274320" cy="228600"/>
          </a:xfrm>
          <a:prstGeom prst="rightArrow">
            <a:avLst/>
          </a:prstGeom>
          <a:solidFill>
            <a:srgbClr val="969696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3703320" y="5356475"/>
            <a:ext cx="274320" cy="228600"/>
          </a:xfrm>
          <a:prstGeom prst="rightArrow">
            <a:avLst/>
          </a:prstGeom>
          <a:solidFill>
            <a:srgbClr val="969696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" y="557784"/>
            <a:ext cx="2720340" cy="932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sz="2000" b="1" dirty="0">
                <a:solidFill>
                  <a:srgbClr val="000000"/>
                </a:solidFill>
                <a:latin typeface="Freesentation"/>
              </a:rPr>
              <a:t>L01. Bento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2756" y="558698"/>
            <a:ext cx="7550200" cy="9381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200" dirty="0">
                <a:latin typeface="Freesentation"/>
              </a:rPr>
              <a:t>좌 50% + 우 2분할 레이아웃 테스트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00200"/>
            <a:ext cx="11277295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MSK 핵심 아키텍처와 클러스터 유형별 특성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6596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아키텍처 개요, 클러스터 유형(Provisioned/Serverless/Express), 보안 체계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00" y="2859982"/>
            <a:ext cx="50349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MSK 아키텍처 개요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200" y="3288022"/>
            <a:ext cx="5034960" cy="1554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완전관리형 Apache Kafka 서비스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Multi-AZ 자동 복제 및 고가용성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브로커/파티션 자동 스케일링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AWS 서비스 네이티브 통합 (Lambda, Kinesis, Glue, S3)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오픈소스 호환 — 코드 변경 불필요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1308" y="2706067"/>
            <a:ext cx="529099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클러스터 유형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1308" y="3134107"/>
            <a:ext cx="5290992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Provisioned: 직접 지정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Serverless: 자동 스케일링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Express: 고성능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1308" y="5006988"/>
            <a:ext cx="529099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보안 체계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1308" y="5435028"/>
            <a:ext cx="5290992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IAM / SASL-SCRAM / mTLS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TLS + KMS 암호화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Security Group 접근 제어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242175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Freesentation"/>
              </a:rPr>
              <a:t>Producer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5242175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Freesentation"/>
              </a:rPr>
              <a:t>MSK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40" y="5242175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Freesentation"/>
              </a:rPr>
              <a:t>Consumer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745095"/>
            <a:ext cx="1098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4A4A"/>
                </a:solidFill>
                <a:latin typeface="Freesentation"/>
              </a:rPr>
              <a:t>App / SDK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5745095"/>
            <a:ext cx="1098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4A4A"/>
                </a:solidFill>
                <a:latin typeface="Freesentation"/>
              </a:rPr>
              <a:t>Topic/Part.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40" y="5745095"/>
            <a:ext cx="1098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4A4A"/>
                </a:solidFill>
                <a:latin typeface="Freesentation"/>
              </a:rPr>
              <a:t>Consumer Grp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84133" y="2674620"/>
            <a:ext cx="1828800" cy="1188720"/>
          </a:xfrm>
          <a:prstGeom prst="roundRect">
            <a:avLst/>
          </a:prstGeom>
          <a:solidFill>
            <a:srgbClr val="EE8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Producer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895630" y="3086374"/>
            <a:ext cx="457200" cy="365760"/>
          </a:xfrm>
          <a:prstGeom prst="rightArrow">
            <a:avLst/>
          </a:prstGeom>
          <a:solidFill>
            <a:srgbClr val="EE8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535710" y="2674620"/>
            <a:ext cx="5120640" cy="1188720"/>
          </a:xfrm>
          <a:prstGeom prst="roundRect">
            <a:avLst/>
          </a:prstGeom>
          <a:solidFill>
            <a:srgbClr val="E6F0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715710" y="2711450"/>
            <a:ext cx="476064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Freesentation"/>
              </a:rPr>
              <a:t>MSK Cluster (Multi-AZ Brokers)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18590" y="3268980"/>
            <a:ext cx="1494129" cy="411480"/>
          </a:xfrm>
          <a:prstGeom prst="roundRect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Freesentation"/>
              </a:rPr>
              <a:t>Broker (AZ-a)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880" y="3268980"/>
            <a:ext cx="1494129" cy="411480"/>
          </a:xfrm>
          <a:prstGeom prst="roundRect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Freesentation"/>
              </a:rPr>
              <a:t>Broker (AZ-b)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81169" y="3268980"/>
            <a:ext cx="1494129" cy="411480"/>
          </a:xfrm>
          <a:prstGeom prst="roundRect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Freesentation"/>
              </a:rPr>
              <a:t>Broker (AZ-c)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9230" y="3086374"/>
            <a:ext cx="457200" cy="365760"/>
          </a:xfrm>
          <a:prstGeom prst="rightArrow">
            <a:avLst/>
          </a:prstGeom>
          <a:solidFill>
            <a:srgbClr val="4CB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479310" y="2674620"/>
            <a:ext cx="1828800" cy="1188720"/>
          </a:xfrm>
          <a:prstGeom prst="roundRect">
            <a:avLst/>
          </a:prstGeom>
          <a:solidFill>
            <a:srgbClr val="4CB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Consumer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37660"/>
            <a:ext cx="3605479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93108" y="4137660"/>
            <a:ext cx="3605479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129016" y="4137660"/>
            <a:ext cx="3605479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200" y="4230996"/>
            <a:ext cx="3245479" cy="3044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핵심 구성요소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00" y="4643491"/>
            <a:ext cx="3245479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Broker: 메시지 저장/전달 노드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Topic: 메시지 카테고리 단위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Partition: 병렬 처리 단위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Replication Factor: 데이터 복제 수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ZooKeeper / KRaft: 메타데이터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3108" y="4230996"/>
            <a:ext cx="3245479" cy="3044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네트워크 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3108" y="4643491"/>
            <a:ext cx="3245479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VPC 내 Private Subnet 배치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Security Group 기반 접근 제어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ENI: 브로커별 네트워크 인터페이스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PrivateLink: Cross-VPC 연결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Multi-AZ 자동 분산 배치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9016" y="4230996"/>
            <a:ext cx="3245479" cy="3044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스토리지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9016" y="4643491"/>
            <a:ext cx="3245479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EBS gp3: 기본 브로커 스토리지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Provisioned IOPS: 고성능 워크로드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Tiered Storage: S3 기반 장기 보관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자동 확장: 디스크 용량 자동 증설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보존 기간별 계층화 전략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" y="557784"/>
            <a:ext cx="2720340" cy="932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sz="2000" b="1" dirty="0">
                <a:solidFill>
                  <a:srgbClr val="000000"/>
                </a:solidFill>
                <a:latin typeface="Freesentation"/>
              </a:rPr>
              <a:t>L02. Three Cards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62756" y="558698"/>
            <a:ext cx="7550200" cy="9381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200" dirty="0">
                <a:latin typeface="Freesentation"/>
              </a:rPr>
              <a:t>3열 카드 레이아웃 테스트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600200"/>
            <a:ext cx="11277295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Producer → MSK Cluster → Consumer 데이터 흐름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96596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메시지 생산부터 소비까지의 전체 아키텍처 구성도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4093" y="2628900"/>
            <a:ext cx="5394960" cy="18288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33190" y="2628900"/>
            <a:ext cx="5394960" cy="18288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4093" y="4732020"/>
            <a:ext cx="5394960" cy="17373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33190" y="4732020"/>
            <a:ext cx="5394960" cy="17373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4093" y="2691622"/>
            <a:ext cx="5034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브로커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3190" y="2691622"/>
            <a:ext cx="5034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스토리지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093" y="4789548"/>
            <a:ext cx="5034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모니터링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3190" y="4789548"/>
            <a:ext cx="5034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MSK Connect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4093" y="3165382"/>
            <a:ext cx="503496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A4A4A"/>
                </a:solidFill>
                <a:latin typeface="Freesentation"/>
              </a:rPr>
              <a:t>• Multi-AZ 자동 분산</a:t>
            </a:r>
          </a:p>
          <a:p>
            <a:r>
              <a:rPr sz="1300" b="0">
                <a:solidFill>
                  <a:srgbClr val="4A4A4A"/>
                </a:solidFill>
                <a:latin typeface="Freesentation"/>
              </a:rPr>
              <a:t>• 장애 시 자동 복구</a:t>
            </a:r>
          </a:p>
          <a:p>
            <a:r>
              <a:rPr sz="1300" b="0">
                <a:solidFill>
                  <a:srgbClr val="4A4A4A"/>
                </a:solidFill>
                <a:latin typeface="Freesentation"/>
              </a:rPr>
              <a:t>• 인스턴스 타입 변경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3190" y="3165382"/>
            <a:ext cx="503496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A4A4A"/>
                </a:solidFill>
                <a:latin typeface="Freesentation"/>
              </a:rPr>
              <a:t>• EBS gp3 기본</a:t>
            </a:r>
          </a:p>
          <a:p>
            <a:r>
              <a:rPr sz="1300" b="0">
                <a:solidFill>
                  <a:srgbClr val="4A4A4A"/>
                </a:solidFill>
                <a:latin typeface="Freesentation"/>
              </a:rPr>
              <a:t>• Tiered Storage (S3)</a:t>
            </a:r>
          </a:p>
          <a:p>
            <a:r>
              <a:rPr sz="1300" b="0">
                <a:solidFill>
                  <a:srgbClr val="4A4A4A"/>
                </a:solidFill>
                <a:latin typeface="Freesentation"/>
              </a:rPr>
              <a:t>• 자동 디스크 확장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4093" y="5263308"/>
            <a:ext cx="503496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CloudWatch 3단계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Prometheus 호환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Broker 로그 전송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3190" y="5263308"/>
            <a:ext cx="503496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Kafka Connect 관리형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Source/Sink 플러그인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Auto Scaling</a:t>
            </a:r>
          </a:p>
        </p:txBody>
      </p:sp>
      <p:pic>
        <p:nvPicPr>
          <p:cNvPr id="15" name="Picture 14" descr="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784" y="2766060"/>
            <a:ext cx="411480" cy="411480"/>
          </a:xfrm>
          <a:prstGeom prst="rect">
            <a:avLst/>
          </a:prstGeom>
        </p:spPr>
      </p:pic>
      <p:pic>
        <p:nvPicPr>
          <p:cNvPr id="16" name="Picture 15" descr="sto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4064" y="2766060"/>
            <a:ext cx="411480" cy="411480"/>
          </a:xfrm>
          <a:prstGeom prst="rect">
            <a:avLst/>
          </a:prstGeom>
        </p:spPr>
      </p:pic>
      <p:pic>
        <p:nvPicPr>
          <p:cNvPr id="17" name="Picture 16" descr="monito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784" y="4869180"/>
            <a:ext cx="411480" cy="411480"/>
          </a:xfrm>
          <a:prstGeom prst="rect">
            <a:avLst/>
          </a:prstGeom>
        </p:spPr>
      </p:pic>
      <p:pic>
        <p:nvPicPr>
          <p:cNvPr id="18" name="Picture 17" descr="conn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4064" y="4869180"/>
            <a:ext cx="411480" cy="411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4787" y="557784"/>
            <a:ext cx="2720340" cy="932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sz="2000" b="1" dirty="0">
                <a:solidFill>
                  <a:srgbClr val="000000"/>
                </a:solidFill>
                <a:latin typeface="Freesentation"/>
              </a:rPr>
              <a:t>L03. Grid 2x2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2756" y="558698"/>
            <a:ext cx="7550200" cy="9381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200" dirty="0">
                <a:latin typeface="Freesentation"/>
              </a:rPr>
              <a:t>2x2 카드 그리드 레이아웃 테스트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600200"/>
            <a:ext cx="11277295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MSK 클러스터 운영 핵심 요소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96596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브로커 관리, 스토리지, 모니터링, MSK Connect 통합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628900"/>
            <a:ext cx="2647950" cy="548640"/>
          </a:xfrm>
          <a:prstGeom prst="chevron">
            <a:avLst>
              <a:gd name="adj" fmla="val 50000"/>
            </a:avLst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Freesentation"/>
              </a:rPr>
              <a:t>1. 설계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2988" y="2628900"/>
            <a:ext cx="2647950" cy="548640"/>
          </a:xfrm>
          <a:prstGeom prst="chevron">
            <a:avLst>
              <a:gd name="adj" fmla="val 50000"/>
            </a:avLst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Freesentation"/>
              </a:rPr>
              <a:t>2. 생성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8776" y="2628900"/>
            <a:ext cx="2647950" cy="548640"/>
          </a:xfrm>
          <a:prstGeom prst="chevron">
            <a:avLst>
              <a:gd name="adj" fmla="val 50000"/>
            </a:avLst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Freesentation"/>
              </a:rPr>
              <a:t>3. 연결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3649" y="2628900"/>
            <a:ext cx="2647950" cy="548640"/>
          </a:xfrm>
          <a:prstGeom prst="chevron">
            <a:avLst>
              <a:gd name="adj" fmla="val 50000"/>
            </a:avLst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Freesentation"/>
              </a:rPr>
              <a:t>4. 운영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51860"/>
            <a:ext cx="2646273" cy="30175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32988" y="3451860"/>
            <a:ext cx="2646273" cy="30175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08776" y="3451860"/>
            <a:ext cx="2646273" cy="30175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83649" y="3451860"/>
            <a:ext cx="2646273" cy="30175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200" y="3573415"/>
            <a:ext cx="2286273" cy="2880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VPC/Subnet 설계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브로커 수 결정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보안 그룹 설정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2988" y="3573415"/>
            <a:ext cx="2286273" cy="2880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클러스터 생성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인증 방식 설정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암호화 활성화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8776" y="3573415"/>
            <a:ext cx="2286273" cy="2880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Producer 연결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MSK Connect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PrivateLink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3649" y="3573415"/>
            <a:ext cx="2286273" cy="2880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모니터링 구성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파티션 리밸런싱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비용 최적화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" y="557784"/>
            <a:ext cx="2720340" cy="932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sz="2000" b="1" dirty="0">
                <a:solidFill>
                  <a:srgbClr val="000000"/>
                </a:solidFill>
                <a:latin typeface="Freesentation"/>
              </a:rPr>
              <a:t>L04. Process Arrow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2756" y="558698"/>
            <a:ext cx="7550200" cy="9381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200" dirty="0">
                <a:latin typeface="Freesentation"/>
              </a:rPr>
              <a:t>4단계 프로세스 화살표 레이아웃 테스트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600200"/>
            <a:ext cx="11277295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MSK 도입 4단계 프로세스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6596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설계 → 생성 → 연결 → 운영 단계별 핵심 작업 및 체크포인트</a:t>
            </a:r>
          </a:p>
        </p:txBody>
      </p:sp>
      <p:pic>
        <p:nvPicPr>
          <p:cNvPr id="20" name="Picture 19" descr="L04_rId2_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5875020"/>
            <a:ext cx="411480" cy="411480"/>
          </a:xfrm>
          <a:prstGeom prst="rect">
            <a:avLst/>
          </a:prstGeom>
        </p:spPr>
      </p:pic>
      <p:pic>
        <p:nvPicPr>
          <p:cNvPr id="21" name="Picture 20" descr="L04_rId3_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5875020"/>
            <a:ext cx="411480" cy="41148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5" y="5875020"/>
            <a:ext cx="411480" cy="41148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6536" y="587502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628900"/>
            <a:ext cx="2646273" cy="457200"/>
          </a:xfrm>
          <a:prstGeom prst="roundRect">
            <a:avLst/>
          </a:prstGeom>
          <a:solidFill>
            <a:srgbClr val="001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Freesentation"/>
              </a:rPr>
              <a:t>Phase 1: 평가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2988" y="2628900"/>
            <a:ext cx="2646273" cy="457200"/>
          </a:xfrm>
          <a:prstGeom prst="roundRect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Freesentation"/>
              </a:rPr>
              <a:t>Phase 2: 설계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8776" y="2628900"/>
            <a:ext cx="2646273" cy="457200"/>
          </a:xfrm>
          <a:prstGeom prst="roundRect">
            <a:avLst/>
          </a:prstGeom>
          <a:solidFill>
            <a:srgbClr val="EE8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Freesentation"/>
              </a:rPr>
              <a:t>Phase 3: 구축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3649" y="2628900"/>
            <a:ext cx="2646273" cy="457200"/>
          </a:xfrm>
          <a:prstGeom prst="roundRect">
            <a:avLst/>
          </a:prstGeom>
          <a:solidFill>
            <a:srgbClr val="4CB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Freesentation"/>
              </a:rPr>
              <a:t>Phase 4: 운영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68980"/>
            <a:ext cx="2646273" cy="32004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32988" y="3268980"/>
            <a:ext cx="2646273" cy="32004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08776" y="3268980"/>
            <a:ext cx="2646273" cy="32004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83649" y="3268980"/>
            <a:ext cx="2646273" cy="32004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200" y="3390535"/>
            <a:ext cx="2286273" cy="3063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현재 환경 분석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워크로드 파악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비용/성능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2988" y="3390535"/>
            <a:ext cx="2286273" cy="3063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클러스터 유형 선택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네트워크 설계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보안 아키텍처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8776" y="3390535"/>
            <a:ext cx="2286273" cy="3063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클러스터 프로비저닝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MirrorMaker 설정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데이터 동기화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3649" y="3390535"/>
            <a:ext cx="2286273" cy="3063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모니터링 대시보드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알림 정책 설정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성능 튜닝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" y="557784"/>
            <a:ext cx="2720340" cy="932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sz="2000" b="1" dirty="0">
                <a:solidFill>
                  <a:srgbClr val="000000"/>
                </a:solidFill>
                <a:latin typeface="Freesentation"/>
              </a:rPr>
              <a:t>L05. Phased 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2756" y="558698"/>
            <a:ext cx="7550200" cy="9381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200" dirty="0">
                <a:latin typeface="Freesentation"/>
              </a:rPr>
              <a:t>단계별 그라데이션 컬럼 레이아웃 테스트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600200"/>
            <a:ext cx="11277295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MSK 전환 4단계 로드맵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6596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평가 → 설계 → 구축 → 운영 단계별 주요 액션과 산출물</a:t>
            </a:r>
          </a:p>
        </p:txBody>
      </p:sp>
      <p:pic>
        <p:nvPicPr>
          <p:cNvPr id="20" name="Picture 19" descr="L05_rId2_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942" y="5875934"/>
            <a:ext cx="411480" cy="411480"/>
          </a:xfrm>
          <a:prstGeom prst="rect">
            <a:avLst/>
          </a:prstGeom>
        </p:spPr>
      </p:pic>
      <p:pic>
        <p:nvPicPr>
          <p:cNvPr id="21" name="Picture 20" descr="L04_rId2_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644" y="5875934"/>
            <a:ext cx="411480" cy="411480"/>
          </a:xfrm>
          <a:prstGeom prst="rect">
            <a:avLst/>
          </a:prstGeom>
        </p:spPr>
      </p:pic>
      <p:pic>
        <p:nvPicPr>
          <p:cNvPr id="22" name="Picture 21" descr="L05_rId4_image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3432" y="5875934"/>
            <a:ext cx="411480" cy="41148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0135" y="5875934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54806" y="557906"/>
            <a:ext cx="2720317" cy="932614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>
              <a:lnSpc>
                <a:spcPct val="120000"/>
              </a:lnSpc>
            </a:pPr>
            <a:r>
              <a:rPr sz="2000" b="1" dirty="0">
                <a:solidFill>
                  <a:srgbClr val="000000"/>
                </a:solidFill>
                <a:latin typeface="Freesentation"/>
              </a:rPr>
              <a:t>L06. Zigzag Timeline</a:t>
            </a:r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763700" y="558800"/>
            <a:ext cx="7551483" cy="937918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>
              <a:lnSpc>
                <a:spcPct val="120000"/>
              </a:lnSpc>
            </a:pPr>
            <a:r>
              <a:rPr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Freesentation"/>
              </a:rPr>
              <a:t>S자 지그재그 타임라인 — MSK 도입 4단계 로드맵</a:t>
            </a:r>
            <a:endParaRPr lang="ko-KR" altLang="en-US" dirty="0"/>
          </a:p>
        </p:txBody>
      </p:sp>
      <p:sp>
        <p:nvSpPr>
          <p:cNvPr id="190" name="TextBox 19"/>
          <p:cNvSpPr txBox="1">
            <a:spLocks noGrp="1"/>
          </p:cNvSpPr>
          <p:nvPr/>
        </p:nvSpPr>
        <p:spPr>
          <a:xfrm>
            <a:off x="457200" y="1600200"/>
            <a:ext cx="1127729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1600" b="1">
                <a:solidFill>
                  <a:srgbClr val="0043DA"/>
                </a:solidFill>
                <a:latin typeface="Freesentation"/>
              </a:rPr>
              <a:t>온프레미스 Kafka → AWS MSK 전환 4단계</a:t>
            </a:r>
          </a:p>
        </p:txBody>
      </p:sp>
      <p:sp>
        <p:nvSpPr>
          <p:cNvPr id="200" name="TextBox 20"/>
          <p:cNvSpPr txBox="1">
            <a:spLocks noGrp="1"/>
          </p:cNvSpPr>
          <p:nvPr/>
        </p:nvSpPr>
        <p:spPr>
          <a:xfrm>
            <a:off x="457200" y="196596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1300" b="0">
                <a:solidFill>
                  <a:srgbClr val="4A4A4A"/>
                </a:solidFill>
                <a:latin typeface="Freesentation"/>
              </a:rPr>
              <a:t>환경 설계부터 운영 안정화까지 2024년 로드맵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48780"/>
            <a:ext cx="11277295" cy="18288"/>
          </a:xfrm>
          <a:prstGeom prst="rect">
            <a:avLst/>
          </a:prstGeom>
          <a:solidFill>
            <a:srgbClr val="0043DA"/>
          </a:solidFill>
          <a:ln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798625" y="2537460"/>
            <a:ext cx="1828800" cy="114300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053535" y="5417820"/>
            <a:ext cx="1828800" cy="114300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309360" y="2537460"/>
            <a:ext cx="1828800" cy="11430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564270" y="5417820"/>
            <a:ext cx="1828800" cy="11430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90065" y="262890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43DA"/>
                </a:solidFill>
              </a:rPr>
              <a:t>환경 설계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44975" y="550926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43DA"/>
                </a:solidFill>
              </a:rPr>
              <a:t>클러스터 구축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62890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E9E9E"/>
                </a:solidFill>
              </a:rPr>
              <a:t>검증 및 최적화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55710" y="550926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E9E9E"/>
                </a:solidFill>
              </a:rPr>
              <a:t>운영 안정화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90065" y="29946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• VPC/서브넷 설계</a:t>
            </a:r>
          </a:p>
          <a:p>
            <a:r>
              <a:rPr sz="1000">
                <a:solidFill>
                  <a:srgbClr val="4A4A4A"/>
                </a:solidFill>
              </a:rPr>
              <a:t>• 브로커 수 산정</a:t>
            </a:r>
          </a:p>
          <a:p>
            <a:r>
              <a:rPr sz="1000">
                <a:solidFill>
                  <a:srgbClr val="4A4A4A"/>
                </a:solidFill>
              </a:rPr>
              <a:t>• 인증 방식 결정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44975" y="58750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• MSK 클러스터 프로비저닝</a:t>
            </a:r>
          </a:p>
          <a:p>
            <a:r>
              <a:rPr sz="1000">
                <a:solidFill>
                  <a:srgbClr val="4A4A4A"/>
                </a:solidFill>
              </a:rPr>
              <a:t>• IAM 정책 설정</a:t>
            </a:r>
          </a:p>
          <a:p>
            <a:r>
              <a:rPr sz="1000">
                <a:solidFill>
                  <a:srgbClr val="4A4A4A"/>
                </a:solidFill>
              </a:rPr>
              <a:t>• 모니터링 에이전트 배포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9946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E9E9E"/>
                </a:solidFill>
              </a:rPr>
              <a:t>• 성능 벤치마크</a:t>
            </a:r>
          </a:p>
          <a:p>
            <a:r>
              <a:rPr sz="1000">
                <a:solidFill>
                  <a:srgbClr val="9E9E9E"/>
                </a:solidFill>
              </a:rPr>
              <a:t>• 장애 복구 테스트</a:t>
            </a:r>
          </a:p>
          <a:p>
            <a:r>
              <a:rPr sz="1000">
                <a:solidFill>
                  <a:srgbClr val="9E9E9E"/>
                </a:solidFill>
              </a:rPr>
              <a:t>• 파티션 최적화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55710" y="58750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E9E9E"/>
                </a:solidFill>
              </a:rPr>
              <a:t>• 24/7 모니터링 구성</a:t>
            </a:r>
          </a:p>
          <a:p>
            <a:r>
              <a:rPr sz="1000">
                <a:solidFill>
                  <a:srgbClr val="9E9E9E"/>
                </a:solidFill>
              </a:rPr>
              <a:t>• 알람 임계값 튜닝</a:t>
            </a:r>
          </a:p>
          <a:p>
            <a:r>
              <a:rPr sz="1000">
                <a:solidFill>
                  <a:srgbClr val="9E9E9E"/>
                </a:solidFill>
              </a:rPr>
              <a:t>• 스케일링 정책 수립</a:t>
            </a:r>
          </a:p>
        </p:txBody>
      </p:sp>
      <p:pic>
        <p:nvPicPr>
          <p:cNvPr id="43" name="Picture 42" descr="dep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225" y="2628900"/>
            <a:ext cx="365760" cy="365760"/>
          </a:xfrm>
          <a:prstGeom prst="rect">
            <a:avLst/>
          </a:prstGeom>
        </p:spPr>
      </p:pic>
      <p:pic>
        <p:nvPicPr>
          <p:cNvPr id="44" name="Picture 43" descr="clu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135" y="5509260"/>
            <a:ext cx="365760" cy="365760"/>
          </a:xfrm>
          <a:prstGeom prst="rect">
            <a:avLst/>
          </a:prstGeom>
        </p:spPr>
      </p:pic>
      <p:pic>
        <p:nvPicPr>
          <p:cNvPr id="45" name="Picture 44" descr="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628900"/>
            <a:ext cx="365760" cy="365760"/>
          </a:xfrm>
          <a:prstGeom prst="rect">
            <a:avLst/>
          </a:prstGeom>
        </p:spPr>
      </p:pic>
      <p:pic>
        <p:nvPicPr>
          <p:cNvPr id="46" name="Picture 45" descr="monito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5870" y="5509260"/>
            <a:ext cx="365760" cy="365760"/>
          </a:xfrm>
          <a:prstGeom prst="rect">
            <a:avLst/>
          </a:prstGeom>
        </p:spPr>
      </p:pic>
      <p:sp>
        <p:nvSpPr>
          <p:cNvPr id="97" name="Badge Node2"/>
          <p:cNvSpPr/>
          <p:nvPr/>
        </p:nvSpPr>
        <p:spPr>
          <a:xfrm>
            <a:off x="4510918" y="4960620"/>
            <a:ext cx="914400" cy="320040"/>
          </a:xfrm>
          <a:prstGeom prst="roundRect">
            <a:avLst/>
          </a:prstGeom>
          <a:solidFill>
            <a:srgbClr val="0043D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2024.04</a:t>
            </a:r>
          </a:p>
        </p:txBody>
      </p:sp>
      <p:sp>
        <p:nvSpPr>
          <p:cNvPr id="98" name="Badge Node4"/>
          <p:cNvSpPr/>
          <p:nvPr/>
        </p:nvSpPr>
        <p:spPr>
          <a:xfrm>
            <a:off x="9021836" y="4960620"/>
            <a:ext cx="914400" cy="320040"/>
          </a:xfrm>
          <a:prstGeom prst="roundRect">
            <a:avLst/>
          </a:prstGeom>
          <a:solidFill>
            <a:srgbClr val="9E9E9E"/>
          </a:solidFill>
        </p:spPr>
        <p:style>
          <a:lnRef idx="0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2024.10</a:t>
            </a:r>
          </a:p>
        </p:txBody>
      </p:sp>
      <p:sp>
        <p:nvSpPr>
          <p:cNvPr id="95" name="Badge Node1"/>
          <p:cNvSpPr/>
          <p:nvPr/>
        </p:nvSpPr>
        <p:spPr>
          <a:xfrm>
            <a:off x="2255459" y="3817620"/>
            <a:ext cx="914400" cy="320040"/>
          </a:xfrm>
          <a:prstGeom prst="roundRect">
            <a:avLst/>
          </a:prstGeom>
          <a:solidFill>
            <a:srgbClr val="0043D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2024.01</a:t>
            </a:r>
          </a:p>
        </p:txBody>
      </p:sp>
      <p:sp>
        <p:nvSpPr>
          <p:cNvPr id="96" name="Badge Node3"/>
          <p:cNvSpPr/>
          <p:nvPr/>
        </p:nvSpPr>
        <p:spPr>
          <a:xfrm>
            <a:off x="6766377" y="3817620"/>
            <a:ext cx="914400" cy="320040"/>
          </a:xfrm>
          <a:prstGeom prst="roundRect">
            <a:avLst/>
          </a:prstGeom>
          <a:solidFill>
            <a:srgbClr val="9E9E9E"/>
          </a:solidFill>
        </p:spPr>
        <p:style>
          <a:lnRef idx="0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2024.07</a:t>
            </a:r>
          </a:p>
        </p:txBody>
      </p:sp>
      <p:sp>
        <p:nvSpPr>
          <p:cNvPr id="23" name="Oval 22"/>
          <p:cNvSpPr/>
          <p:nvPr/>
        </p:nvSpPr>
        <p:spPr>
          <a:xfrm>
            <a:off x="2438705" y="4274820"/>
            <a:ext cx="548640" cy="548640"/>
          </a:xfrm>
          <a:prstGeom prst="ellipse">
            <a:avLst/>
          </a:prstGeom>
          <a:solidFill>
            <a:srgbClr val="0043D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Oval 23"/>
          <p:cNvSpPr/>
          <p:nvPr/>
        </p:nvSpPr>
        <p:spPr>
          <a:xfrm>
            <a:off x="4693615" y="4274820"/>
            <a:ext cx="548640" cy="548640"/>
          </a:xfrm>
          <a:prstGeom prst="ellipse">
            <a:avLst/>
          </a:prstGeom>
          <a:solidFill>
            <a:srgbClr val="0043D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Oval 24"/>
          <p:cNvSpPr/>
          <p:nvPr/>
        </p:nvSpPr>
        <p:spPr>
          <a:xfrm>
            <a:off x="6949440" y="4274820"/>
            <a:ext cx="548640" cy="548640"/>
          </a:xfrm>
          <a:prstGeom prst="ellipse">
            <a:avLst/>
          </a:prstGeom>
          <a:solidFill>
            <a:srgbClr val="9E9E9E"/>
          </a:solidFill>
        </p:spPr>
        <p:style>
          <a:lnRef idx="0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Oval 25"/>
          <p:cNvSpPr/>
          <p:nvPr/>
        </p:nvSpPr>
        <p:spPr>
          <a:xfrm>
            <a:off x="9204350" y="4274820"/>
            <a:ext cx="548640" cy="548640"/>
          </a:xfrm>
          <a:prstGeom prst="ellipse">
            <a:avLst/>
          </a:prstGeom>
          <a:solidFill>
            <a:srgbClr val="9E9E9E"/>
          </a:solidFill>
        </p:spPr>
        <p:style>
          <a:lnRef idx="0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5610" y="557509"/>
            <a:ext cx="3291840" cy="932688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r>
              <a:rPr sz="2000" b="1" dirty="0">
                <a:solidFill>
                  <a:srgbClr val="000000"/>
                </a:solidFill>
                <a:latin typeface="Freesentation"/>
              </a:rPr>
              <a:t>L07. Roadmap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0927" y="557509"/>
            <a:ext cx="8430768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latin typeface="Freesentation"/>
              </a:rPr>
              <a:t>수영장 레인 구조 — 복수 워크스트림 병렬 진행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984157"/>
            <a:ext cx="2453335" cy="365760"/>
          </a:xfrm>
          <a:prstGeom prst="roundRect">
            <a:avLst/>
          </a:prstGeom>
          <a:solidFill>
            <a:srgbClr val="E6F0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0043DA"/>
                </a:solidFill>
                <a:latin typeface="Freesentation"/>
              </a:rPr>
              <a:t>Q1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575" y="1984157"/>
            <a:ext cx="2453335" cy="365760"/>
          </a:xfrm>
          <a:prstGeom prst="roundRect">
            <a:avLst/>
          </a:prstGeom>
          <a:solidFill>
            <a:srgbClr val="E6F0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0043DA"/>
                </a:solidFill>
                <a:latin typeface="Freesentation"/>
              </a:rPr>
              <a:t>Q2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26910" y="1984157"/>
            <a:ext cx="2453335" cy="365760"/>
          </a:xfrm>
          <a:prstGeom prst="roundRect">
            <a:avLst/>
          </a:prstGeom>
          <a:solidFill>
            <a:srgbClr val="E6F0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0043DA"/>
                </a:solidFill>
                <a:latin typeface="Freesentation"/>
              </a:rPr>
              <a:t>Q3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0245" y="1984157"/>
            <a:ext cx="2453335" cy="365760"/>
          </a:xfrm>
          <a:prstGeom prst="roundRect">
            <a:avLst/>
          </a:prstGeom>
          <a:solidFill>
            <a:srgbClr val="E6F0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0043DA"/>
                </a:solidFill>
                <a:latin typeface="Freesentation"/>
              </a:rPr>
              <a:t>Q4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40442"/>
            <a:ext cx="1371600" cy="914400"/>
          </a:xfrm>
          <a:prstGeom prst="roundRect">
            <a:avLst/>
          </a:prstGeom>
          <a:solidFill>
            <a:srgbClr val="DCDCDC"/>
          </a:solidFill>
          <a:ln w="952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 b="1">
                <a:solidFill>
                  <a:srgbClr val="404040"/>
                </a:solidFill>
                <a:latin typeface="Freesentation"/>
              </a:rPr>
              <a:t>인프라 구축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45368"/>
            <a:ext cx="1371600" cy="914400"/>
          </a:xfrm>
          <a:prstGeom prst="roundRect">
            <a:avLst/>
          </a:prstGeom>
          <a:solidFill>
            <a:srgbClr val="DCDCDC"/>
          </a:solidFill>
          <a:ln w="952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 b="1">
                <a:solidFill>
                  <a:srgbClr val="404040"/>
                </a:solidFill>
                <a:latin typeface="Freesentation"/>
              </a:rPr>
              <a:t>마이그레이션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50293"/>
            <a:ext cx="1371600" cy="914400"/>
          </a:xfrm>
          <a:prstGeom prst="roundRect">
            <a:avLst/>
          </a:prstGeom>
          <a:solidFill>
            <a:srgbClr val="DCDCDC"/>
          </a:solidFill>
          <a:ln w="952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 b="1">
                <a:solidFill>
                  <a:srgbClr val="404040"/>
                </a:solidFill>
                <a:latin typeface="Freesentation"/>
              </a:rPr>
              <a:t>운영 준비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456133"/>
            <a:ext cx="1371600" cy="914400"/>
          </a:xfrm>
          <a:prstGeom prst="roundRect">
            <a:avLst/>
          </a:prstGeom>
          <a:solidFill>
            <a:srgbClr val="DCDCDC"/>
          </a:solidFill>
          <a:ln w="952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 b="1">
                <a:solidFill>
                  <a:srgbClr val="404040"/>
                </a:solidFill>
                <a:latin typeface="Freesentation"/>
              </a:rPr>
              <a:t>보안/컴플라이언스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2623322"/>
            <a:ext cx="2453335" cy="548640"/>
          </a:xfrm>
          <a:prstGeom prst="roundRect">
            <a:avLst/>
          </a:prstGeom>
          <a:solidFill>
            <a:srgbClr val="0043DA"/>
          </a:solidFill>
          <a:ln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b="1">
                <a:solidFill>
                  <a:srgbClr val="FFFFFF"/>
                </a:solidFill>
              </a:rPr>
              <a:t>VPC/네트워크 설계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3575" y="2623322"/>
            <a:ext cx="4906670" cy="548640"/>
          </a:xfrm>
          <a:prstGeom prst="roundRect">
            <a:avLst/>
          </a:prstGeom>
          <a:solidFill>
            <a:srgbClr val="0043DA"/>
          </a:solidFill>
          <a:ln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b="1">
                <a:solidFill>
                  <a:srgbClr val="FFFFFF"/>
                </a:solidFill>
              </a:rPr>
              <a:t>MSK 클러스터 구성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99785" y="3628248"/>
            <a:ext cx="2453335" cy="548640"/>
          </a:xfrm>
          <a:prstGeom prst="roundRect">
            <a:avLst/>
          </a:prstGeom>
          <a:solidFill>
            <a:srgbClr val="3A7BD5"/>
          </a:solidFill>
          <a:ln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b="1">
                <a:solidFill>
                  <a:srgbClr val="FFFFFF"/>
                </a:solidFill>
              </a:rPr>
              <a:t>파일럿 테스트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3120" y="3628248"/>
            <a:ext cx="3680460" cy="548640"/>
          </a:xfrm>
          <a:prstGeom prst="roundRect">
            <a:avLst/>
          </a:prstGeom>
          <a:solidFill>
            <a:srgbClr val="3A7BD5"/>
          </a:solidFill>
          <a:ln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b="1">
                <a:solidFill>
                  <a:srgbClr val="FFFFFF"/>
                </a:solidFill>
              </a:rPr>
              <a:t>데이터 이전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3120" y="4633173"/>
            <a:ext cx="1839772" cy="548640"/>
          </a:xfrm>
          <a:prstGeom prst="roundRect">
            <a:avLst/>
          </a:prstGeom>
          <a:solidFill>
            <a:srgbClr val="6B9FFF"/>
          </a:solidFill>
          <a:ln>
            <a:solidFill>
              <a:srgbClr val="6B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b="1">
                <a:solidFill>
                  <a:srgbClr val="FFFFFF"/>
                </a:solidFill>
              </a:rPr>
              <a:t>모니터링 구성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0245" y="4633173"/>
            <a:ext cx="2453335" cy="548640"/>
          </a:xfrm>
          <a:prstGeom prst="roundRect">
            <a:avLst/>
          </a:prstGeom>
          <a:solidFill>
            <a:srgbClr val="6B9FFF"/>
          </a:solidFill>
          <a:ln>
            <a:solidFill>
              <a:srgbClr val="6B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b="1">
                <a:solidFill>
                  <a:srgbClr val="FFFFFF"/>
                </a:solidFill>
              </a:rPr>
              <a:t>운영팀 이관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5639013"/>
            <a:ext cx="9813340" cy="548640"/>
          </a:xfrm>
          <a:prstGeom prst="roundRect">
            <a:avLst/>
          </a:prstGeom>
          <a:solidFill>
            <a:srgbClr val="8AB4F8"/>
          </a:solidFill>
          <a:ln>
            <a:solidFill>
              <a:srgbClr val="8AB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b="1">
                <a:solidFill>
                  <a:srgbClr val="FFFFFF"/>
                </a:solidFill>
              </a:rPr>
              <a:t>IAM/암호화/VPC 검증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5701" y="557784"/>
            <a:ext cx="3291840" cy="932688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r>
              <a:rPr sz="2000" b="1" dirty="0">
                <a:solidFill>
                  <a:srgbClr val="000000"/>
                </a:solidFill>
                <a:latin typeface="Freesentation"/>
              </a:rPr>
              <a:t>L08.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0927" y="557784"/>
            <a:ext cx="8431042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latin typeface="Freesentation"/>
              </a:rPr>
              <a:t>깔때기 다이어그램 — 단계별 필터링으로 최적 기술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43DA"/>
                </a:solidFill>
                <a:latin typeface="Freesentation"/>
              </a:rPr>
              <a:t>MSK 도입 의사결정 깔때기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6874"/>
            <a:ext cx="11734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04040"/>
                </a:solidFill>
                <a:latin typeface="Freesentation"/>
              </a:rPr>
              <a:t>후보 기술부터 최종 선택까지 4가지 평가 기준으로 필터링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02052"/>
            <a:ext cx="7315200" cy="694944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3451860"/>
            <a:ext cx="6217920" cy="694944"/>
          </a:xfrm>
          <a:prstGeom prst="roundRect">
            <a:avLst/>
          </a:prstGeom>
          <a:solidFill>
            <a:srgbClr val="C8DCFF"/>
          </a:solidFill>
          <a:ln>
            <a:solidFill>
              <a:srgbClr val="C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554480" y="4200753"/>
            <a:ext cx="5120640" cy="694944"/>
          </a:xfrm>
          <a:prstGeom prst="roundRect">
            <a:avLst/>
          </a:prstGeom>
          <a:solidFill>
            <a:srgbClr val="8AB4F8"/>
          </a:solidFill>
          <a:ln>
            <a:solidFill>
              <a:srgbClr val="8AB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103120" y="4950561"/>
            <a:ext cx="4023360" cy="694944"/>
          </a:xfrm>
          <a:prstGeom prst="roundRect">
            <a:avLst/>
          </a:prstGeom>
          <a:solidFill>
            <a:srgbClr val="3571F5"/>
          </a:solidFill>
          <a:ln>
            <a:solidFill>
              <a:srgbClr val="357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651760" y="5700369"/>
            <a:ext cx="2926080" cy="694944"/>
          </a:xfrm>
          <a:prstGeom prst="roundRect">
            <a:avLst/>
          </a:prstGeom>
          <a:solidFill>
            <a:srgbClr val="0043DA"/>
          </a:solidFill>
          <a:ln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702052"/>
            <a:ext cx="73152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43DA"/>
                </a:solidFill>
                <a:latin typeface="프리젠테이션 7"/>
              </a:rPr>
              <a:t>후보 기술 평가</a:t>
            </a:r>
          </a:p>
          <a:p>
            <a:pPr algn="ctr"/>
            <a:r>
              <a:rPr sz="1100" b="1">
                <a:solidFill>
                  <a:srgbClr val="0043DA"/>
                </a:solidFill>
                <a:latin typeface="프리젠테이션 7"/>
              </a:rPr>
              <a:t>Kafka · Kinesis · RabbitMQ · Pulsar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51860"/>
            <a:ext cx="6217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43DA"/>
                </a:solidFill>
                <a:latin typeface="프리젠테이션 7"/>
              </a:rPr>
              <a:t>기술 적합성</a:t>
            </a:r>
          </a:p>
          <a:p>
            <a:pPr algn="ctr"/>
            <a:r>
              <a:rPr sz="1100" b="1">
                <a:solidFill>
                  <a:srgbClr val="0043DA"/>
                </a:solidFill>
                <a:latin typeface="프리젠테이션 7"/>
              </a:rPr>
              <a:t>처리량 100MB/s · 지연 10ms · 내구성 99.99%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200753"/>
            <a:ext cx="5120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프리젠테이션 7"/>
              </a:rPr>
              <a:t>운영 효율성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프리젠테이션 7"/>
              </a:rPr>
              <a:t>관리형 서비스 · AWS 통합 · 비용 최적화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950561"/>
            <a:ext cx="4023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프리젠테이션 7"/>
              </a:rPr>
              <a:t>보안/컴플라이언스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프리젠테이션 7"/>
              </a:rPr>
              <a:t>IAM · TLS 암호화 · VPC 격리 · FIPS 140-2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5700369"/>
            <a:ext cx="2926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프리젠테이션 7"/>
              </a:rPr>
              <a:t>Amazon MSK 선택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프리젠테이션 7"/>
              </a:rPr>
              <a:t>완전관리형 Kafka · 멀티AZ · AWS 네이티브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702052"/>
            <a:ext cx="368777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프리젠테이션 5"/>
              </a:rPr>
              <a:t>4개 기술 초기 검토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451860"/>
            <a:ext cx="368777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프리젠테이션 5"/>
              </a:rPr>
              <a:t>Kafka · Kinesis 통과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200753"/>
            <a:ext cx="368777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프리젠테이션 5"/>
              </a:rPr>
              <a:t>Amazon MSK · Kinesis 잔류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950561"/>
            <a:ext cx="368777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프리젠테이션 5"/>
              </a:rPr>
              <a:t>MSK 단독 충족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700369"/>
            <a:ext cx="368777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43DA"/>
                </a:solidFill>
                <a:latin typeface="프리젠테이션 7"/>
              </a:rPr>
              <a:t>최종 채택 결정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2788920"/>
            <a:ext cx="5303520" cy="3886200"/>
          </a:xfrm>
          <a:prstGeom prst="roundRect">
            <a:avLst/>
          </a:prstGeom>
          <a:solidFill>
            <a:srgbClr val="F8F9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31280" y="2788920"/>
            <a:ext cx="5303520" cy="3886200"/>
          </a:xfrm>
          <a:prstGeom prst="roundRect">
            <a:avLst/>
          </a:prstGeom>
          <a:solidFill>
            <a:srgbClr val="E6F0FF"/>
          </a:solidFill>
          <a:ln w="9525"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ight Arrow 5"/>
          <p:cNvSpPr/>
          <p:nvPr/>
        </p:nvSpPr>
        <p:spPr>
          <a:xfrm>
            <a:off x="5944440" y="4594859"/>
            <a:ext cx="411480" cy="274320"/>
          </a:xfrm>
          <a:prstGeom prst="rightArrow">
            <a:avLst/>
          </a:prstGeom>
          <a:solidFill>
            <a:srgbClr val="0043DA"/>
          </a:solidFill>
          <a:ln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7160" y="2423160"/>
            <a:ext cx="1371600" cy="274320"/>
          </a:xfrm>
          <a:prstGeom prst="round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611040" y="2423160"/>
            <a:ext cx="1371600" cy="274320"/>
          </a:xfrm>
          <a:prstGeom prst="roundRect">
            <a:avLst/>
          </a:prstGeom>
          <a:solidFill>
            <a:srgbClr val="0043DA"/>
          </a:solidFill>
          <a:ln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4806" y="557906"/>
            <a:ext cx="2719850" cy="932614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r>
              <a:rPr sz="2000" b="1" dirty="0">
                <a:solidFill>
                  <a:srgbClr val="000000"/>
                </a:solidFill>
                <a:latin typeface="Freesentation"/>
              </a:rPr>
              <a:t>L09. As-Is / To-Be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3700" y="558800"/>
            <a:ext cx="7551483" cy="9379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latin typeface="Freesentation"/>
              </a:rPr>
              <a:t>현황/문제 → 개선/해결 대비 레이아웃 — 2컬럼 챌린지·솔루션 구조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160" y="2423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Freesentation"/>
              </a:rPr>
              <a:t>⚠ As-Is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040" y="2423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Freesentation"/>
              </a:rPr>
              <a:t>✓ To-Be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160" y="2898648"/>
            <a:ext cx="494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12121"/>
                </a:solidFill>
                <a:latin typeface="Freesentation"/>
              </a:rPr>
              <a:t>온프레미스 Kafka 한계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040" y="2898648"/>
            <a:ext cx="494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AWS MSK 도입 효과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160" y="3264408"/>
            <a:ext cx="4484640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121"/>
                </a:solidFill>
                <a:latin typeface="Freesentation"/>
              </a:rPr>
              <a:t>• 브로커 패치·업그레이드 전담 인력 2~3명 상시 필요</a:t>
            </a:r>
          </a:p>
          <a:p>
            <a:r>
              <a:rPr sz="1300" b="0">
                <a:solidFill>
                  <a:srgbClr val="212121"/>
                </a:solidFill>
                <a:latin typeface="Freesentation"/>
              </a:rPr>
              <a:t>• 피크 트래픽 대비 서버 과잉 프로비저닝 — 비용 비효율</a:t>
            </a:r>
          </a:p>
          <a:p>
            <a:r>
              <a:rPr sz="1300" b="0">
                <a:solidFill>
                  <a:srgbClr val="212121"/>
                </a:solidFill>
                <a:latin typeface="Freesentation"/>
              </a:rPr>
              <a:t>• ZooKeeper 의존성으로 운영 복잡도 가중</a:t>
            </a:r>
          </a:p>
          <a:p>
            <a:r>
              <a:rPr sz="1300" b="0">
                <a:solidFill>
                  <a:srgbClr val="212121"/>
                </a:solidFill>
                <a:latin typeface="Freesentation"/>
              </a:rPr>
              <a:t>• 장애 복구 수동 처리 — MTTR 평균 4시간 이상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040" y="3264408"/>
            <a:ext cx="4484640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121"/>
                </a:solidFill>
                <a:latin typeface="Freesentation"/>
              </a:rPr>
              <a:t>• AWS 완전 관리형 — 패치·모니터링 자동화</a:t>
            </a:r>
          </a:p>
          <a:p>
            <a:r>
              <a:rPr sz="1300" b="0">
                <a:solidFill>
                  <a:srgbClr val="212121"/>
                </a:solidFill>
                <a:latin typeface="Freesentation"/>
              </a:rPr>
              <a:t>• Serverless 옵션으로 수분 내 자동 스케일</a:t>
            </a:r>
          </a:p>
          <a:p>
            <a:r>
              <a:rPr sz="1300" b="0">
                <a:solidFill>
                  <a:srgbClr val="212121"/>
                </a:solidFill>
                <a:latin typeface="Freesentation"/>
              </a:rPr>
              <a:t>• KRaft 모드 지원 — ZooKeeper 의존성 제거</a:t>
            </a:r>
          </a:p>
          <a:p>
            <a:r>
              <a:rPr sz="1300" b="0">
                <a:solidFill>
                  <a:srgbClr val="212121"/>
                </a:solidFill>
                <a:latin typeface="Freesentation"/>
              </a:rPr>
              <a:t>• Multi-AZ 자동 복구 — MTTR 99% 단축</a:t>
            </a:r>
          </a:p>
        </p:txBody>
      </p:sp>
      <p:pic>
        <p:nvPicPr>
          <p:cNvPr id="19" name="Picture 18" descr="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200" y="6087600"/>
            <a:ext cx="411480" cy="411480"/>
          </a:xfrm>
          <a:prstGeom prst="rect">
            <a:avLst/>
          </a:prstGeom>
        </p:spPr>
      </p:pic>
      <p:pic>
        <p:nvPicPr>
          <p:cNvPr id="20" name="Picture 19" descr="deplo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1280" y="6087600"/>
            <a:ext cx="411480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60020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43DA"/>
                </a:solidFill>
                <a:latin typeface="Freesentation"/>
              </a:rPr>
              <a:t>온프레미스 Kafka의 운영 한계와 MSK 전환 효과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65960"/>
            <a:ext cx="1127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121"/>
                </a:solidFill>
                <a:latin typeface="Freesentation"/>
              </a:rPr>
              <a:t>관리 복잡도·확장성·비용 3가지 핵심 문제를 AWS MSK 완전 관리형으로 해소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2788920"/>
            <a:ext cx="5577840" cy="3886200"/>
          </a:xfrm>
          <a:prstGeom prst="roundRect">
            <a:avLst/>
          </a:prstGeom>
          <a:solidFill>
            <a:srgbClr val="F8F9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56960" y="2788920"/>
            <a:ext cx="5577840" cy="3886200"/>
          </a:xfrm>
          <a:prstGeom prst="roundRect">
            <a:avLst/>
          </a:prstGeom>
          <a:solidFill>
            <a:srgbClr val="E6F0FF"/>
          </a:solidFill>
          <a:ln w="9525"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7160" y="2423160"/>
            <a:ext cx="1554480" cy="274320"/>
          </a:xfrm>
          <a:prstGeom prst="roundRect">
            <a:avLst/>
          </a:prstGeom>
          <a:solidFill>
            <a:srgbClr val="212121"/>
          </a:solidFill>
          <a:ln w="9525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 b="1">
                <a:solidFill>
                  <a:srgbClr val="FFFFFF"/>
                </a:solidFill>
              </a:rPr>
              <a:t>On-Premises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7720" y="2423160"/>
            <a:ext cx="1554480" cy="274320"/>
          </a:xfrm>
          <a:prstGeom prst="roundRect">
            <a:avLst/>
          </a:prstGeom>
          <a:solidFill>
            <a:srgbClr val="0043DA"/>
          </a:solidFill>
          <a:ln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 b="1">
                <a:solidFill>
                  <a:srgbClr val="FFFFFF"/>
                </a:solidFill>
              </a:rPr>
              <a:t>✓ AWS MSK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7161" y="3264408"/>
            <a:ext cx="5214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초기 비용</a:t>
            </a:r>
          </a:p>
          <a:p>
            <a:pPr algn="l"/>
            <a:r>
              <a:rPr sz="1400" b="1">
                <a:solidFill>
                  <a:srgbClr val="212121"/>
                </a:solidFill>
                <a:latin typeface="Freesentation"/>
              </a:rPr>
              <a:t>서버 구매 ₩5억+</a:t>
            </a:r>
          </a:p>
          <a:p>
            <a:pPr algn="l"/>
            <a:endParaRPr sz="1400" b="1">
              <a:solidFill>
                <a:srgbClr val="212121"/>
              </a:solidFill>
              <a:latin typeface="Freesentation"/>
            </a:endParaRP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운영 관리</a:t>
            </a:r>
          </a:p>
          <a:p>
            <a:pPr algn="l"/>
            <a:r>
              <a:rPr sz="1400" b="1">
                <a:solidFill>
                  <a:srgbClr val="212121"/>
                </a:solidFill>
                <a:latin typeface="Freesentation"/>
              </a:rPr>
              <a:t>전담 인력 2~3명 필요</a:t>
            </a:r>
          </a:p>
          <a:p>
            <a:pPr algn="l"/>
            <a:endParaRPr sz="1400" b="1">
              <a:solidFill>
                <a:srgbClr val="212121"/>
              </a:solidFill>
              <a:latin typeface="Freesentation"/>
            </a:endParaRP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가용성</a:t>
            </a:r>
          </a:p>
          <a:p>
            <a:pPr algn="l"/>
            <a:r>
              <a:rPr sz="1400" b="1">
                <a:solidFill>
                  <a:srgbClr val="212121"/>
                </a:solidFill>
                <a:latin typeface="Freesentation"/>
              </a:rPr>
              <a:t>자체 HA 구성 필요</a:t>
            </a:r>
          </a:p>
          <a:p>
            <a:pPr algn="l"/>
            <a:endParaRPr sz="1400" b="1">
              <a:solidFill>
                <a:srgbClr val="212121"/>
              </a:solidFill>
              <a:latin typeface="Freesentation"/>
            </a:endParaRP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확장성</a:t>
            </a:r>
          </a:p>
          <a:p>
            <a:pPr algn="l"/>
            <a:r>
              <a:rPr sz="1400" b="1">
                <a:solidFill>
                  <a:srgbClr val="212121"/>
                </a:solidFill>
                <a:latin typeface="Freesentation"/>
              </a:rPr>
              <a:t>용량 증설에 수 주 소요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7720" y="3264408"/>
            <a:ext cx="5214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초기 비용</a:t>
            </a:r>
          </a:p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초기 투자 0원</a:t>
            </a:r>
          </a:p>
          <a:p>
            <a:pPr algn="l"/>
            <a:endParaRPr sz="1400" b="1">
              <a:solidFill>
                <a:srgbClr val="0043DA"/>
              </a:solidFill>
              <a:latin typeface="Freesentation"/>
            </a:endParaRP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운영 관리</a:t>
            </a:r>
          </a:p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AWS 완전 관리형</a:t>
            </a:r>
          </a:p>
          <a:p>
            <a:pPr algn="l"/>
            <a:endParaRPr sz="1400" b="1">
              <a:solidFill>
                <a:srgbClr val="0043DA"/>
              </a:solidFill>
              <a:latin typeface="Freesentation"/>
            </a:endParaRP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가용성</a:t>
            </a:r>
          </a:p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99.9% SLA 보장</a:t>
            </a:r>
          </a:p>
          <a:p>
            <a:pPr algn="l"/>
            <a:endParaRPr sz="1400" b="1">
              <a:solidFill>
                <a:srgbClr val="0043DA"/>
              </a:solidFill>
              <a:latin typeface="Freesentation"/>
            </a:endParaRP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확장성</a:t>
            </a:r>
          </a:p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수분 내 스케일 아웃</a:t>
            </a:r>
          </a:p>
        </p:txBody>
      </p:sp>
      <p:pic>
        <p:nvPicPr>
          <p:cNvPr id="12" name="Picture 11" descr="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600" y="5605200"/>
            <a:ext cx="849600" cy="849600"/>
          </a:xfrm>
          <a:prstGeom prst="rect">
            <a:avLst/>
          </a:prstGeom>
        </p:spPr>
      </p:pic>
      <p:pic>
        <p:nvPicPr>
          <p:cNvPr id="13" name="Picture 12" descr="clu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5360" y="5605200"/>
            <a:ext cx="849600" cy="849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4787" y="557784"/>
            <a:ext cx="2720340" cy="932688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r>
              <a:rPr sz="2000" b="1" dirty="0">
                <a:solidFill>
                  <a:srgbClr val="000000"/>
                </a:solidFill>
                <a:latin typeface="Freesentation"/>
              </a:rPr>
              <a:t>L10. Comparison 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0927" y="558698"/>
            <a:ext cx="7550200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Freesentation"/>
              </a:rPr>
              <a:t>2컬럼 병렬 비교 레이아웃 — 옵션A vs 옵션B 항목별 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On-Premises Kafka vs AWS MSK — TCO 직접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65960"/>
            <a:ext cx="1127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비용·관리·가용성·확장성 4개 항목 기준 직접 비교 (2026년 4월 기준)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TextBox L11 Title"/>
          <p:cNvSpPr txBox="1"/>
          <p:nvPr/>
        </p:nvSpPr>
        <p:spPr>
          <a:xfrm>
            <a:off x="457200" y="1600200"/>
            <a:ext cx="11277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클라우드 메시징 솔루션 비교</a:t>
            </a:r>
          </a:p>
        </p:txBody>
      </p:sp>
      <p:sp>
        <p:nvSpPr>
          <p:cNvPr id="11" name="TextBox L11 Desc"/>
          <p:cNvSpPr txBox="1"/>
          <p:nvPr/>
        </p:nvSpPr>
        <p:spPr>
          <a:xfrm>
            <a:off x="457200" y="1965960"/>
            <a:ext cx="11277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AWS MSK · Confluent Cloud · 자체 구축 Kafka 3개 옵션 비교 (2026년 4월 기준)</a:t>
            </a:r>
          </a:p>
        </p:txBody>
      </p:sp>
      <p:graphicFrame>
        <p:nvGraphicFramePr>
          <p:cNvPr id="20" name="Table L11"/>
          <p:cNvGraphicFramePr>
            <a:graphicFrameLocks noGrp="1"/>
          </p:cNvGraphicFramePr>
          <p:nvPr/>
        </p:nvGraphicFramePr>
        <p:xfrm>
          <a:off x="457200" y="2423160"/>
          <a:ext cx="11277600" cy="4252320"/>
        </p:xfrm>
        <a:graphic>
          <a:graphicData uri="http://schemas.openxmlformats.org/drawingml/2006/table">
            <a:tbl>
              <a:tblPr firstRow="1">
                <a:noFill/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sz="1400" b="1">
                          <a:solidFill>
                            <a:srgbClr val="FFFFFF"/>
                          </a:solidFill>
                          <a:latin typeface="프리젠테이션 7 Bold"/>
                        </a:rPr>
                        <a:t>항목</a:t>
                      </a:r>
                    </a:p>
                  </a:txBody>
                  <a:tcPr>
                    <a:lnL w="12700" cap="flat" cmpd="sng">
                      <a:solidFill>
                        <a:srgbClr val="DCDCDC"/>
                      </a:solidFill>
                    </a:lnL>
                    <a:lnR w="12700" cap="flat" cmpd="sng">
                      <a:solidFill>
                        <a:srgbClr val="DCDCDC"/>
                      </a:solidFill>
                    </a:lnR>
                    <a:lnT w="12700" cap="flat" cmpd="sng">
                      <a:solidFill>
                        <a:srgbClr val="DCDCDC"/>
                      </a:solidFill>
                    </a:lnT>
                    <a:lnB w="12700" cap="flat" cmpd="sng">
                      <a:solidFill>
                        <a:srgbClr val="DCDCDC"/>
                      </a:solidFill>
                    </a:lnB>
                    <a:solidFill>
                      <a:srgbClr val="004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FFFFFF"/>
                          </a:solidFill>
                          <a:latin typeface="프리젠테이션 7 Bold"/>
                        </a:rPr>
                        <a:t>자체 구축 Kafka</a:t>
                      </a:r>
                    </a:p>
                  </a:txBody>
                  <a:tcPr>
                    <a:lnL w="12700" cap="flat" cmpd="sng">
                      <a:solidFill>
                        <a:srgbClr val="DCDCDC"/>
                      </a:solidFill>
                    </a:lnL>
                    <a:lnR w="12700" cap="flat" cmpd="sng">
                      <a:solidFill>
                        <a:srgbClr val="DCDCDC"/>
                      </a:solidFill>
                    </a:lnR>
                    <a:lnT w="12700" cap="flat" cmpd="sng">
                      <a:solidFill>
                        <a:srgbClr val="DCDCDC"/>
                      </a:solidFill>
                    </a:lnT>
                    <a:lnB w="12700" cap="flat" cmpd="sng">
                      <a:solidFill>
                        <a:srgbClr val="DCDCDC"/>
                      </a:solidFill>
                    </a:lnB>
                    <a:solidFill>
                      <a:srgbClr val="004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FFFFFF"/>
                          </a:solidFill>
                          <a:latin typeface="프리젠테이션 7 Bold"/>
                        </a:rPr>
                        <a:t>✓ AWS MSK</a:t>
                      </a:r>
                    </a:p>
                  </a:txBody>
                  <a:tcPr>
                    <a:lnL w="12700" cap="flat" cmpd="sng">
                      <a:solidFill>
                        <a:srgbClr val="DCDCDC"/>
                      </a:solidFill>
                    </a:lnL>
                    <a:lnR w="12700" cap="flat" cmpd="sng">
                      <a:solidFill>
                        <a:srgbClr val="DCDCDC"/>
                      </a:solidFill>
                    </a:lnR>
                    <a:lnT w="12700" cap="flat" cmpd="sng">
                      <a:solidFill>
                        <a:srgbClr val="DCDCDC"/>
                      </a:solidFill>
                    </a:lnT>
                    <a:lnB w="12700" cap="flat" cmpd="sng">
                      <a:solidFill>
                        <a:srgbClr val="DCDCDC"/>
                      </a:solidFill>
                    </a:lnB>
                    <a:solidFill>
                      <a:srgbClr val="004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FFFFFF"/>
                          </a:solidFill>
                          <a:latin typeface="프리젠테이션 7 Bold"/>
                        </a:rPr>
                        <a:t>Confluent Cloud</a:t>
                      </a:r>
                    </a:p>
                  </a:txBody>
                  <a:tcPr>
                    <a:lnL w="12700" cap="flat" cmpd="sng">
                      <a:solidFill>
                        <a:srgbClr val="DCDCDC"/>
                      </a:solidFill>
                    </a:lnL>
                    <a:lnR w="12700" cap="flat" cmpd="sng">
                      <a:solidFill>
                        <a:srgbClr val="DCDCDC"/>
                      </a:solidFill>
                    </a:lnR>
                    <a:lnT w="12700" cap="flat" cmpd="sng">
                      <a:solidFill>
                        <a:srgbClr val="DCDCDC"/>
                      </a:solidFill>
                    </a:lnT>
                    <a:lnB w="12700" cap="flat" cmpd="sng">
                      <a:solidFill>
                        <a:srgbClr val="DCDCDC"/>
                      </a:solidFill>
                    </a:lnB>
                    <a:solidFill>
                      <a:srgbClr val="004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9024">
                <a:tc>
                  <a:txBody>
                    <a:bodyPr/>
                    <a:lstStyle/>
                    <a:p>
                      <a:pPr algn="l"/>
                      <a:r>
                        <a:rPr lang="ko-KR" sz="1300" b="1">
                          <a:solidFill>
                            <a:srgbClr val="212121"/>
                          </a:solidFill>
                          <a:latin typeface="프리젠테이션 7 Bold"/>
                        </a:rPr>
                        <a:t>초기 비용</a:t>
                      </a:r>
                    </a:p>
                  </a:txBody>
                  <a:tcPr>
                    <a:lnL w="12700" cap="flat" cmpd="sng">
                      <a:solidFill>
                        <a:srgbClr val="DCDCDC"/>
                      </a:solidFill>
                    </a:lnL>
                    <a:lnR w="12700" cap="flat" cmpd="sng">
                      <a:solidFill>
                        <a:srgbClr val="DCDCDC"/>
                      </a:solidFill>
                    </a:lnR>
                    <a:lnT w="12700" cap="flat" cmpd="sng">
                      <a:solidFill>
                        <a:srgbClr val="DCDCDC"/>
                      </a:solidFill>
                    </a:lnT>
                    <a:lnB w="12700" cap="flat" cmpd="sng">
                      <a:solidFill>
                        <a:srgbClr val="DCDCDC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12121"/>
                          </a:solidFill>
                          <a:latin typeface="Freesentation"/>
                        </a:rPr>
                        <a:t>₩5억+ 서버 구매</a:t>
                      </a:r>
                    </a:p>
                  </a:txBody>
                  <a:tcPr>
                    <a:lnL w="12700" cap="flat" cmpd="sng">
                      <a:solidFill>
                        <a:srgbClr val="DCDCDC"/>
                      </a:solidFill>
                    </a:lnL>
                    <a:lnR w="12700" cap="flat" cmpd="sng">
                      <a:solidFill>
                        <a:srgbClr val="DCDCDC"/>
                      </a:solidFill>
                    </a:lnR>
                    <a:lnT w="12700" cap="flat" cmpd="sng">
                      <a:solidFill>
                        <a:srgbClr val="DCDCDC"/>
                      </a:solidFill>
                    </a:lnT>
                    <a:lnB w="12700" cap="flat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43DA"/>
                          </a:solidFill>
                          <a:latin typeface="Freesentation"/>
                        </a:rPr>
                        <a:t>초기 투자 0원</a:t>
                      </a:r>
                    </a:p>
                  </a:txBody>
                  <a:tcPr>
                    <a:lnL w="12700" cap="flat" cmpd="sng">
                      <a:solidFill>
                        <a:srgbClr val="DCDCDC"/>
                      </a:solidFill>
                    </a:lnL>
                    <a:lnR w="12700" cap="flat" cmpd="sng">
                      <a:solidFill>
                        <a:srgbClr val="DCDCDC"/>
                      </a:solidFill>
                    </a:lnR>
                    <a:lnT w="12700" cap="flat" cmpd="sng">
                      <a:solidFill>
                        <a:srgbClr val="DCDCDC"/>
                      </a:solidFill>
                    </a:lnT>
                    <a:lnB w="12700" cap="flat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12121"/>
                          </a:solidFill>
                          <a:latin typeface="Freesentation"/>
                        </a:rPr>
                        <a:t>초기 투자 0원</a:t>
                      </a:r>
                    </a:p>
                  </a:txBody>
                  <a:tcPr>
                    <a:lnL w="12700" cap="flat" cmpd="sng">
                      <a:solidFill>
                        <a:srgbClr val="DCDCDC"/>
                      </a:solidFill>
                    </a:lnL>
                    <a:lnR w="12700" cap="flat" cmpd="sng">
                      <a:solidFill>
                        <a:srgbClr val="DCDCDC"/>
                      </a:solidFill>
                    </a:lnR>
                    <a:lnT w="12700" cap="flat" cmpd="sng">
                      <a:solidFill>
                        <a:srgbClr val="DCDCDC"/>
                      </a:solidFill>
                    </a:lnT>
                    <a:lnB w="12700" cap="flat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9024">
                <a:tc>
                  <a:txBody>
                    <a:bodyPr/>
                    <a:lstStyle/>
                    <a:p>
                      <a:pPr algn="l"/>
                      <a:r>
                        <a:rPr lang="ko-KR" sz="1300" b="1">
                          <a:solidFill>
                            <a:srgbClr val="212121"/>
                          </a:solidFill>
                          <a:latin typeface="프리젠테이션 7 Bold"/>
                        </a:rPr>
                        <a:t>운영 인력</a:t>
                      </a:r>
                    </a:p>
                  </a:txBody>
                  <a:tcPr>
                    <a:lnL w="12700" cap="flat" cmpd="sng">
                      <a:solidFill>
                        <a:srgbClr val="DCDCDC"/>
                      </a:solidFill>
                    </a:lnL>
                    <a:lnR w="12700" cap="flat" cmpd="sng">
                      <a:solidFill>
                        <a:srgbClr val="DCDCDC"/>
                      </a:solidFill>
                    </a:lnR>
                    <a:lnT w="12700" cap="flat" cmpd="sng">
                      <a:solidFill>
                        <a:srgbClr val="DCDCDC"/>
                      </a:solidFill>
                    </a:lnT>
                    <a:lnB w="12700" cap="flat" cmpd="sng">
                      <a:solidFill>
                        <a:srgbClr val="DCDCDC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12121"/>
                          </a:solidFill>
                          <a:latin typeface="Freesentation"/>
                        </a:rPr>
                        <a:t>전담 2~3명</a:t>
                      </a:r>
                    </a:p>
                  </a:txBody>
                  <a:tcPr>
                    <a:lnL w="12700" cap="flat" cmpd="sng">
                      <a:solidFill>
                        <a:srgbClr val="DCDCDC"/>
                      </a:solidFill>
                    </a:lnL>
                    <a:lnR w="12700" cap="flat" cmpd="sng">
                      <a:solidFill>
                        <a:srgbClr val="DCDCDC"/>
                      </a:solidFill>
                    </a:lnR>
                    <a:lnT w="12700" cap="flat" cmpd="sng">
                      <a:solidFill>
                        <a:srgbClr val="DCDCDC"/>
                      </a:solidFill>
                    </a:lnT>
                    <a:lnB w="12700" cap="flat" cmpd="sng">
                      <a:solidFill>
                        <a:srgbClr val="DCDCDC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43DA"/>
                          </a:solidFill>
                          <a:latin typeface="Freesentation"/>
                        </a:rPr>
                        <a:t>0.5명 (모니터링)</a:t>
                      </a:r>
                    </a:p>
                  </a:txBody>
                  <a:tcPr>
                    <a:lnL w="12700" cap="flat" cmpd="sng">
                      <a:solidFill>
                        <a:srgbClr val="DCDCDC"/>
                      </a:solidFill>
                    </a:lnL>
                    <a:lnR w="12700" cap="flat" cmpd="sng">
                      <a:solidFill>
                        <a:srgbClr val="DCDCDC"/>
                      </a:solidFill>
                    </a:lnR>
                    <a:lnT w="12700" cap="flat" cmpd="sng">
                      <a:solidFill>
                        <a:srgbClr val="DCDCDC"/>
                      </a:solidFill>
                    </a:lnT>
                    <a:lnB w="12700" cap="flat" cmpd="sng">
                      <a:solidFill>
                        <a:srgbClr val="DCDCDC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12121"/>
                          </a:solidFill>
                          <a:latin typeface="Freesentation"/>
                        </a:rPr>
                        <a:t>0명 (완전 관리)</a:t>
                      </a:r>
                    </a:p>
                  </a:txBody>
                  <a:tcPr>
                    <a:lnL w="12700" cap="flat" cmpd="sng">
                      <a:solidFill>
                        <a:srgbClr val="DCDCDC"/>
                      </a:solidFill>
                    </a:lnL>
                    <a:lnR w="12700" cap="flat" cmpd="sng">
                      <a:solidFill>
                        <a:srgbClr val="DCDCDC"/>
                      </a:solidFill>
                    </a:lnR>
                    <a:lnT w="12700" cap="flat" cmpd="sng">
                      <a:solidFill>
                        <a:srgbClr val="DCDCDC"/>
                      </a:solidFill>
                    </a:lnT>
                    <a:lnB w="12700" cap="flat" cmpd="sng">
                      <a:solidFill>
                        <a:srgbClr val="DCDCDC"/>
                      </a:solidFill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9024">
                <a:tc>
                  <a:txBody>
                    <a:bodyPr/>
                    <a:lstStyle/>
                    <a:p>
                      <a:pPr algn="l"/>
                      <a:r>
                        <a:rPr lang="ko-KR" sz="1300" b="1">
                          <a:solidFill>
                            <a:srgbClr val="212121"/>
                          </a:solidFill>
                          <a:latin typeface="프리젠테이션 7 Bold"/>
                        </a:rPr>
                        <a:t>가용성 SLA</a:t>
                      </a:r>
                    </a:p>
                  </a:txBody>
                  <a:tcPr>
                    <a:lnL w="12700" cap="flat" cmpd="sng">
                      <a:solidFill>
                        <a:srgbClr val="DCDCDC"/>
                      </a:solidFill>
                    </a:lnL>
                    <a:lnR w="12700" cap="flat" cmpd="sng">
                      <a:solidFill>
                        <a:srgbClr val="DCDCDC"/>
                      </a:solidFill>
                    </a:lnR>
                    <a:lnT w="12700" cap="flat" cmpd="sng">
                      <a:solidFill>
                        <a:srgbClr val="DCDCDC"/>
                      </a:solidFill>
                    </a:lnT>
                    <a:lnB w="12700" cap="flat" cmpd="sng">
                      <a:solidFill>
                        <a:srgbClr val="DCDCDC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12121"/>
                          </a:solidFill>
                          <a:latin typeface="Freesentation"/>
                        </a:rPr>
                        <a:t>자체 HA 구성</a:t>
                      </a:r>
                    </a:p>
                  </a:txBody>
                  <a:tcPr>
                    <a:lnL w="12700" cap="flat" cmpd="sng">
                      <a:solidFill>
                        <a:srgbClr val="DCDCDC"/>
                      </a:solidFill>
                    </a:lnL>
                    <a:lnR w="12700" cap="flat" cmpd="sng">
                      <a:solidFill>
                        <a:srgbClr val="DCDCDC"/>
                      </a:solidFill>
                    </a:lnR>
                    <a:lnT w="12700" cap="flat" cmpd="sng">
                      <a:solidFill>
                        <a:srgbClr val="DCDCDC"/>
                      </a:solidFill>
                    </a:lnT>
                    <a:lnB w="12700" cap="flat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43DA"/>
                          </a:solidFill>
                          <a:latin typeface="Freesentation"/>
                        </a:rPr>
                        <a:t>99.9% 보장</a:t>
                      </a:r>
                    </a:p>
                  </a:txBody>
                  <a:tcPr>
                    <a:lnL w="12700" cap="flat" cmpd="sng">
                      <a:solidFill>
                        <a:srgbClr val="DCDCDC"/>
                      </a:solidFill>
                    </a:lnL>
                    <a:lnR w="12700" cap="flat" cmpd="sng">
                      <a:solidFill>
                        <a:srgbClr val="DCDCDC"/>
                      </a:solidFill>
                    </a:lnR>
                    <a:lnT w="12700" cap="flat" cmpd="sng">
                      <a:solidFill>
                        <a:srgbClr val="DCDCDC"/>
                      </a:solidFill>
                    </a:lnT>
                    <a:lnB w="12700" cap="flat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12121"/>
                          </a:solidFill>
                          <a:latin typeface="Freesentation"/>
                        </a:rPr>
                        <a:t>99.95% 보장</a:t>
                      </a:r>
                    </a:p>
                  </a:txBody>
                  <a:tcPr>
                    <a:lnL w="12700" cap="flat" cmpd="sng">
                      <a:solidFill>
                        <a:srgbClr val="DCDCDC"/>
                      </a:solidFill>
                    </a:lnL>
                    <a:lnR w="12700" cap="flat" cmpd="sng">
                      <a:solidFill>
                        <a:srgbClr val="DCDCDC"/>
                      </a:solidFill>
                    </a:lnR>
                    <a:lnT w="12700" cap="flat" cmpd="sng">
                      <a:solidFill>
                        <a:srgbClr val="DCDCDC"/>
                      </a:solidFill>
                    </a:lnT>
                    <a:lnB w="12700" cap="flat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9024">
                <a:tc>
                  <a:txBody>
                    <a:bodyPr/>
                    <a:lstStyle/>
                    <a:p>
                      <a:pPr algn="l"/>
                      <a:r>
                        <a:rPr lang="ko-KR" sz="1300" b="1">
                          <a:solidFill>
                            <a:srgbClr val="212121"/>
                          </a:solidFill>
                          <a:latin typeface="프리젠테이션 7 Bold"/>
                        </a:rPr>
                        <a:t>확장 소요</a:t>
                      </a:r>
                    </a:p>
                  </a:txBody>
                  <a:tcPr>
                    <a:lnL w="12700" cap="flat" cmpd="sng">
                      <a:solidFill>
                        <a:srgbClr val="DCDCDC"/>
                      </a:solidFill>
                    </a:lnL>
                    <a:lnR w="12700" cap="flat" cmpd="sng">
                      <a:solidFill>
                        <a:srgbClr val="DCDCDC"/>
                      </a:solidFill>
                    </a:lnR>
                    <a:lnT w="12700" cap="flat" cmpd="sng">
                      <a:solidFill>
                        <a:srgbClr val="DCDCDC"/>
                      </a:solidFill>
                    </a:lnT>
                    <a:lnB w="12700" cap="flat" cmpd="sng">
                      <a:solidFill>
                        <a:srgbClr val="DCDCDC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12121"/>
                          </a:solidFill>
                          <a:latin typeface="Freesentation"/>
                        </a:rPr>
                        <a:t>2~4주</a:t>
                      </a:r>
                    </a:p>
                  </a:txBody>
                  <a:tcPr>
                    <a:lnL w="12700" cap="flat" cmpd="sng">
                      <a:solidFill>
                        <a:srgbClr val="DCDCDC"/>
                      </a:solidFill>
                    </a:lnL>
                    <a:lnR w="12700" cap="flat" cmpd="sng">
                      <a:solidFill>
                        <a:srgbClr val="DCDCDC"/>
                      </a:solidFill>
                    </a:lnR>
                    <a:lnT w="12700" cap="flat" cmpd="sng">
                      <a:solidFill>
                        <a:srgbClr val="DCDCDC"/>
                      </a:solidFill>
                    </a:lnT>
                    <a:lnB w="12700" cap="flat" cmpd="sng">
                      <a:solidFill>
                        <a:srgbClr val="DCDCDC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43DA"/>
                          </a:solidFill>
                          <a:latin typeface="Freesentation"/>
                        </a:rPr>
                        <a:t>수분 내</a:t>
                      </a:r>
                    </a:p>
                  </a:txBody>
                  <a:tcPr>
                    <a:lnL w="12700" cap="flat" cmpd="sng">
                      <a:solidFill>
                        <a:srgbClr val="DCDCDC"/>
                      </a:solidFill>
                    </a:lnL>
                    <a:lnR w="12700" cap="flat" cmpd="sng">
                      <a:solidFill>
                        <a:srgbClr val="DCDCDC"/>
                      </a:solidFill>
                    </a:lnR>
                    <a:lnT w="12700" cap="flat" cmpd="sng">
                      <a:solidFill>
                        <a:srgbClr val="DCDCDC"/>
                      </a:solidFill>
                    </a:lnT>
                    <a:lnB w="12700" cap="flat" cmpd="sng">
                      <a:solidFill>
                        <a:srgbClr val="DCDCDC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12121"/>
                          </a:solidFill>
                          <a:latin typeface="Freesentation"/>
                        </a:rPr>
                        <a:t>수분 내</a:t>
                      </a:r>
                    </a:p>
                  </a:txBody>
                  <a:tcPr>
                    <a:lnL w="12700" cap="flat" cmpd="sng">
                      <a:solidFill>
                        <a:srgbClr val="DCDCDC"/>
                      </a:solidFill>
                    </a:lnL>
                    <a:lnR w="12700" cap="flat" cmpd="sng">
                      <a:solidFill>
                        <a:srgbClr val="DCDCDC"/>
                      </a:solidFill>
                    </a:lnR>
                    <a:lnT w="12700" cap="flat" cmpd="sng">
                      <a:solidFill>
                        <a:srgbClr val="DCDCDC"/>
                      </a:solidFill>
                    </a:lnT>
                    <a:lnB w="12700" cap="flat" cmpd="sng">
                      <a:solidFill>
                        <a:srgbClr val="DCDCDC"/>
                      </a:solidFill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9024">
                <a:tc>
                  <a:txBody>
                    <a:bodyPr/>
                    <a:lstStyle/>
                    <a:p>
                      <a:pPr algn="l"/>
                      <a:r>
                        <a:rPr lang="ko-KR" sz="1300" b="1">
                          <a:solidFill>
                            <a:srgbClr val="212121"/>
                          </a:solidFill>
                          <a:latin typeface="프리젠테이션 7 Bold"/>
                        </a:rPr>
                        <a:t>월 운영비</a:t>
                      </a:r>
                    </a:p>
                  </a:txBody>
                  <a:tcPr>
                    <a:lnL w="12700" cap="flat" cmpd="sng">
                      <a:solidFill>
                        <a:srgbClr val="DCDCDC"/>
                      </a:solidFill>
                    </a:lnL>
                    <a:lnR w="12700" cap="flat" cmpd="sng">
                      <a:solidFill>
                        <a:srgbClr val="DCDCDC"/>
                      </a:solidFill>
                    </a:lnR>
                    <a:lnT w="12700" cap="flat" cmpd="sng">
                      <a:solidFill>
                        <a:srgbClr val="DCDCDC"/>
                      </a:solidFill>
                    </a:lnT>
                    <a:lnB w="12700" cap="flat" cmpd="sng">
                      <a:solidFill>
                        <a:srgbClr val="DCDCDC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12121"/>
                          </a:solidFill>
                          <a:latin typeface="Freesentation"/>
                        </a:rPr>
                        <a:t>₩3,000만+</a:t>
                      </a:r>
                    </a:p>
                  </a:txBody>
                  <a:tcPr>
                    <a:lnL w="12700" cap="flat" cmpd="sng">
                      <a:solidFill>
                        <a:srgbClr val="DCDCDC"/>
                      </a:solidFill>
                    </a:lnL>
                    <a:lnR w="12700" cap="flat" cmpd="sng">
                      <a:solidFill>
                        <a:srgbClr val="DCDCDC"/>
                      </a:solidFill>
                    </a:lnR>
                    <a:lnT w="12700" cap="flat" cmpd="sng">
                      <a:solidFill>
                        <a:srgbClr val="DCDCDC"/>
                      </a:solidFill>
                    </a:lnT>
                    <a:lnB w="12700" cap="flat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43DA"/>
                          </a:solidFill>
                          <a:latin typeface="Freesentation"/>
                        </a:rPr>
                        <a:t>₩800만~</a:t>
                      </a:r>
                    </a:p>
                  </a:txBody>
                  <a:tcPr>
                    <a:lnL w="12700" cap="flat" cmpd="sng">
                      <a:solidFill>
                        <a:srgbClr val="DCDCDC"/>
                      </a:solidFill>
                    </a:lnL>
                    <a:lnR w="12700" cap="flat" cmpd="sng">
                      <a:solidFill>
                        <a:srgbClr val="DCDCDC"/>
                      </a:solidFill>
                    </a:lnR>
                    <a:lnT w="12700" cap="flat" cmpd="sng">
                      <a:solidFill>
                        <a:srgbClr val="DCDCDC"/>
                      </a:solidFill>
                    </a:lnT>
                    <a:lnB w="12700" cap="flat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12121"/>
                          </a:solidFill>
                          <a:latin typeface="Freesentation"/>
                        </a:rPr>
                        <a:t>₩1,200만~</a:t>
                      </a:r>
                    </a:p>
                  </a:txBody>
                  <a:tcPr>
                    <a:lnL w="12700" cap="flat" cmpd="sng">
                      <a:solidFill>
                        <a:srgbClr val="DCDCDC"/>
                      </a:solidFill>
                    </a:lnL>
                    <a:lnR w="12700" cap="flat" cmpd="sng">
                      <a:solidFill>
                        <a:srgbClr val="DCDCDC"/>
                      </a:solidFill>
                    </a:lnR>
                    <a:lnT w="12700" cap="flat" cmpd="sng">
                      <a:solidFill>
                        <a:srgbClr val="DCDCDC"/>
                      </a:solidFill>
                    </a:lnT>
                    <a:lnB w="12700" cap="flat" cmpd="sng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54787" y="557784"/>
            <a:ext cx="2720340" cy="9326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latin typeface="Freesentation"/>
              </a:rPr>
              <a:t>L11. Comparison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62756" y="558698"/>
            <a:ext cx="7550200" cy="9381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latin typeface="Freesentation"/>
              </a:rPr>
              <a:t>3+ 옵션 비교 테이블 — 항목별 교차 평가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TextBox L12 Title"/>
          <p:cNvSpPr txBox="1"/>
          <p:nvPr/>
        </p:nvSpPr>
        <p:spPr>
          <a:xfrm>
            <a:off x="457200" y="1600200"/>
            <a:ext cx="11277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sz="1600" b="1">
                <a:solidFill>
                  <a:srgbClr val="0043DA"/>
                </a:solidFill>
                <a:latin typeface="Freesentation"/>
              </a:rPr>
              <a:t>API 응답 시간 개선 — MSK 이벤트 기반 아키텍처 전환 효과</a:t>
            </a:r>
          </a:p>
        </p:txBody>
      </p:sp>
      <p:sp>
        <p:nvSpPr>
          <p:cNvPr id="11" name="TextBox L12 Desc"/>
          <p:cNvSpPr txBox="1"/>
          <p:nvPr/>
        </p:nvSpPr>
        <p:spPr>
          <a:xfrm>
            <a:off x="457200" y="1965960"/>
            <a:ext cx="11277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sz="1300" b="0">
                <a:solidFill>
                  <a:srgbClr val="212121"/>
                </a:solidFill>
                <a:latin typeface="Freesentation"/>
              </a:rPr>
              <a:t>2026년 1분기 실측 기준. 동일 트래픽(10K RPS) 조건 A/B 테스트 결과</a:t>
            </a:r>
          </a:p>
        </p:txBody>
      </p:sp>
      <p:sp>
        <p:nvSpPr>
          <p:cNvPr id="12" name="RRect L12 Badge Before"/>
          <p:cNvSpPr/>
          <p:nvPr/>
        </p:nvSpPr>
        <p:spPr>
          <a:xfrm>
            <a:off x="637160" y="24231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212121"/>
          </a:solidFill>
          <a:ln>
            <a:solidFill>
              <a:srgbClr val="212121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3" name="RRect L12 Badge After"/>
          <p:cNvSpPr/>
          <p:nvPr/>
        </p:nvSpPr>
        <p:spPr>
          <a:xfrm>
            <a:off x="6611040" y="24231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0043DA"/>
          </a:solidFill>
          <a:ln>
            <a:solidFill>
              <a:srgbClr val="0043DA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4" name="TextBox L12 Badge Before Text"/>
          <p:cNvSpPr txBox="1"/>
          <p:nvPr/>
        </p:nvSpPr>
        <p:spPr>
          <a:xfrm>
            <a:off x="637160" y="24231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sz="1300" b="1">
                <a:solidFill>
                  <a:srgbClr val="FFFFFF"/>
                </a:solidFill>
                <a:latin typeface="Freesentation"/>
              </a:rPr>
              <a:t>BEFORE</a:t>
            </a:r>
          </a:p>
        </p:txBody>
      </p:sp>
      <p:sp>
        <p:nvSpPr>
          <p:cNvPr id="15" name="TextBox L12 Badge After Text"/>
          <p:cNvSpPr txBox="1"/>
          <p:nvPr/>
        </p:nvSpPr>
        <p:spPr>
          <a:xfrm>
            <a:off x="6611040" y="24231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sz="1300" b="1">
                <a:solidFill>
                  <a:srgbClr val="FFFFFF"/>
                </a:solidFill>
                <a:latin typeface="Freesentation"/>
              </a:rPr>
              <a:t>AFTER</a:t>
            </a:r>
          </a:p>
        </p:txBody>
      </p:sp>
      <p:sp>
        <p:nvSpPr>
          <p:cNvPr id="16" name="RRect L12 Panel Before"/>
          <p:cNvSpPr/>
          <p:nvPr/>
        </p:nvSpPr>
        <p:spPr>
          <a:xfrm>
            <a:off x="457200" y="2789820"/>
            <a:ext cx="5303520" cy="388566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9525">
            <a:solidFill>
              <a:srgbClr val="DCDCDC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7" name="RRect L12 Panel After"/>
          <p:cNvSpPr/>
          <p:nvPr/>
        </p:nvSpPr>
        <p:spPr>
          <a:xfrm>
            <a:off x="6431280" y="2789820"/>
            <a:ext cx="5303520" cy="3885660"/>
          </a:xfrm>
          <a:prstGeom prst="roundRect">
            <a:avLst>
              <a:gd name="adj" fmla="val 16667"/>
            </a:avLst>
          </a:prstGeom>
          <a:solidFill>
            <a:srgbClr val="E6F0FF"/>
          </a:solidFill>
          <a:ln w="9525">
            <a:solidFill>
              <a:srgbClr val="0043DA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8" name="Arrow L12 Transition"/>
          <p:cNvSpPr/>
          <p:nvPr/>
        </p:nvSpPr>
        <p:spPr>
          <a:xfrm>
            <a:off x="5944440" y="4594980"/>
            <a:ext cx="411480" cy="274320"/>
          </a:xfrm>
          <a:prstGeom prst="rightArrow">
            <a:avLst/>
          </a:prstGeom>
          <a:solidFill>
            <a:srgbClr val="0043DA"/>
          </a:solidFill>
          <a:ln>
            <a:solidFill>
              <a:srgbClr val="0043D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TextBox L12 KPI Before Value"/>
          <p:cNvSpPr txBox="1"/>
          <p:nvPr/>
        </p:nvSpPr>
        <p:spPr>
          <a:xfrm>
            <a:off x="637160" y="2897580"/>
            <a:ext cx="49418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sz="2400" b="1">
                <a:solidFill>
                  <a:srgbClr val="212121"/>
                </a:solidFill>
                <a:latin typeface="프리젠테이션 7 Bold"/>
              </a:rPr>
              <a:t>3.2초</a:t>
            </a:r>
          </a:p>
        </p:txBody>
      </p:sp>
      <p:sp>
        <p:nvSpPr>
          <p:cNvPr id="20" name="TextBox L12 KPI After Value"/>
          <p:cNvSpPr txBox="1"/>
          <p:nvPr/>
        </p:nvSpPr>
        <p:spPr>
          <a:xfrm>
            <a:off x="6611040" y="2897580"/>
            <a:ext cx="49418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sz="2400" b="1">
                <a:solidFill>
                  <a:srgbClr val="0043DA"/>
                </a:solidFill>
                <a:latin typeface="프리젠테이션 7 Bold"/>
              </a:rPr>
              <a:t>0.8초</a:t>
            </a:r>
          </a:p>
        </p:txBody>
      </p:sp>
      <p:sp>
        <p:nvSpPr>
          <p:cNvPr id="21" name="TextBox L12 KPI Before Label"/>
          <p:cNvSpPr txBox="1"/>
          <p:nvPr/>
        </p:nvSpPr>
        <p:spPr>
          <a:xfrm>
            <a:off x="637160" y="3354780"/>
            <a:ext cx="49418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sz="1100" b="0">
                <a:solidFill>
                  <a:srgbClr val="505050"/>
                </a:solidFill>
                <a:latin typeface="Freesentation"/>
              </a:rPr>
              <a:t>평균 응답 시간</a:t>
            </a:r>
          </a:p>
        </p:txBody>
      </p:sp>
      <p:sp>
        <p:nvSpPr>
          <p:cNvPr id="22" name="TextBox L12 KPI After Label"/>
          <p:cNvSpPr txBox="1"/>
          <p:nvPr/>
        </p:nvSpPr>
        <p:spPr>
          <a:xfrm>
            <a:off x="6611040" y="3354780"/>
            <a:ext cx="49418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sz="1100" b="0">
                <a:solidFill>
                  <a:srgbClr val="505050"/>
                </a:solidFill>
                <a:latin typeface="Freesentation"/>
              </a:rPr>
              <a:t>평균 응답 시간</a:t>
            </a:r>
          </a:p>
        </p:txBody>
      </p:sp>
      <p:sp>
        <p:nvSpPr>
          <p:cNvPr id="23" name="Line L12 Divider Before"/>
          <p:cNvSpPr/>
          <p:nvPr/>
        </p:nvSpPr>
        <p:spPr>
          <a:xfrm>
            <a:off x="637160" y="3674820"/>
            <a:ext cx="4941840" cy="0"/>
          </a:xfrm>
          <a:prstGeom prst="line">
            <a:avLst/>
          </a:prstGeom>
          <a:noFill/>
          <a:ln w="12700">
            <a:solidFill>
              <a:srgbClr val="DCDCD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Line L12 Divider After"/>
          <p:cNvSpPr/>
          <p:nvPr/>
        </p:nvSpPr>
        <p:spPr>
          <a:xfrm>
            <a:off x="6611040" y="3674820"/>
            <a:ext cx="4941840" cy="0"/>
          </a:xfrm>
          <a:prstGeom prst="line">
            <a:avLst/>
          </a:prstGeom>
          <a:noFill/>
          <a:ln w="12700">
            <a:solidFill>
              <a:srgbClr val="DCDCD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TextBox L12 Content Before"/>
          <p:cNvSpPr txBox="1"/>
          <p:nvPr/>
        </p:nvSpPr>
        <p:spPr>
          <a:xfrm>
            <a:off x="637160" y="3766260"/>
            <a:ext cx="4484640" cy="1947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sz="1300" b="0">
                <a:solidFill>
                  <a:srgbClr val="212121"/>
                </a:solidFill>
                <a:latin typeface="Freesentation"/>
              </a:rPr>
              <a:t>• 단일 서버 동기 처리</a:t>
            </a:r>
          </a:p>
          <a:p>
            <a:pPr algn="l"/>
            <a:r>
              <a:rPr lang="ko-KR" sz="1300" b="0">
                <a:solidFill>
                  <a:srgbClr val="212121"/>
                </a:solidFill>
                <a:latin typeface="Freesentation"/>
              </a:rPr>
              <a:t>• REST API 직접 호출</a:t>
            </a:r>
          </a:p>
          <a:p>
            <a:pPr algn="l"/>
            <a:r>
              <a:rPr lang="ko-KR" sz="1300" b="0">
                <a:solidFill>
                  <a:srgbClr val="212121"/>
                </a:solidFill>
                <a:latin typeface="Freesentation"/>
              </a:rPr>
              <a:t>• 무중단 배포 미지원</a:t>
            </a:r>
          </a:p>
        </p:txBody>
      </p:sp>
      <p:sp>
        <p:nvSpPr>
          <p:cNvPr id="26" name="TextBox L12 Content After"/>
          <p:cNvSpPr txBox="1"/>
          <p:nvPr/>
        </p:nvSpPr>
        <p:spPr>
          <a:xfrm>
            <a:off x="6611040" y="3766260"/>
            <a:ext cx="4484640" cy="1947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sz="1300" b="0">
                <a:solidFill>
                  <a:srgbClr val="212121"/>
                </a:solidFill>
                <a:latin typeface="Freesentation"/>
              </a:rPr>
              <a:t>• Redis 캐시 + CDN 적용</a:t>
            </a:r>
          </a:p>
          <a:p>
            <a:pPr algn="l"/>
            <a:r>
              <a:rPr lang="ko-KR" sz="1300" b="0">
                <a:solidFill>
                  <a:srgbClr val="212121"/>
                </a:solidFill>
                <a:latin typeface="Freesentation"/>
              </a:rPr>
              <a:t>• MSK 비동기 이벤트 기반</a:t>
            </a:r>
          </a:p>
          <a:p>
            <a:pPr algn="l"/>
            <a:r>
              <a:rPr lang="ko-KR" sz="1300" b="0">
                <a:solidFill>
                  <a:srgbClr val="212121"/>
                </a:solidFill>
                <a:latin typeface="Freesentation"/>
              </a:rPr>
              <a:t>• Blue/Green 무중단 배포</a:t>
            </a:r>
          </a:p>
        </p:txBody>
      </p:sp>
      <p:sp>
        <p:nvSpPr>
          <p:cNvPr id="27" name="RRect L12 Change Badge"/>
          <p:cNvSpPr/>
          <p:nvPr/>
        </p:nvSpPr>
        <p:spPr>
          <a:xfrm>
            <a:off x="5318760" y="502920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0043DA"/>
          </a:solidFill>
          <a:ln>
            <a:solidFill>
              <a:srgbClr val="0043DA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8" name="TextBox L12 Change Badge Text"/>
          <p:cNvSpPr txBox="1"/>
          <p:nvPr/>
        </p:nvSpPr>
        <p:spPr>
          <a:xfrm>
            <a:off x="5318760" y="5029200"/>
            <a:ext cx="1554480" cy="457200"/>
          </a:xfrm>
          <a:prstGeom prst="roundRect">
            <a:avLst>
              <a:gd name="adj" fmla="val 16667"/>
            </a:avLst>
          </a:prstGeom>
          <a:solidFill>
            <a:srgbClr val="0043DA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ko-KR" sz="2000" b="1">
                <a:solidFill>
                  <a:srgbClr val="FFFFFF"/>
                </a:solidFill>
                <a:latin typeface="프리젠테이션 7 Bold"/>
              </a:rPr>
              <a:t>▼ 75% 개선</a:t>
            </a:r>
          </a:p>
        </p:txBody>
      </p:sp>
      <p:pic>
        <p:nvPicPr>
          <p:cNvPr id="29" name="Icon L12 Befo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200" y="6087600"/>
            <a:ext cx="411480" cy="411480"/>
          </a:xfrm>
          <a:prstGeom prst="rect">
            <a:avLst/>
          </a:prstGeom>
          <a:ln>
            <a:noFill/>
          </a:ln>
        </p:spPr>
      </p:pic>
      <p:pic>
        <p:nvPicPr>
          <p:cNvPr id="30" name="Icon L12 Af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1280" y="6087600"/>
            <a:ext cx="411480" cy="411480"/>
          </a:xfrm>
          <a:prstGeom prst="rect">
            <a:avLst/>
          </a:prstGeom>
          <a:ln>
            <a:noFill/>
          </a:ln>
        </p:spPr>
      </p:pic>
      <p:sp>
        <p:nvSpPr>
          <p:cNvPr id="31" name="TextBox 30"/>
          <p:cNvSpPr txBox="1"/>
          <p:nvPr/>
        </p:nvSpPr>
        <p:spPr>
          <a:xfrm>
            <a:off x="354787" y="557784"/>
            <a:ext cx="2720340" cy="9326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latin typeface="Freesentation"/>
              </a:rPr>
              <a:t>L12. Before/After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2756" y="558698"/>
            <a:ext cx="7550200" cy="9381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latin typeface="Freesentation"/>
              </a:rPr>
              <a:t>KPI 수치 중심 시간 비교 — 변화량 강조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4288" y="557760"/>
            <a:ext cx="27198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Freesentation"/>
              </a:rPr>
              <a:t>L13. Pros &amp; 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1040" y="558624"/>
            <a:ext cx="7549368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212121"/>
                </a:solidFill>
                <a:latin typeface="Freesentation"/>
              </a:rPr>
              <a:t>AWS MSK 도입 검토 — 장단점 분석 및 종합 판단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43DA"/>
                </a:solidFill>
                <a:latin typeface="Freesentation"/>
              </a:rPr>
              <a:t>AWS MSK 도입 검토 — 장단점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7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121"/>
                </a:solidFill>
                <a:latin typeface="Freesentation"/>
              </a:rPr>
              <a:t>클라우드 메시징 솔루션 전환 시 고려사항 (2026-Q1 기준)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23160"/>
            <a:ext cx="5486400" cy="3657600"/>
          </a:xfrm>
          <a:prstGeom prst="roundRect">
            <a:avLst>
              <a:gd name="adj" fmla="val 4000"/>
            </a:avLst>
          </a:prstGeom>
          <a:solidFill>
            <a:srgbClr val="B2D9CD"/>
          </a:solidFill>
          <a:ln w="6350">
            <a:solidFill>
              <a:srgbClr val="4CB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7160" y="2603120"/>
            <a:ext cx="512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12121"/>
                </a:solidFill>
                <a:latin typeface="프리젠테이션 7"/>
              </a:rPr>
              <a:t>✅  Pros (장점)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160" y="2968800"/>
            <a:ext cx="5124480" cy="293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43DA"/>
                </a:solidFill>
                <a:latin typeface="Freesentation"/>
              </a:rPr>
              <a:t>★ 관리 부담 80% 감소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  Kafka 클러스터 운영 자동화 (AWS 실측)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고가용성 99.9% SLA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  Multi-AZ 자동 복제, 장애 복구 &lt; 5분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ROI 240% (12개월)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  인력 비용 ₩1.8억/년 절감 vs 서비스 비용 ₩0.75억/년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360" y="2423160"/>
            <a:ext cx="5486400" cy="3657600"/>
          </a:xfrm>
          <a:prstGeom prst="roundRect">
            <a:avLst>
              <a:gd name="adj" fmla="val 4000"/>
            </a:avLst>
          </a:prstGeom>
          <a:solidFill>
            <a:srgbClr val="F6C0A8"/>
          </a:solidFill>
          <a:ln w="6350">
            <a:solidFill>
              <a:srgbClr val="EE8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1320" y="2603120"/>
            <a:ext cx="512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12121"/>
                </a:solidFill>
                <a:latin typeface="프리젠테이션 7"/>
              </a:rPr>
              <a:t>⚠️  Cons (단점)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1320" y="2968800"/>
            <a:ext cx="5124480" cy="293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초기 마이그레이션 비용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  데이터 전환 + 검증 ₩5,000만 (1회)</a:t>
            </a:r>
          </a:p>
          <a:p>
            <a:pPr algn="l"/>
            <a:r>
              <a:rPr sz="1300" b="0">
                <a:solidFill>
                  <a:srgbClr val="0043DA"/>
                </a:solidFill>
                <a:latin typeface="Freesentation"/>
              </a:rPr>
              <a:t>  → 단계별 이관으로 리스크 분산 (3개월)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벤더 종속성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  AWS 서비스에 강하게 결합</a:t>
            </a:r>
          </a:p>
          <a:p>
            <a:pPr algn="l"/>
            <a:r>
              <a:rPr sz="1300" b="0">
                <a:solidFill>
                  <a:srgbClr val="0043DA"/>
                </a:solidFill>
                <a:latin typeface="Freesentation"/>
              </a:rPr>
              <a:t>  → Kafka 표준 API 유지로 이식성 확보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on-premises 대비 15% 높은 월 비용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  ₩750만/월 vs 자체 운영 ₩650만/월</a:t>
            </a:r>
          </a:p>
          <a:p>
            <a:pPr algn="l"/>
            <a:r>
              <a:rPr sz="1300" b="0">
                <a:solidFill>
                  <a:srgbClr val="0043DA"/>
                </a:solidFill>
                <a:latin typeface="Freesentation"/>
              </a:rPr>
              <a:t>  → 운영 인력 포함 TCO 기준 35% 절감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6172200"/>
            <a:ext cx="11320560" cy="457200"/>
          </a:xfrm>
          <a:prstGeom prst="roundRect">
            <a:avLst>
              <a:gd name="adj" fmla="val 4000"/>
            </a:avLst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160" y="6217920"/>
            <a:ext cx="10960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Freesentation"/>
              </a:rPr>
              <a:t>📋 종합 판단: 도입 권장 — Pros ROI 240%가 Cons를 상회, 모든 단점 완화 가능</a:t>
            </a:r>
          </a:p>
          <a:p>
            <a:r>
              <a:rPr sz="1300" b="0">
                <a:solidFill>
                  <a:srgbClr val="FFFFFF"/>
                </a:solidFill>
                <a:latin typeface="Freesentation"/>
              </a:rPr>
              <a:t>Action: 2026-Q2 PoC 착수 승인 요청 (예산 ₩5,000만, 기간 3개월)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4288" y="557760"/>
            <a:ext cx="27198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Freesentation"/>
              </a:rPr>
              <a:t>L14. Do / Don't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1040" y="558624"/>
            <a:ext cx="7549368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212121"/>
                </a:solidFill>
                <a:latin typeface="Freesentation"/>
              </a:rPr>
              <a:t>MSK 아키텍처 설계 가이드라인 — 프로덕션 환경 필수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43DA"/>
                </a:solidFill>
                <a:latin typeface="Freesentation"/>
              </a:rPr>
              <a:t>MSK 아키텍처 설계 가이드라인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7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121"/>
                </a:solidFill>
                <a:latin typeface="Freesentation"/>
              </a:rPr>
              <a:t>프로덕션 환경 구성 시 필수 체크리스트 (2026-Q1 기준)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23160"/>
            <a:ext cx="5486400" cy="3657600"/>
          </a:xfrm>
          <a:prstGeom prst="roundRect">
            <a:avLst>
              <a:gd name="adj" fmla="val 4000"/>
            </a:avLst>
          </a:prstGeom>
          <a:solidFill>
            <a:srgbClr val="B2D9CD"/>
          </a:solidFill>
          <a:ln w="6350">
            <a:solidFill>
              <a:srgbClr val="4CB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7160" y="2603120"/>
            <a:ext cx="512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12121"/>
                </a:solidFill>
                <a:latin typeface="프리젠테이션 7"/>
              </a:rPr>
              <a:t>✅  DO (권장)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160" y="2968800"/>
            <a:ext cx="5124480" cy="293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Multi-AZ 배포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  가용성 99.9% 보장, 장애 시 자동 failover &lt; 5분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VPC Endpoint 사용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  인터넷 경유 금지 → 네트워크 지연 70% 감소 (실측)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CloudWatch 알람 설정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  CPU &gt; 70%, Disk &gt; 80% 임계치 모니터링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360" y="2423160"/>
            <a:ext cx="5486400" cy="3657600"/>
          </a:xfrm>
          <a:prstGeom prst="roundRect">
            <a:avLst>
              <a:gd name="adj" fmla="val 4000"/>
            </a:avLst>
          </a:prstGeom>
          <a:solidFill>
            <a:srgbClr val="C62828"/>
          </a:solidFill>
          <a:ln w="952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1320" y="2603120"/>
            <a:ext cx="512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프리젠테이션 7"/>
              </a:rPr>
              <a:t>❌  DON'T (비권장)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1320" y="2968800"/>
            <a:ext cx="5124480" cy="293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Freesentation"/>
              </a:rPr>
              <a:t>🔴 Single-AZ 배포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Freesentation"/>
              </a:rPr>
              <a:t>  AZ 장애 시 서비스 전체 중단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Freesentation"/>
              </a:rPr>
              <a:t>  ⚡ 2025-Q4 서울 AZ-A 장애 — 3시간 다운타임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Freesentation"/>
              </a:rPr>
              <a:t>  ✅ 대신: Multi-AZ 배포 (99.9% SLA)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  <a:latin typeface="Freesentation"/>
              </a:rPr>
              <a:t>🔴 Public Subnet 배치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Freesentation"/>
              </a:rPr>
              <a:t>  외부 공격 노출, 데이터 유출 위험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Freesentation"/>
              </a:rPr>
              <a:t>  ⚡ 보안 감사 지적 사항 1순위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Freesentation"/>
              </a:rPr>
              <a:t>  ✅ 대신: Private Subnet + VPC Endpoint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Freesentation"/>
              </a:rPr>
              <a:t>⚠️ default 보안그룹 사용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Freesentation"/>
              </a:rPr>
              <a:t>  0.0.0.0/0 허용 → 무단 접근 가능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Freesentation"/>
              </a:rPr>
              <a:t>  ✅ 대신: 최소 권한 보안그룹 (필요 포트만)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6172200"/>
            <a:ext cx="11320560" cy="4572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160" y="6217920"/>
            <a:ext cx="10960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12121"/>
                </a:solidFill>
                <a:latin typeface="Freesentation"/>
              </a:rPr>
              <a:t>📋 준수 현황: 3/6 항목 준수 (50%) — 미준수 항목 (Single-AZ, Public Subnet, default SG) 즉시 조치 필요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4288" y="557760"/>
            <a:ext cx="27198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Freesentation"/>
              </a:rPr>
              <a:t>L15. SWOT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1040" y="558624"/>
            <a:ext cx="7549368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212121"/>
                </a:solidFill>
                <a:latin typeface="Freesentation"/>
              </a:rPr>
              <a:t>AWS MSK 사업 진출 SWOT 분석 — SO전략 집중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43DA"/>
                </a:solidFill>
                <a:latin typeface="Freesentation"/>
              </a:rPr>
              <a:t>AWS MSK 사업 진출 SWOT 분석 — SO전략 집중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7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121"/>
                </a:solidFill>
                <a:latin typeface="Freesentation"/>
              </a:rPr>
              <a:t>클라우드 메시징 서비스 시장 진입 타당성 검토 (2026-Q1)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56692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05050"/>
                </a:solidFill>
                <a:latin typeface="Freesentation"/>
              </a:rPr>
              <a:t>내부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31720"/>
            <a:ext cx="5516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05050"/>
                </a:solidFill>
                <a:latin typeface="Freesentation"/>
              </a:rPr>
              <a:t>외부 요인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14600"/>
            <a:ext cx="5669280" cy="1737360"/>
          </a:xfrm>
          <a:prstGeom prst="roundRect">
            <a:avLst>
              <a:gd name="adj" fmla="val 4000"/>
            </a:avLst>
          </a:prstGeom>
          <a:solidFill>
            <a:srgbClr val="DBF1E9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160" y="2572200"/>
            <a:ext cx="512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12121"/>
                </a:solidFill>
                <a:latin typeface="프리젠테이션 7"/>
              </a:rPr>
              <a:t>💪  강점 (Strengths)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160" y="2846520"/>
            <a:ext cx="5124480" cy="131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>
                <a:solidFill>
                  <a:srgbClr val="212121"/>
                </a:solidFill>
                <a:latin typeface="Freesentation"/>
              </a:rPr>
              <a:t>• AWS Premier 파트너십</a:t>
            </a:r>
          </a:p>
          <a:p>
            <a:pPr lvl="1"/>
            <a:r>
              <a:rPr sz="1300" b="0">
                <a:solidFill>
                  <a:srgbClr val="212121"/>
                </a:solidFill>
                <a:latin typeface="Freesentation"/>
              </a:rPr>
              <a:t>기술 지원 우선 + 공동 마케팅 기회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Kafka 10년 운영 경험</a:t>
            </a:r>
          </a:p>
          <a:p>
            <a:pPr lvl="1"/>
            <a:r>
              <a:rPr sz="1300" b="0">
                <a:solidFill>
                  <a:srgbClr val="212121"/>
                </a:solidFill>
                <a:latin typeface="Freesentation"/>
              </a:rPr>
              <a:t>국내 금융권 구축 실적 15건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24/7 전담 엔지니어 12명</a:t>
            </a:r>
          </a:p>
          <a:p>
            <a:pPr lvl="1"/>
            <a:r>
              <a:rPr sz="1300" b="0">
                <a:solidFill>
                  <a:srgbClr val="212121"/>
                </a:solidFill>
                <a:latin typeface="Freesentation"/>
              </a:rPr>
              <a:t>평균 경력 7년, SLA 99.9% 실적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514600"/>
            <a:ext cx="5516880" cy="1737360"/>
          </a:xfrm>
          <a:prstGeom prst="roundRect">
            <a:avLst>
              <a:gd name="adj" fmla="val 4000"/>
            </a:avLst>
          </a:prstGeom>
          <a:solidFill>
            <a:srgbClr val="E6ED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97880" y="2572200"/>
            <a:ext cx="512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12121"/>
                </a:solidFill>
                <a:latin typeface="프리젠테이션 7"/>
              </a:rPr>
              <a:t>🎯  기회 (Opportunities)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7880" y="2846520"/>
            <a:ext cx="5124480" cy="131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043DA"/>
                </a:solidFill>
                <a:latin typeface="Freesentation"/>
              </a:rPr>
              <a:t>• 시장 CAGR 28%</a:t>
            </a:r>
          </a:p>
          <a:p>
            <a:pPr lvl="1"/>
            <a:r>
              <a:rPr sz="1300" b="0">
                <a:solidFill>
                  <a:srgbClr val="212121"/>
                </a:solidFill>
                <a:latin typeface="Freesentation"/>
              </a:rPr>
              <a:t>2026~2028 IDC 전망, ₩3,200억 규모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금융권 클라우드 전환</a:t>
            </a:r>
          </a:p>
          <a:p>
            <a:pPr lvl="1"/>
            <a:r>
              <a:rPr sz="1300" b="0">
                <a:solidFill>
                  <a:srgbClr val="212121"/>
                </a:solidFill>
                <a:latin typeface="Freesentation"/>
              </a:rPr>
              <a:t>2025년 규제 완화, 수요 급증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레거시 MQ 대체 수요</a:t>
            </a:r>
          </a:p>
          <a:p>
            <a:pPr lvl="1"/>
            <a:r>
              <a:rPr sz="1300" b="0">
                <a:solidFill>
                  <a:srgbClr val="212121"/>
                </a:solidFill>
                <a:latin typeface="Freesentation"/>
              </a:rPr>
              <a:t>WebSphere MQ EOL 2027, 전환 시급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343400"/>
            <a:ext cx="5669280" cy="1828800"/>
          </a:xfrm>
          <a:prstGeom prst="roundRect">
            <a:avLst>
              <a:gd name="adj" fmla="val 4000"/>
            </a:avLst>
          </a:prstGeom>
          <a:solidFill>
            <a:srgbClr val="FBD9CC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160" y="4401000"/>
            <a:ext cx="512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12121"/>
                </a:solidFill>
                <a:latin typeface="프리젠테이션 7"/>
              </a:rPr>
              <a:t>⚠️  약점 (Weaknesses)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160" y="4675320"/>
            <a:ext cx="5124480" cy="140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>
                <a:solidFill>
                  <a:srgbClr val="212121"/>
                </a:solidFill>
                <a:latin typeface="Freesentation"/>
              </a:rPr>
              <a:t>• 초기 투자 ₩8억</a:t>
            </a:r>
          </a:p>
          <a:p>
            <a:pPr lvl="1"/>
            <a:r>
              <a:rPr sz="1300" b="0">
                <a:solidFill>
                  <a:srgbClr val="212121"/>
                </a:solidFill>
                <a:latin typeface="Freesentation"/>
              </a:rPr>
              <a:t>인프라 + 인력 + 마케팅 비용</a:t>
            </a:r>
          </a:p>
          <a:p>
            <a:pPr lvl="1"/>
            <a:r>
              <a:rPr sz="1300" b="0">
                <a:solidFill>
                  <a:srgbClr val="0043DA"/>
                </a:solidFill>
                <a:latin typeface="Freesentation"/>
              </a:rPr>
              <a:t>→ 단계별 투자 12개월 계획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ISO 27001 미취득</a:t>
            </a:r>
          </a:p>
          <a:p>
            <a:pPr lvl="1"/>
            <a:r>
              <a:rPr sz="1300" b="0">
                <a:solidFill>
                  <a:srgbClr val="212121"/>
                </a:solidFill>
                <a:latin typeface="Freesentation"/>
              </a:rPr>
              <a:t>금융권 필수 인증, 6개월 소요 예정</a:t>
            </a:r>
          </a:p>
          <a:p>
            <a:pPr lvl="1"/>
            <a:r>
              <a:rPr sz="1300" b="0">
                <a:solidFill>
                  <a:srgbClr val="0043DA"/>
                </a:solidFill>
                <a:latin typeface="Freesentation"/>
              </a:rPr>
              <a:t>→ Q2 완료 목표, 임시 파트너 인증 활용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343400"/>
            <a:ext cx="5516880" cy="1828800"/>
          </a:xfrm>
          <a:prstGeom prst="roundRect">
            <a:avLst>
              <a:gd name="adj" fmla="val 4000"/>
            </a:avLst>
          </a:prstGeom>
          <a:solidFill>
            <a:srgbClr val="F5CCCC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97880" y="4401000"/>
            <a:ext cx="512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12121"/>
                </a:solidFill>
                <a:latin typeface="프리젠테이션 7"/>
              </a:rPr>
              <a:t>⛔  위협 (Threats)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7880" y="4675320"/>
            <a:ext cx="5124480" cy="140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>
                <a:solidFill>
                  <a:srgbClr val="212121"/>
                </a:solidFill>
                <a:latin typeface="Freesentation"/>
              </a:rPr>
              <a:t>• Confluent 국내 점유 22%</a:t>
            </a:r>
          </a:p>
          <a:p>
            <a:pPr lvl="1"/>
            <a:r>
              <a:rPr sz="1300" b="0">
                <a:solidFill>
                  <a:srgbClr val="212121"/>
                </a:solidFill>
                <a:latin typeface="Freesentation"/>
              </a:rPr>
              <a:t>2025년 서울 리전 오픈, 점유 확대 중</a:t>
            </a:r>
          </a:p>
          <a:p>
            <a:pPr lvl="1"/>
            <a:r>
              <a:rPr sz="1300" b="0">
                <a:solidFill>
                  <a:srgbClr val="0043DA"/>
                </a:solidFill>
                <a:latin typeface="Freesentation"/>
              </a:rPr>
              <a:t>→ AWS 네이티브 통합 + 가격 경쟁력 강조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IT 예산 감축 -5%</a:t>
            </a:r>
          </a:p>
          <a:p>
            <a:pPr lvl="1"/>
            <a:r>
              <a:rPr sz="1300" b="0">
                <a:solidFill>
                  <a:srgbClr val="212121"/>
                </a:solidFill>
                <a:latin typeface="Freesentation"/>
              </a:rPr>
              <a:t>2026 Gartner 전망, 신규 도입 보수화</a:t>
            </a:r>
          </a:p>
          <a:p>
            <a:pPr lvl="1"/>
            <a:r>
              <a:rPr sz="1300" b="0">
                <a:solidFill>
                  <a:srgbClr val="0043DA"/>
                </a:solidFill>
                <a:latin typeface="Freesentation"/>
              </a:rPr>
              <a:t>→ ROI 마케팅 — TCO 35% 절감 실증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263640"/>
            <a:ext cx="11277600" cy="457200"/>
          </a:xfrm>
          <a:prstGeom prst="roundRect">
            <a:avLst>
              <a:gd name="adj" fmla="val 4000"/>
            </a:avLst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160" y="6309360"/>
            <a:ext cx="11069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Freesentation"/>
              </a:rPr>
              <a:t>📋 전략 방향: SO전략 집중 — AWS 파트너십(S) × 금융권 클라우드 수요(O)로 MSK 시장 선점</a:t>
            </a:r>
          </a:p>
          <a:p>
            <a:r>
              <a:rPr sz="1300" b="0">
                <a:solidFill>
                  <a:srgbClr val="FFFFFF"/>
                </a:solidFill>
                <a:latin typeface="Freesentation"/>
              </a:rPr>
              <a:t>WO: ISO 27001 Q2 인증 완료 → 금융권 진입 장벽 해소 | 초기 투자 단계별 분산으로 리스크 최소화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4288" y="557760"/>
            <a:ext cx="2719800" cy="932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Freesentation"/>
              </a:rPr>
              <a:t>L16. Detail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1040" y="558624"/>
            <a:ext cx="7549368" cy="938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Freesentation"/>
              </a:rPr>
              <a:t>이미지+설명 레이아웃 — 스크린샷·다이어그램 + 상세 해설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AWS MSK 콘솔 — 클러스터 모니터링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7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CloudWatch 지표 기반 실시간 모니터링 (2026년 4월 기준)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121"/>
                </a:solidFill>
                <a:latin typeface="Freesentation"/>
              </a:rPr>
              <a:t>① CloudWatch 콘솔 → MSK 클러스터 선택 → 모니터링 탭 확인</a:t>
            </a:r>
          </a:p>
          <a:p>
            <a:r>
              <a:rPr sz="1300" b="0">
                <a:solidFill>
                  <a:srgbClr val="212121"/>
                </a:solidFill>
                <a:latin typeface="Freesentation"/>
              </a:rPr>
              <a:t>② BytesInPerSec / BytesOutPerSec 지표로 처리량 실시간 모니터링</a:t>
            </a:r>
          </a:p>
          <a:p>
            <a:r>
              <a:rPr sz="1300" b="0">
                <a:solidFill>
                  <a:srgbClr val="212121"/>
                </a:solidFill>
                <a:latin typeface="Freesentation"/>
              </a:rPr>
              <a:t>③ UnderReplicatedPartitions &gt; 0 시 즉시 알람 — 복제 장애 자동 감지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57360"/>
            <a:ext cx="11277600" cy="2926080"/>
          </a:xfrm>
          <a:prstGeom prst="rect">
            <a:avLst/>
          </a:prstGeom>
          <a:solidFill>
            <a:srgbClr val="E8EFFD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846080"/>
            <a:ext cx="1127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E9E9E"/>
                </a:solidFill>
                <a:latin typeface="Freesentation"/>
              </a:rPr>
              <a:t>[CloudWatch MSK 모니터링 화면]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4288" y="557760"/>
            <a:ext cx="2719800" cy="932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Freesentation"/>
              </a:rPr>
              <a:t>L17. Image 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1040" y="558624"/>
            <a:ext cx="7549368" cy="938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Freesentation"/>
              </a:rPr>
              <a:t>이미지+불릿 2컬럼 레이아웃 — 좌 시각자료 + 우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AWS MSK VPC 네트워크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7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Private Subnet 격리 구성 — 3-Tier 보안 모델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5486400" cy="4114800"/>
          </a:xfrm>
          <a:prstGeom prst="rect">
            <a:avLst/>
          </a:prstGeom>
          <a:solidFill>
            <a:srgbClr val="E8EFFD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251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>
                <a:solidFill>
                  <a:srgbClr val="9E9E9E"/>
                </a:solidFill>
                <a:latin typeface="Freesentation"/>
              </a:rPr>
              <a:t>[VPC </a:t>
            </a:r>
            <a:r>
              <a:rPr sz="1300" b="0" dirty="0" err="1">
                <a:solidFill>
                  <a:srgbClr val="9E9E9E"/>
                </a:solidFill>
                <a:latin typeface="Freesentation"/>
              </a:rPr>
              <a:t>네트워크</a:t>
            </a:r>
            <a:r>
              <a:rPr sz="1300" b="0" dirty="0">
                <a:solidFill>
                  <a:srgbClr val="9E9E9E"/>
                </a:solidFill>
                <a:latin typeface="Freesentation"/>
              </a:rPr>
              <a:t> </a:t>
            </a:r>
            <a:r>
              <a:rPr sz="1300" b="0" dirty="0" err="1">
                <a:solidFill>
                  <a:srgbClr val="9E9E9E"/>
                </a:solidFill>
                <a:latin typeface="Freesentation"/>
              </a:rPr>
              <a:t>구성도</a:t>
            </a:r>
            <a:r>
              <a:rPr sz="1300" b="0" dirty="0">
                <a:solidFill>
                  <a:srgbClr val="9E9E9E"/>
                </a:solidFill>
                <a:latin typeface="Freesentation"/>
              </a:rPr>
              <a:t>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000" y="2468880"/>
            <a:ext cx="5608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12121"/>
                </a:solidFill>
                <a:latin typeface="Freesentation"/>
              </a:rPr>
              <a:t>• Public Subnet (10.0.1.0/24)</a:t>
            </a:r>
          </a:p>
          <a:p>
            <a:r>
              <a:rPr sz="1300" b="0">
                <a:solidFill>
                  <a:srgbClr val="212121"/>
                </a:solidFill>
                <a:latin typeface="Freesentation"/>
              </a:rPr>
              <a:t>  ALB, NAT Gateway 배치 — 외부 트래픽 수신</a:t>
            </a:r>
          </a:p>
          <a:p>
            <a:endParaRPr sz="1300" b="0">
              <a:solidFill>
                <a:srgbClr val="212121"/>
              </a:solidFill>
              <a:latin typeface="Freesentation"/>
            </a:endParaRPr>
          </a:p>
          <a:p>
            <a:r>
              <a:rPr sz="1400" b="1">
                <a:solidFill>
                  <a:srgbClr val="212121"/>
                </a:solidFill>
                <a:latin typeface="Freesentation"/>
              </a:rPr>
              <a:t>• Private Subnet (10.0.10.0/24)</a:t>
            </a:r>
          </a:p>
          <a:p>
            <a:r>
              <a:rPr sz="1300" b="0">
                <a:solidFill>
                  <a:srgbClr val="212121"/>
                </a:solidFill>
                <a:latin typeface="Freesentation"/>
              </a:rPr>
              <a:t>  MSK 브로커 배치 (포트 9092/9094)</a:t>
            </a:r>
          </a:p>
          <a:p>
            <a:endParaRPr sz="1300" b="0">
              <a:solidFill>
                <a:srgbClr val="212121"/>
              </a:solidFill>
              <a:latin typeface="Freesentation"/>
            </a:endParaRPr>
          </a:p>
          <a:p>
            <a:r>
              <a:rPr sz="1400" b="1">
                <a:solidFill>
                  <a:srgbClr val="212121"/>
                </a:solidFill>
                <a:latin typeface="Freesentation"/>
              </a:rPr>
              <a:t>• DB Subnet (10.0.20.0/24)</a:t>
            </a:r>
          </a:p>
          <a:p>
            <a:r>
              <a:rPr sz="1300" b="0">
                <a:solidFill>
                  <a:srgbClr val="212121"/>
                </a:solidFill>
                <a:latin typeface="Freesentation"/>
              </a:rPr>
              <a:t>  S3/RDS 오프로드 — 앱서버에서만 접근</a:t>
            </a:r>
          </a:p>
          <a:p>
            <a:endParaRPr sz="1300" b="0">
              <a:solidFill>
                <a:srgbClr val="212121"/>
              </a:solidFill>
              <a:latin typeface="Freesentation"/>
            </a:endParaRPr>
          </a:p>
          <a:p>
            <a:r>
              <a:rPr sz="1400" b="1">
                <a:solidFill>
                  <a:srgbClr val="212121"/>
                </a:solidFill>
                <a:latin typeface="Freesentation"/>
              </a:rPr>
              <a:t>• 보안그룹 규칙</a:t>
            </a:r>
          </a:p>
          <a:p>
            <a:r>
              <a:rPr sz="1300" b="0">
                <a:solidFill>
                  <a:srgbClr val="212121"/>
                </a:solidFill>
                <a:latin typeface="Freesentation"/>
              </a:rPr>
              <a:t>  App→MSK(9092), MSK→S3(443) 허용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/>
          <p:cNvSpPr/>
          <p:nvPr/>
        </p:nvSpPr>
        <p:spPr>
          <a:xfrm>
            <a:off x="5454814" y="1560692"/>
            <a:ext cx="6461651" cy="1543780"/>
          </a:xfrm>
          <a:prstGeom prst="rect">
            <a:avLst/>
          </a:prstGeom>
          <a:solidFill>
            <a:srgbClr val="2A6FDE">
              <a:alpha val="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F1CD8C-B1D4-7464-AA76-B85D3FD34B41}"/>
              </a:ext>
            </a:extLst>
          </p:cNvPr>
          <p:cNvSpPr txBox="1"/>
          <p:nvPr/>
        </p:nvSpPr>
        <p:spPr>
          <a:xfrm>
            <a:off x="5532230" y="1560692"/>
            <a:ext cx="1251848" cy="15437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ko-KR" sz="1400" b="1" dirty="0">
                <a:solidFill>
                  <a:srgbClr val="2A6FDE"/>
                </a:solidFill>
                <a:latin typeface="프리젠테이션 7 Bold" pitchFamily="2" charset="-127"/>
                <a:ea typeface="프리젠테이션 7 Bold" pitchFamily="2" charset="-127"/>
              </a:rPr>
              <a:t>CHALLENGE</a:t>
            </a:r>
            <a:endParaRPr kumimoji="1" lang="ko-KR" altLang="en-US" sz="1200" b="1" dirty="0">
              <a:solidFill>
                <a:srgbClr val="2A6FDE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7BB32EE-1742-12E7-BFF9-906AF589AC67}"/>
              </a:ext>
            </a:extLst>
          </p:cNvPr>
          <p:cNvSpPr txBox="1"/>
          <p:nvPr/>
        </p:nvSpPr>
        <p:spPr>
          <a:xfrm>
            <a:off x="6950765" y="1560691"/>
            <a:ext cx="4965700" cy="15437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300" dirty="0">
                <a:latin typeface="프리젠테이션 4 Regular" pitchFamily="2" charset="-127"/>
                <a:ea typeface="프리젠테이션 4 Regular" pitchFamily="2" charset="-127"/>
              </a:rPr>
              <a:t>배치 처리(Batch) 기반 데이터 파이프라인 한계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300" dirty="0">
                <a:latin typeface="프리젠테이션 4 Regular" pitchFamily="2" charset="-127"/>
                <a:ea typeface="프리젠테이션 4 Regular" pitchFamily="2" charset="-127"/>
              </a:rPr>
              <a:t>처리 지연 30분 이상 → 실시간 의사결정·알림 불가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300" dirty="0">
                <a:latin typeface="프리젠테이션 4 Regular" pitchFamily="2" charset="-127"/>
                <a:ea typeface="프리젠테이션 4 Regular" pitchFamily="2" charset="-127"/>
              </a:rPr>
              <a:t>시스템 간 강결합 → 마이크로서비스 전환 구조적 장벽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300" dirty="0">
                <a:latin typeface="프리젠테이션 4 Regular" pitchFamily="2" charset="-127"/>
                <a:ea typeface="프리젠테이션 4 Regular" pitchFamily="2" charset="-127"/>
              </a:rPr>
              <a:t>대용량 로그 적체 → 장애 감지·대응 지연 심화</a:t>
            </a:r>
          </a:p>
        </p:txBody>
      </p:sp>
      <p:cxnSp>
        <p:nvCxnSpPr>
          <p:cNvPr id="41" name="직선 연결선 40"/>
          <p:cNvCxnSpPr/>
          <p:nvPr/>
        </p:nvCxnSpPr>
        <p:spPr>
          <a:xfrm flipV="1">
            <a:off x="5454815" y="1560691"/>
            <a:ext cx="6461650" cy="21252"/>
          </a:xfrm>
          <a:prstGeom prst="line">
            <a:avLst/>
          </a:prstGeom>
          <a:ln w="12700">
            <a:solidFill>
              <a:srgbClr val="0043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/>
          <p:cNvSpPr/>
          <p:nvPr/>
        </p:nvSpPr>
        <p:spPr>
          <a:xfrm>
            <a:off x="5454813" y="3275389"/>
            <a:ext cx="6461651" cy="1543780"/>
          </a:xfrm>
          <a:prstGeom prst="rect">
            <a:avLst/>
          </a:prstGeom>
          <a:solidFill>
            <a:srgbClr val="4CB88F">
              <a:alpha val="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4F1CD8C-B1D4-7464-AA76-B85D3FD34B41}"/>
              </a:ext>
            </a:extLst>
          </p:cNvPr>
          <p:cNvSpPr txBox="1"/>
          <p:nvPr/>
        </p:nvSpPr>
        <p:spPr>
          <a:xfrm>
            <a:off x="5532229" y="3275389"/>
            <a:ext cx="1251848" cy="15437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ko-KR" sz="1400" b="1" dirty="0">
                <a:solidFill>
                  <a:srgbClr val="4CB88F"/>
                </a:solidFill>
                <a:latin typeface="프리젠테이션 7 Bold" pitchFamily="2" charset="-127"/>
                <a:ea typeface="프리젠테이션 7 Bold" pitchFamily="2" charset="-127"/>
              </a:rPr>
              <a:t>SOLUTION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7BB32EE-1742-12E7-BFF9-906AF589AC67}"/>
              </a:ext>
            </a:extLst>
          </p:cNvPr>
          <p:cNvSpPr txBox="1"/>
          <p:nvPr/>
        </p:nvSpPr>
        <p:spPr>
          <a:xfrm>
            <a:off x="6950764" y="3275388"/>
            <a:ext cx="4965700" cy="15437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ko-KR" sz="1300" dirty="0">
                <a:latin typeface="프리젠테이션 4 Regular" pitchFamily="2" charset="-127"/>
                <a:ea typeface="프리젠테이션 4 Regular" pitchFamily="2" charset="-127"/>
              </a:rPr>
              <a:t>AWS MSK 완전 관리형 Kafka 클러스터 도입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ko-KR" sz="1300" dirty="0">
                <a:latin typeface="프리젠테이션 4 Regular" pitchFamily="2" charset="-127"/>
                <a:ea typeface="프리젠테이션 4 Regular" pitchFamily="2" charset="-127"/>
              </a:rPr>
              <a:t>초당 수십만 건 메시지 실시간 처리 · 분산 스트리밍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ko-KR" sz="1300" dirty="0">
                <a:latin typeface="프리젠테이션 4 Regular" pitchFamily="2" charset="-127"/>
                <a:ea typeface="프리젠테이션 4 Regular" pitchFamily="2" charset="-127"/>
              </a:rPr>
              <a:t>VPC 격리 + IAM 인증 + TLS 1.2 — 엔터프라이즈 보안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ko-KR" sz="1300" dirty="0">
                <a:latin typeface="프리젠테이션 4 Regular" pitchFamily="2" charset="-127"/>
                <a:ea typeface="프리젠테이션 4 Regular" pitchFamily="2" charset="-127"/>
              </a:rPr>
              <a:t>패치·스케일링·모니터링 자동화 → 운영 부담 제거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5454812" y="4987648"/>
            <a:ext cx="6461651" cy="1543780"/>
          </a:xfrm>
          <a:prstGeom prst="rect">
            <a:avLst/>
          </a:prstGeom>
          <a:solidFill>
            <a:srgbClr val="EE8150">
              <a:alpha val="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4F1CD8C-B1D4-7464-AA76-B85D3FD34B41}"/>
              </a:ext>
            </a:extLst>
          </p:cNvPr>
          <p:cNvSpPr txBox="1"/>
          <p:nvPr/>
        </p:nvSpPr>
        <p:spPr>
          <a:xfrm>
            <a:off x="5532228" y="4987648"/>
            <a:ext cx="1251848" cy="15437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ko-KR" sz="1400" b="1" dirty="0">
                <a:solidFill>
                  <a:srgbClr val="EE8150"/>
                </a:solidFill>
                <a:latin typeface="프리젠테이션 7 Bold" pitchFamily="2" charset="-127"/>
                <a:ea typeface="프리젠테이션 7 Bold" pitchFamily="2" charset="-127"/>
              </a:rPr>
              <a:t>RESULT</a:t>
            </a:r>
            <a:endParaRPr kumimoji="1" lang="ko-KR" altLang="en-US" sz="1200" b="1" dirty="0">
              <a:solidFill>
                <a:srgbClr val="EE8150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BB32EE-1742-12E7-BFF9-906AF589AC67}"/>
              </a:ext>
            </a:extLst>
          </p:cNvPr>
          <p:cNvSpPr txBox="1"/>
          <p:nvPr/>
        </p:nvSpPr>
        <p:spPr>
          <a:xfrm>
            <a:off x="6950763" y="4987647"/>
            <a:ext cx="4965700" cy="15437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300" dirty="0">
                <a:latin typeface="프리젠테이션 4 Regular" pitchFamily="2" charset="-127"/>
                <a:ea typeface="프리젠테이션 4 Regular" pitchFamily="2" charset="-127"/>
              </a:rPr>
              <a:t>실시간 처리 지연: 30분 → 500ms 이하 단축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300" dirty="0">
                <a:latin typeface="프리젠테이션 4 Regular" pitchFamily="2" charset="-127"/>
                <a:ea typeface="프리젠테이션 4 Regular" pitchFamily="2" charset="-127"/>
              </a:rPr>
              <a:t>운영 비용 40% 절감 (관리형 서비스 전환)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300" dirty="0">
                <a:latin typeface="프리젠테이션 4 Regular" pitchFamily="2" charset="-127"/>
                <a:ea typeface="프리젠테이션 4 Regular" pitchFamily="2" charset="-127"/>
              </a:rPr>
              <a:t>서비스 간 느슨한 결합 — 독립 배포·확장 가능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300" dirty="0">
                <a:latin typeface="프리젠테이션 4 Regular" pitchFamily="2" charset="-127"/>
                <a:ea typeface="프리젠테이션 4 Regular" pitchFamily="2" charset="-127"/>
              </a:rPr>
              <a:t>장애 감지·대응 시간 90% 단축</a:t>
            </a:r>
          </a:p>
        </p:txBody>
      </p:sp>
      <p:cxnSp>
        <p:nvCxnSpPr>
          <p:cNvPr id="34" name="직선 연결선 33"/>
          <p:cNvCxnSpPr/>
          <p:nvPr/>
        </p:nvCxnSpPr>
        <p:spPr>
          <a:xfrm flipV="1">
            <a:off x="5454815" y="3249791"/>
            <a:ext cx="6461650" cy="21252"/>
          </a:xfrm>
          <a:prstGeom prst="line">
            <a:avLst/>
          </a:prstGeom>
          <a:ln w="12700">
            <a:solidFill>
              <a:srgbClr val="4CB8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V="1">
            <a:off x="5454815" y="4976991"/>
            <a:ext cx="6461650" cy="21252"/>
          </a:xfrm>
          <a:prstGeom prst="line">
            <a:avLst/>
          </a:prstGeom>
          <a:ln w="12700">
            <a:solidFill>
              <a:srgbClr val="EE81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5545A5-8B1D-F9BC-90E3-B32618A37DC8}"/>
              </a:ext>
            </a:extLst>
          </p:cNvPr>
          <p:cNvSpPr txBox="1"/>
          <p:nvPr/>
        </p:nvSpPr>
        <p:spPr>
          <a:xfrm>
            <a:off x="354288" y="557760"/>
            <a:ext cx="2719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dirty="0">
                <a:solidFill>
                  <a:srgbClr val="000000"/>
                </a:solidFill>
                <a:latin typeface="Freesentation"/>
              </a:rPr>
              <a:t>L17</a:t>
            </a:r>
            <a:r>
              <a:rPr lang="en-US" altLang="ko-KR" sz="2000" b="1" dirty="0">
                <a:solidFill>
                  <a:srgbClr val="000000"/>
                </a:solidFill>
                <a:latin typeface="Freesentation"/>
              </a:rPr>
              <a:t>-1</a:t>
            </a:r>
            <a:r>
              <a:rPr sz="2000" b="1" dirty="0">
                <a:solidFill>
                  <a:srgbClr val="000000"/>
                </a:solidFill>
                <a:latin typeface="Freesentation"/>
              </a:rPr>
              <a:t>. Image Left</a:t>
            </a:r>
            <a:r>
              <a:rPr lang="en-US" altLang="ko-KR" sz="2000" b="1" dirty="0">
                <a:solidFill>
                  <a:srgbClr val="000000"/>
                </a:solidFill>
                <a:latin typeface="Freesentation"/>
              </a:rPr>
              <a:t>-1</a:t>
            </a:r>
            <a:endParaRPr sz="2000" b="1" dirty="0">
              <a:solidFill>
                <a:srgbClr val="000000"/>
              </a:solidFill>
              <a:latin typeface="Freesentatio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A7F15-4806-D4C2-0C08-573E8EE768E6}"/>
              </a:ext>
            </a:extLst>
          </p:cNvPr>
          <p:cNvSpPr txBox="1"/>
          <p:nvPr/>
        </p:nvSpPr>
        <p:spPr>
          <a:xfrm>
            <a:off x="3761040" y="558624"/>
            <a:ext cx="7549368" cy="938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Freesentation"/>
              </a:rPr>
              <a:t>이미지+CSR 레이아웃 — 좌 이미지 + 우 CHALLENGE / SOLUTION / RESULT 3단 블록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87171A-1A94-A6F8-A062-8850F6BC18B4}"/>
              </a:ext>
            </a:extLst>
          </p:cNvPr>
          <p:cNvSpPr/>
          <p:nvPr/>
        </p:nvSpPr>
        <p:spPr>
          <a:xfrm>
            <a:off x="354288" y="1581943"/>
            <a:ext cx="4933838" cy="4949484"/>
          </a:xfrm>
          <a:prstGeom prst="rect">
            <a:avLst/>
          </a:prstGeom>
          <a:solidFill>
            <a:srgbClr val="E8EFFD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B6466F-8EB5-A257-60CE-0DE7A243E6D7}"/>
              </a:ext>
            </a:extLst>
          </p:cNvPr>
          <p:cNvSpPr txBox="1"/>
          <p:nvPr/>
        </p:nvSpPr>
        <p:spPr>
          <a:xfrm>
            <a:off x="354287" y="3910491"/>
            <a:ext cx="493383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>
                <a:solidFill>
                  <a:srgbClr val="9E9E9E"/>
                </a:solidFill>
                <a:latin typeface="Freesentation"/>
              </a:rPr>
              <a:t>[VPC </a:t>
            </a:r>
            <a:r>
              <a:rPr sz="1300" b="0" dirty="0" err="1">
                <a:solidFill>
                  <a:srgbClr val="9E9E9E"/>
                </a:solidFill>
                <a:latin typeface="Freesentation"/>
              </a:rPr>
              <a:t>네트워크</a:t>
            </a:r>
            <a:r>
              <a:rPr sz="1300" b="0" dirty="0">
                <a:solidFill>
                  <a:srgbClr val="9E9E9E"/>
                </a:solidFill>
                <a:latin typeface="Freesentation"/>
              </a:rPr>
              <a:t> </a:t>
            </a:r>
            <a:r>
              <a:rPr sz="1300" b="0" dirty="0" err="1">
                <a:solidFill>
                  <a:srgbClr val="9E9E9E"/>
                </a:solidFill>
                <a:latin typeface="Freesentation"/>
              </a:rPr>
              <a:t>구성도</a:t>
            </a:r>
            <a:r>
              <a:rPr sz="1300" b="0" dirty="0">
                <a:solidFill>
                  <a:srgbClr val="9E9E9E"/>
                </a:solidFill>
                <a:latin typeface="Freesentation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416297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600200"/>
            <a:ext cx="12192000" cy="52578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4288" y="557760"/>
            <a:ext cx="2719800" cy="932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Freesentation"/>
              </a:rPr>
              <a:t>L18. Full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1040" y="558624"/>
            <a:ext cx="7549368" cy="938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Freesentation"/>
              </a:rPr>
              <a:t>풀와이드 이미지 레이아웃 — 배경 + 캡션 오버레이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1371600"/>
          </a:xfrm>
          <a:prstGeom prst="roundRect">
            <a:avLst>
              <a:gd name="adj" fmla="val 16667"/>
            </a:avLst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Freesentation"/>
              </a:rPr>
              <a:t>AWS MSK 클라우드 전환 전략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Freesentation"/>
              </a:rPr>
              <a:t>금융·공공 분야 실시간 이벤트 스트리밍 선도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4288" y="557760"/>
            <a:ext cx="2719800" cy="932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Freesentation"/>
              </a:rPr>
              <a:t>L19. Icon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1040" y="558624"/>
            <a:ext cx="7549368" cy="938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Freesentation"/>
              </a:rPr>
              <a:t>아이콘 그리드 레이아웃 — 3×2 기술 스택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AWS MSK 통합 기술 스택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7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메시징 플랫폼 핵심 구성요소 (2026년 4월 기준)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23160"/>
            <a:ext cx="3566400" cy="182880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97480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2743200"/>
            <a:ext cx="26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Apache Kafka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318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분산 스트리밍 플랫폼 — 메시지 브로커 코어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2800" y="2423160"/>
            <a:ext cx="3566400" cy="182880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120" y="2697480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27200" y="2743200"/>
            <a:ext cx="26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Zookeeper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7120" y="3429000"/>
            <a:ext cx="318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클러스터 메타데이터 관리 (KRaft 전환 가능)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68400" y="2423160"/>
            <a:ext cx="3566400" cy="182880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2720" y="2697480"/>
            <a:ext cx="548640" cy="548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82800" y="2743200"/>
            <a:ext cx="26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Kafka Connect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2720" y="3429000"/>
            <a:ext cx="318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Source/Sink 커넥터 — 외부 시스템 통합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34840"/>
            <a:ext cx="3566400" cy="182880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709160"/>
            <a:ext cx="548640" cy="548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71600" y="4754880"/>
            <a:ext cx="26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Schema Registry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40680"/>
            <a:ext cx="318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Avro/Protobuf 스키마 중앙 관리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2800" y="4434840"/>
            <a:ext cx="3566400" cy="182880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7120" y="4709160"/>
            <a:ext cx="548640" cy="5486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27200" y="4754880"/>
            <a:ext cx="26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CloudWatch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7120" y="5440680"/>
            <a:ext cx="318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브로커·토픽 메트릭 실시간 모니터링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68400" y="4434840"/>
            <a:ext cx="3566400" cy="182880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secur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2720" y="4709160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082800" y="4754880"/>
            <a:ext cx="26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IAM/mTLS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2720" y="5440680"/>
            <a:ext cx="318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인증·암호화 — 보안 통신 계층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4288" y="557760"/>
            <a:ext cx="2719800" cy="93228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l"/>
            <a:r>
              <a:rPr sz="2000" b="1">
                <a:solidFill>
                  <a:srgbClr val="000000"/>
                </a:solidFill>
                <a:latin typeface="Freesentation"/>
              </a:rPr>
              <a:t>L20. Numbered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1040" y="558624"/>
            <a:ext cx="7549368" cy="938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Freesentation"/>
              </a:rPr>
              <a:t>번호 리스트 레이아웃 — 순서 강조 단계별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AWS MSK 클러스터 구축 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7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프로덕션 환경 배포 절차 (2026년 4월 기준)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434590"/>
            <a:ext cx="457200" cy="457200"/>
          </a:xfrm>
          <a:prstGeom prst="ellipse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Freesentation 7 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03170"/>
            <a:ext cx="1063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VPC 및 Subnet 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68930"/>
            <a:ext cx="1063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Private Subnet 3개(AZ-a/b/c) 생성, CIDR 대역 분리, 라우팅 테이블 설정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531870"/>
            <a:ext cx="457200" cy="457200"/>
          </a:xfrm>
          <a:prstGeom prst="ellipse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Freesentation 7 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00450"/>
            <a:ext cx="1063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MSK 클러스터 프로비저닝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966210"/>
            <a:ext cx="1063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kafka.m5.large 3 브로커, EBS gp3 100GB, Multi-AZ 배치 설정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629150"/>
            <a:ext cx="457200" cy="457200"/>
          </a:xfrm>
          <a:prstGeom prst="ellipse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Freesentation 7 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697730"/>
            <a:ext cx="1063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보안 그룹 및 IAM 정책 구성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63490"/>
            <a:ext cx="1063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포트 9092/9094 허용, IAM 정책으로 Topic 권한 제어, TLS 암호화 활성화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5726430"/>
            <a:ext cx="457200" cy="457200"/>
          </a:xfrm>
          <a:prstGeom prst="ellipse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Freesentation 7 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795010"/>
            <a:ext cx="1063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모니터링 및 알람 설정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160770"/>
            <a:ext cx="1063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CloudWatch 지표 활성화, CPU/Disk 임계치 알람, SNS 통보 설정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3872" y="557784"/>
            <a:ext cx="2717596" cy="32004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r>
              <a:rPr sz="2000" b="1">
                <a:solidFill>
                  <a:srgbClr val="000000"/>
                </a:solidFill>
                <a:latin typeface="Freesentation"/>
              </a:rPr>
              <a:t>L21. Quote 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3872" y="896112"/>
            <a:ext cx="27175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60012" y="558698"/>
            <a:ext cx="75465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05050"/>
                </a:solidFill>
                <a:latin typeface="Freesentation"/>
              </a:rPr>
              <a:t>클라우드 전환 리더십 메시지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43DA"/>
                </a:solidFill>
                <a:latin typeface="Freesentation"/>
              </a:rPr>
              <a:t>클라우드 전환 추진 방향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12772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12121"/>
                </a:solidFill>
                <a:latin typeface="Freesentation"/>
              </a:rPr>
              <a:t>CTO 메시지 (2026년 1분기 전사 회의)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23160"/>
            <a:ext cx="7315200" cy="36576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909560" y="2423160"/>
            <a:ext cx="3822191" cy="36576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6172200"/>
            <a:ext cx="11277295" cy="457200"/>
          </a:xfrm>
          <a:prstGeom prst="roundRect">
            <a:avLst/>
          </a:prstGeom>
          <a:solidFill>
            <a:srgbClr val="0043DA"/>
          </a:solidFill>
          <a:ln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>
                <a:solidFill>
                  <a:srgbClr val="0043DA"/>
                </a:solidFill>
              </a:rPr>
              <a:t>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i="1">
                <a:solidFill>
                  <a:srgbClr val="212121"/>
                </a:solidFill>
                <a:latin typeface="Freesentation"/>
              </a:rPr>
              <a:t>우리는 2026년까지 레거시 시스템의 80%를 클라우드로 전환합니다. 이는 단순한 인프라 이전이 아닌, 비즈니스 민첩성 확보를 위한 전략적 투자입니다.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505050"/>
                </a:solidFill>
                <a:latin typeface="Freesentation"/>
              </a:rPr>
              <a:t>— 김철수, CTO  (GS네오텍)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060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📊 컨텍스트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175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12121"/>
                </a:solidFill>
                <a:latin typeface="Freesentation"/>
              </a:rPr>
              <a:t>₩3.2억/년 절감</a:t>
            </a:r>
          </a:p>
          <a:p>
            <a:r>
              <a:rPr sz="1300">
                <a:solidFill>
                  <a:srgbClr val="212121"/>
                </a:solidFill>
                <a:latin typeface="Freesentation"/>
              </a:rPr>
              <a:t>인프라+인력 합산 (2025 실측)</a:t>
            </a:r>
          </a:p>
          <a:p>
            <a:endParaRPr sz="1300">
              <a:solidFill>
                <a:srgbClr val="212121"/>
              </a:solidFill>
              <a:latin typeface="Freesentation"/>
            </a:endParaRPr>
          </a:p>
          <a:p>
            <a:r>
              <a:rPr sz="1300">
                <a:solidFill>
                  <a:srgbClr val="212121"/>
                </a:solidFill>
                <a:latin typeface="Freesentation"/>
              </a:rPr>
              <a:t>레거시 42개 시스템</a:t>
            </a:r>
          </a:p>
          <a:p>
            <a:r>
              <a:rPr sz="1300">
                <a:solidFill>
                  <a:srgbClr val="212121"/>
                </a:solidFill>
                <a:latin typeface="Freesentation"/>
              </a:rPr>
              <a:t>전환 대상, 목표 전환율 80%</a:t>
            </a:r>
          </a:p>
          <a:p>
            <a:endParaRPr sz="1300">
              <a:solidFill>
                <a:srgbClr val="212121"/>
              </a:solidFill>
              <a:latin typeface="Freesentation"/>
            </a:endParaRPr>
          </a:p>
          <a:p>
            <a:r>
              <a:rPr sz="1300">
                <a:solidFill>
                  <a:srgbClr val="212121"/>
                </a:solidFill>
                <a:latin typeface="Freesentation"/>
              </a:rPr>
              <a:t>2026-Q4 완료 기한</a:t>
            </a:r>
          </a:p>
          <a:p>
            <a:r>
              <a:rPr sz="1300">
                <a:solidFill>
                  <a:srgbClr val="212121"/>
                </a:solidFill>
                <a:latin typeface="Freesentation"/>
              </a:rPr>
              <a:t>1차 마감 2026-Q2</a:t>
            </a:r>
          </a:p>
          <a:p>
            <a:endParaRPr sz="1300">
              <a:solidFill>
                <a:srgbClr val="212121"/>
              </a:solidFill>
              <a:latin typeface="Freesentation"/>
            </a:endParaRPr>
          </a:p>
          <a:p>
            <a:r>
              <a:rPr sz="1300">
                <a:solidFill>
                  <a:srgbClr val="212121"/>
                </a:solidFill>
                <a:latin typeface="Freesentation"/>
              </a:rPr>
              <a:t>TTM -40%</a:t>
            </a:r>
          </a:p>
          <a:p>
            <a:r>
              <a:rPr sz="1300">
                <a:solidFill>
                  <a:srgbClr val="212121"/>
                </a:solidFill>
                <a:latin typeface="Freesentation"/>
              </a:rPr>
              <a:t>클라우드 전환 후 제품 출시 단축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Freesentation"/>
              </a:rPr>
              <a:t>💡 핵심: 클라우드 전환은 비용 절감이 아닌 민첩성 확보 — 경쟁사 대비 TTM 40% 단축 목표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3872" y="557784"/>
            <a:ext cx="2717596" cy="32004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r>
              <a:rPr sz="2000" b="1">
                <a:solidFill>
                  <a:srgbClr val="000000"/>
                </a:solidFill>
                <a:latin typeface="Freesentation"/>
              </a:rPr>
              <a:t>L22. Split Text+Code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3872" y="896112"/>
            <a:ext cx="27175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60012" y="558698"/>
            <a:ext cx="75465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05050"/>
                </a:solidFill>
                <a:latin typeface="Freesentation"/>
              </a:rPr>
              <a:t>AWS CLI 기반 MSK 프로비저닝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43DA"/>
                </a:solidFill>
                <a:latin typeface="Freesentation"/>
              </a:rPr>
              <a:t>AWS CLI로 MSK 클러스터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12772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12121"/>
                </a:solidFill>
                <a:latin typeface="Freesentation"/>
              </a:rPr>
              <a:t>명령줄 기반 프로비저닝 절차 (2026년 4월 기준)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12121"/>
                </a:solidFill>
                <a:latin typeface="Freesentation"/>
              </a:rPr>
              <a:t>① 클러스터 설정 JSON 작성</a:t>
            </a:r>
          </a:p>
          <a:p>
            <a:r>
              <a:rPr sz="1300">
                <a:solidFill>
                  <a:srgbClr val="212121"/>
                </a:solidFill>
                <a:latin typeface="Freesentation"/>
              </a:rPr>
              <a:t>   broker-node-group-info, kafka-version,</a:t>
            </a:r>
          </a:p>
          <a:p>
            <a:r>
              <a:rPr sz="1300">
                <a:solidFill>
                  <a:srgbClr val="212121"/>
                </a:solidFill>
                <a:latin typeface="Freesentation"/>
              </a:rPr>
              <a:t>   cluster-name 필수 항목</a:t>
            </a:r>
          </a:p>
          <a:p>
            <a:endParaRPr sz="1300">
              <a:solidFill>
                <a:srgbClr val="212121"/>
              </a:solidFill>
              <a:latin typeface="Freesentation"/>
            </a:endParaRPr>
          </a:p>
          <a:p>
            <a:r>
              <a:rPr sz="1400" b="1">
                <a:solidFill>
                  <a:srgbClr val="212121"/>
                </a:solidFill>
                <a:latin typeface="Freesentation"/>
              </a:rPr>
              <a:t>② VPC Subnet ID 확인</a:t>
            </a:r>
          </a:p>
          <a:p>
            <a:r>
              <a:rPr sz="1300">
                <a:solidFill>
                  <a:srgbClr val="212121"/>
                </a:solidFill>
                <a:latin typeface="Freesentation"/>
              </a:rPr>
              <a:t>   Private Subnet 3개 (AZ-a/b/c) ID 확보</a:t>
            </a:r>
          </a:p>
          <a:p>
            <a:r>
              <a:rPr sz="1300">
                <a:solidFill>
                  <a:srgbClr val="212121"/>
                </a:solidFill>
                <a:latin typeface="Freesentation"/>
              </a:rPr>
              <a:t>   aws ec2 describe-subnets 명령 활용</a:t>
            </a:r>
          </a:p>
          <a:p>
            <a:endParaRPr sz="1300">
              <a:solidFill>
                <a:srgbClr val="212121"/>
              </a:solidFill>
              <a:latin typeface="Freesentation"/>
            </a:endParaRPr>
          </a:p>
          <a:p>
            <a:r>
              <a:rPr sz="1400" b="1">
                <a:solidFill>
                  <a:srgbClr val="212121"/>
                </a:solidFill>
                <a:latin typeface="Freesentation"/>
              </a:rPr>
              <a:t>③ 생성 명령 실행</a:t>
            </a:r>
          </a:p>
          <a:p>
            <a:r>
              <a:rPr sz="1300">
                <a:solidFill>
                  <a:srgbClr val="212121"/>
                </a:solidFill>
                <a:latin typeface="Freesentation"/>
              </a:rPr>
              <a:t>   create-cluster 명령어 + 설정 파일 참조</a:t>
            </a:r>
          </a:p>
          <a:p>
            <a:r>
              <a:rPr sz="1300">
                <a:solidFill>
                  <a:srgbClr val="212121"/>
                </a:solidFill>
                <a:latin typeface="Freesentation"/>
              </a:rPr>
              <a:t>   완료까지 5~10분 소요</a:t>
            </a:r>
          </a:p>
          <a:p>
            <a:endParaRPr sz="1300">
              <a:solidFill>
                <a:srgbClr val="212121"/>
              </a:solidFill>
              <a:latin typeface="Freesentation"/>
            </a:endParaRPr>
          </a:p>
          <a:p>
            <a:r>
              <a:rPr sz="1400" b="1">
                <a:solidFill>
                  <a:srgbClr val="212121"/>
                </a:solidFill>
                <a:latin typeface="Freesentation"/>
              </a:rPr>
              <a:t>④ 생성 완료 확인</a:t>
            </a:r>
          </a:p>
          <a:p>
            <a:r>
              <a:rPr sz="1300">
                <a:solidFill>
                  <a:srgbClr val="212121"/>
                </a:solidFill>
                <a:latin typeface="Freesentation"/>
              </a:rPr>
              <a:t>   describe-cluster 응답 State="ACTIVE" 확인</a:t>
            </a:r>
          </a:p>
          <a:p>
            <a:r>
              <a:rPr sz="1300">
                <a:solidFill>
                  <a:srgbClr val="212121"/>
                </a:solidFill>
                <a:latin typeface="Freesentation"/>
              </a:rPr>
              <a:t>   CloudWatch 메트릭 수집 시작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423160"/>
            <a:ext cx="5608015" cy="3657600"/>
          </a:xfrm>
          <a:prstGeom prst="rect">
            <a:avLst/>
          </a:prstGeom>
          <a:solidFill>
            <a:srgbClr val="1E1E1E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26480" y="2423160"/>
            <a:ext cx="5608015" cy="274320"/>
          </a:xfrm>
          <a:prstGeom prst="rect">
            <a:avLst/>
          </a:prstGeom>
          <a:solidFill>
            <a:srgbClr val="2C001E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D0D0D0"/>
                </a:solidFill>
                <a:latin typeface="Courier New"/>
              </a:rPr>
              <a:t>ubuntu@msk-cluster: ~ — bash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4CB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274320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ourier New"/>
              </a:rPr>
              <a:t>ubuntu@msk-cluster:~$ aws kafka create-cluster \
  --cluster-name my-msk-cluster \
  --broker-node-group-info file://broker-info.json \
  --kafka-version 3.5.1 \
  --number-of-broker-nodes 3 \
  --region ap-northeast-2
# 응답 예시
{
  "ClusterArn": "arn:aws:kafka:ap-northeast-2:...",
  "ClusterName": "my-msk-cluster",
  "State": "CREATING"
}
ubuntu@msk-cluster:~$ aws kafka describe-cluster --cluster-arn &lt;ARN&gt;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12121"/>
                </a:solidFill>
                <a:latin typeface="Freesentation"/>
              </a:rPr>
              <a:t>✅ 확인: aws kafka describe-cluster 응답에서 State="ACTIVE" 확인   |   소요시간: 5~10분   |   실패 시: CloudWatch /aws/msk/ 로그 확인</a:t>
            </a:r>
          </a:p>
        </p:txBody>
      </p:sp>
      <p:sp>
        <p:nvSpPr>
          <p:cNvPr id="14" name="Oval 13"/>
          <p:cNvSpPr/>
          <p:nvPr/>
        </p:nvSpPr>
        <p:spPr>
          <a:xfrm>
            <a:off x="6263640" y="2514600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23660" y="2514600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583680" y="2514600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3872" y="557784"/>
            <a:ext cx="27175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Freesentation"/>
              </a:rPr>
              <a:t>L23. Stats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3872" y="896112"/>
            <a:ext cx="27175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60012" y="558698"/>
            <a:ext cx="75465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05050"/>
                </a:solidFill>
                <a:latin typeface="Freesentation"/>
              </a:rPr>
              <a:t>MSK 도입 성과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43DA"/>
                </a:solidFill>
                <a:latin typeface="Freesentation"/>
              </a:rPr>
              <a:t>AWS MSK 도입 효과 — 핵심 성과 지표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12772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12121"/>
                </a:solidFill>
                <a:latin typeface="Freesentation"/>
              </a:rPr>
              <a:t>2026년 1분기 실측 기준 (운영 6개월 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23160"/>
            <a:ext cx="3566160" cy="3291840"/>
          </a:xfrm>
          <a:prstGeom prst="roundRect">
            <a:avLst/>
          </a:prstGeom>
          <a:solidFill>
            <a:srgbClr val="F8F9FA"/>
          </a:solidFill>
          <a:ln w="9525"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06240" y="2423160"/>
            <a:ext cx="3566160" cy="3291840"/>
          </a:xfrm>
          <a:prstGeom prst="roundRect">
            <a:avLst/>
          </a:prstGeom>
          <a:solidFill>
            <a:srgbClr val="F8F9FA"/>
          </a:solidFill>
          <a:ln w="9525"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955279" y="2423160"/>
            <a:ext cx="3566160" cy="3291840"/>
          </a:xfrm>
          <a:prstGeom prst="roundRect">
            <a:avLst/>
          </a:prstGeom>
          <a:solidFill>
            <a:srgbClr val="F8F9FA"/>
          </a:solidFill>
          <a:ln w="9525"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0043DA"/>
          </a:solidFill>
          <a:ln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606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43DA"/>
                </a:solidFill>
                <a:latin typeface="Freesentation"/>
              </a:rPr>
              <a:t>▼  ₩1.8억/년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00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Freesentation"/>
              </a:rPr>
              <a:t>비용 절감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118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  <a:latin typeface="Freesentation"/>
              </a:rPr>
              <a:t>운영 인력 2명 절감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Freesentation"/>
              </a:rPr>
              <a:t>+ 인프라 비용 감소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Freesentation"/>
              </a:rPr>
              <a:t>(MSK vs 자체 Kafka 운영)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49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05050"/>
                </a:solidFill>
                <a:latin typeface="Freesentation"/>
              </a:rPr>
              <a:t>2026-Q1 실측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606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4CB88F"/>
                </a:solidFill>
                <a:latin typeface="Freesentation"/>
              </a:rPr>
              <a:t>▲  +320%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200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Freesentation"/>
              </a:rPr>
              <a:t>처리량 증가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6118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  <a:latin typeface="Freesentation"/>
              </a:rPr>
              <a:t>10K → 42K msg/s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Freesentation"/>
              </a:rPr>
              <a:t>Multi-AZ 자동 스케일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Freesentation"/>
              </a:rPr>
              <a:t>(피크 트래픽 실측)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5349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05050"/>
                </a:solidFill>
                <a:latin typeface="Freesentation"/>
              </a:rPr>
              <a:t>피크 트래픽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606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43DA"/>
                </a:solidFill>
                <a:latin typeface="Freesentation"/>
              </a:rPr>
              <a:t>▼  -75%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200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Freesentation"/>
              </a:rPr>
              <a:t>지연시간 감소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6118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  <a:latin typeface="Freesentation"/>
              </a:rPr>
              <a:t>200ms → 50ms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Freesentation"/>
              </a:rPr>
              <a:t>VPC Endpoint 적용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Freesentation"/>
              </a:rPr>
              <a:t>(평균 레이턴시 실측)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349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05050"/>
                </a:solidFill>
                <a:latin typeface="Freesentation"/>
              </a:rPr>
              <a:t>평균 레이턴시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710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Freesentation"/>
              </a:rPr>
              <a:t>📊 종합: MSK 도입 6개월 만에 ROI 240% 달성 — 연간 순이익 ₩1.05억 (절감 ₩1.8억 - 서비스 비용 ₩0.75억)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Verdict 바"/>
          <p:cNvSpPr>
            <a:spLocks noGrp="1"/>
          </p:cNvSpPr>
          <p:nvPr/>
        </p:nvSpPr>
        <p:spPr>
          <a:xfrm>
            <a:off x="457200" y="6172200"/>
            <a:ext cx="11277600" cy="457200"/>
          </a:xfrm>
          <a:prstGeom prst="roundRect">
            <a:avLst>
              <a:gd name="adj" fmla="val 16667"/>
            </a:avLst>
          </a:prstGeom>
          <a:solidFill>
            <a:srgbClr val="4CB88F"/>
          </a:solidFill>
          <a:ln>
            <a:noFill/>
          </a:ln>
        </p:spPr>
        <p:txBody>
          <a:bodyPr anchor="ctr"/>
          <a:lstStyle/>
          <a:p>
            <a:pPr algn="l"/>
            <a:r>
              <a:rPr lang="ko-KR" sz="1200" b="1">
                <a:solidFill>
                  <a:srgbClr val="FFFFFF"/>
                </a:solidFill>
                <a:latin typeface="프리젠테이션 7"/>
              </a:rPr>
              <a:t>✅ Verdict: 중형(Medium) 추천 — 월 ₩150만으로 프로덕션급 10K TPS, 3-AZ 가용성 확보. 3년 TCO ₩5,400만 (대형 대비 70% 절감)</a:t>
            </a:r>
          </a:p>
        </p:txBody>
      </p:sp>
      <p:sp>
        <p:nvSpPr>
          <p:cNvPr id="230" name="셀_5_3"/>
          <p:cNvSpPr>
            <a:spLocks noGrp="1"/>
          </p:cNvSpPr>
          <p:nvPr/>
        </p:nvSpPr>
        <p:spPr>
          <a:xfrm>
            <a:off x="9438640" y="5558244"/>
            <a:ext cx="2296160" cy="522514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대규모 스트리밍</a:t>
            </a:r>
          </a:p>
        </p:txBody>
      </p:sp>
      <p:sp>
        <p:nvSpPr>
          <p:cNvPr id="229" name="셀_5_2"/>
          <p:cNvSpPr>
            <a:spLocks noGrp="1"/>
          </p:cNvSpPr>
          <p:nvPr/>
        </p:nvSpPr>
        <p:spPr>
          <a:xfrm>
            <a:off x="7142480" y="5558244"/>
            <a:ext cx="2296160" cy="522514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 b="1">
                <a:solidFill>
                  <a:srgbClr val="0043DA"/>
                </a:solidFill>
                <a:latin typeface="프리젠테이션 7"/>
              </a:rPr>
              <a:t>프로덕션</a:t>
            </a:r>
          </a:p>
        </p:txBody>
      </p:sp>
      <p:sp>
        <p:nvSpPr>
          <p:cNvPr id="228" name="셀_5_1"/>
          <p:cNvSpPr>
            <a:spLocks noGrp="1"/>
          </p:cNvSpPr>
          <p:nvPr/>
        </p:nvSpPr>
        <p:spPr>
          <a:xfrm>
            <a:off x="4846320" y="5558244"/>
            <a:ext cx="2296160" cy="522514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개발/테스트</a:t>
            </a:r>
          </a:p>
        </p:txBody>
      </p:sp>
      <p:sp>
        <p:nvSpPr>
          <p:cNvPr id="227" name="셀_5_0"/>
          <p:cNvSpPr>
            <a:spLocks noGrp="1"/>
          </p:cNvSpPr>
          <p:nvPr/>
        </p:nvSpPr>
        <p:spPr>
          <a:xfrm>
            <a:off x="2834640" y="5558244"/>
            <a:ext cx="2011680" cy="522514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권장 용도</a:t>
            </a:r>
          </a:p>
        </p:txBody>
      </p:sp>
      <p:sp>
        <p:nvSpPr>
          <p:cNvPr id="226" name="셀_4_3"/>
          <p:cNvSpPr>
            <a:spLocks noGrp="1"/>
          </p:cNvSpPr>
          <p:nvPr/>
        </p:nvSpPr>
        <p:spPr>
          <a:xfrm>
            <a:off x="9438640" y="5035730"/>
            <a:ext cx="2296160" cy="522514"/>
          </a:xfrm>
          <a:prstGeom prst="rect">
            <a:avLst/>
          </a:prstGeom>
          <a:solidFill>
            <a:srgbClr val="F0F4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50K msg/s</a:t>
            </a:r>
          </a:p>
        </p:txBody>
      </p:sp>
      <p:sp>
        <p:nvSpPr>
          <p:cNvPr id="225" name="셀_4_2"/>
          <p:cNvSpPr>
            <a:spLocks noGrp="1"/>
          </p:cNvSpPr>
          <p:nvPr/>
        </p:nvSpPr>
        <p:spPr>
          <a:xfrm>
            <a:off x="7142480" y="5035730"/>
            <a:ext cx="2296160" cy="522514"/>
          </a:xfrm>
          <a:prstGeom prst="rect">
            <a:avLst/>
          </a:prstGeom>
          <a:solidFill>
            <a:srgbClr val="F0F4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 b="1">
                <a:solidFill>
                  <a:srgbClr val="0043DA"/>
                </a:solidFill>
                <a:latin typeface="프리젠테이션 7"/>
              </a:rPr>
              <a:t>10K msg/s</a:t>
            </a:r>
          </a:p>
        </p:txBody>
      </p:sp>
      <p:sp>
        <p:nvSpPr>
          <p:cNvPr id="224" name="셀_4_1"/>
          <p:cNvSpPr>
            <a:spLocks noGrp="1"/>
          </p:cNvSpPr>
          <p:nvPr/>
        </p:nvSpPr>
        <p:spPr>
          <a:xfrm>
            <a:off x="4846320" y="5035730"/>
            <a:ext cx="2296160" cy="522514"/>
          </a:xfrm>
          <a:prstGeom prst="rect">
            <a:avLst/>
          </a:prstGeom>
          <a:solidFill>
            <a:srgbClr val="F0F4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1K msg/s</a:t>
            </a:r>
          </a:p>
        </p:txBody>
      </p:sp>
      <p:sp>
        <p:nvSpPr>
          <p:cNvPr id="223" name="셀_4_0"/>
          <p:cNvSpPr>
            <a:spLocks noGrp="1"/>
          </p:cNvSpPr>
          <p:nvPr/>
        </p:nvSpPr>
        <p:spPr>
          <a:xfrm>
            <a:off x="2834640" y="5035730"/>
            <a:ext cx="2011680" cy="522514"/>
          </a:xfrm>
          <a:prstGeom prst="rect">
            <a:avLst/>
          </a:prstGeom>
          <a:solidFill>
            <a:srgbClr val="F0F4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처리량 (TPS)</a:t>
            </a:r>
          </a:p>
        </p:txBody>
      </p:sp>
      <p:sp>
        <p:nvSpPr>
          <p:cNvPr id="222" name="셀_3_3"/>
          <p:cNvSpPr>
            <a:spLocks noGrp="1"/>
          </p:cNvSpPr>
          <p:nvPr/>
        </p:nvSpPr>
        <p:spPr>
          <a:xfrm>
            <a:off x="9438640" y="4513216"/>
            <a:ext cx="2296160" cy="522514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₩600만</a:t>
            </a:r>
          </a:p>
        </p:txBody>
      </p:sp>
      <p:sp>
        <p:nvSpPr>
          <p:cNvPr id="221" name="셀_3_2"/>
          <p:cNvSpPr>
            <a:spLocks noGrp="1"/>
          </p:cNvSpPr>
          <p:nvPr/>
        </p:nvSpPr>
        <p:spPr>
          <a:xfrm>
            <a:off x="7142480" y="4513216"/>
            <a:ext cx="2296160" cy="522514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 b="1">
                <a:solidFill>
                  <a:srgbClr val="0043DA"/>
                </a:solidFill>
                <a:latin typeface="프리젠테이션 7"/>
              </a:rPr>
              <a:t>₩150만</a:t>
            </a:r>
          </a:p>
        </p:txBody>
      </p:sp>
      <p:sp>
        <p:nvSpPr>
          <p:cNvPr id="220" name="셀_3_1"/>
          <p:cNvSpPr>
            <a:spLocks noGrp="1"/>
          </p:cNvSpPr>
          <p:nvPr/>
        </p:nvSpPr>
        <p:spPr>
          <a:xfrm>
            <a:off x="4846320" y="4513216"/>
            <a:ext cx="2296160" cy="522514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₩50만</a:t>
            </a:r>
          </a:p>
        </p:txBody>
      </p:sp>
      <p:sp>
        <p:nvSpPr>
          <p:cNvPr id="219" name="셀_3_0"/>
          <p:cNvSpPr>
            <a:spLocks noGrp="1"/>
          </p:cNvSpPr>
          <p:nvPr/>
        </p:nvSpPr>
        <p:spPr>
          <a:xfrm>
            <a:off x="2834640" y="4513216"/>
            <a:ext cx="2011680" cy="522514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월 예상 비용</a:t>
            </a:r>
          </a:p>
        </p:txBody>
      </p:sp>
      <p:sp>
        <p:nvSpPr>
          <p:cNvPr id="218" name="셀_2_3"/>
          <p:cNvSpPr>
            <a:spLocks noGrp="1"/>
          </p:cNvSpPr>
          <p:nvPr/>
        </p:nvSpPr>
        <p:spPr>
          <a:xfrm>
            <a:off x="9438640" y="3990702"/>
            <a:ext cx="2296160" cy="522514"/>
          </a:xfrm>
          <a:prstGeom prst="rect">
            <a:avLst/>
          </a:prstGeom>
          <a:solidFill>
            <a:srgbClr val="F0F4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2 TB</a:t>
            </a:r>
          </a:p>
        </p:txBody>
      </p:sp>
      <p:sp>
        <p:nvSpPr>
          <p:cNvPr id="217" name="셀_2_2"/>
          <p:cNvSpPr>
            <a:spLocks noGrp="1"/>
          </p:cNvSpPr>
          <p:nvPr/>
        </p:nvSpPr>
        <p:spPr>
          <a:xfrm>
            <a:off x="7142480" y="3990702"/>
            <a:ext cx="2296160" cy="522514"/>
          </a:xfrm>
          <a:prstGeom prst="rect">
            <a:avLst/>
          </a:prstGeom>
          <a:solidFill>
            <a:srgbClr val="F0F4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 b="1">
                <a:solidFill>
                  <a:srgbClr val="0043DA"/>
                </a:solidFill>
                <a:latin typeface="프리젠테이션 7"/>
              </a:rPr>
              <a:t>500 GB</a:t>
            </a:r>
          </a:p>
        </p:txBody>
      </p:sp>
      <p:sp>
        <p:nvSpPr>
          <p:cNvPr id="216" name="셀_2_1"/>
          <p:cNvSpPr>
            <a:spLocks noGrp="1"/>
          </p:cNvSpPr>
          <p:nvPr/>
        </p:nvSpPr>
        <p:spPr>
          <a:xfrm>
            <a:off x="4846320" y="3990702"/>
            <a:ext cx="2296160" cy="522514"/>
          </a:xfrm>
          <a:prstGeom prst="rect">
            <a:avLst/>
          </a:prstGeom>
          <a:solidFill>
            <a:srgbClr val="F0F4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100 GB</a:t>
            </a:r>
          </a:p>
        </p:txBody>
      </p:sp>
      <p:sp>
        <p:nvSpPr>
          <p:cNvPr id="215" name="셀_2_0"/>
          <p:cNvSpPr>
            <a:spLocks noGrp="1"/>
          </p:cNvSpPr>
          <p:nvPr/>
        </p:nvSpPr>
        <p:spPr>
          <a:xfrm>
            <a:off x="2834640" y="3990702"/>
            <a:ext cx="2011680" cy="522514"/>
          </a:xfrm>
          <a:prstGeom prst="rect">
            <a:avLst/>
          </a:prstGeom>
          <a:solidFill>
            <a:srgbClr val="F0F4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EBS 스토리지</a:t>
            </a:r>
          </a:p>
        </p:txBody>
      </p:sp>
      <p:sp>
        <p:nvSpPr>
          <p:cNvPr id="214" name="셀_1_3"/>
          <p:cNvSpPr>
            <a:spLocks noGrp="1"/>
          </p:cNvSpPr>
          <p:nvPr/>
        </p:nvSpPr>
        <p:spPr>
          <a:xfrm>
            <a:off x="9438640" y="3468188"/>
            <a:ext cx="2296160" cy="522514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6개</a:t>
            </a:r>
          </a:p>
        </p:txBody>
      </p:sp>
      <p:sp>
        <p:nvSpPr>
          <p:cNvPr id="213" name="셀_1_2"/>
          <p:cNvSpPr>
            <a:spLocks noGrp="1"/>
          </p:cNvSpPr>
          <p:nvPr/>
        </p:nvSpPr>
        <p:spPr>
          <a:xfrm>
            <a:off x="7142480" y="3468188"/>
            <a:ext cx="2296160" cy="522514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 b="1">
                <a:solidFill>
                  <a:srgbClr val="0043DA"/>
                </a:solidFill>
                <a:latin typeface="프리젠테이션 7"/>
              </a:rPr>
              <a:t>3개</a:t>
            </a:r>
          </a:p>
        </p:txBody>
      </p:sp>
      <p:sp>
        <p:nvSpPr>
          <p:cNvPr id="212" name="셀_1_1"/>
          <p:cNvSpPr>
            <a:spLocks noGrp="1"/>
          </p:cNvSpPr>
          <p:nvPr/>
        </p:nvSpPr>
        <p:spPr>
          <a:xfrm>
            <a:off x="4846320" y="3468188"/>
            <a:ext cx="2296160" cy="522514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2개</a:t>
            </a:r>
          </a:p>
        </p:txBody>
      </p:sp>
      <p:sp>
        <p:nvSpPr>
          <p:cNvPr id="211" name="셀_1_0"/>
          <p:cNvSpPr>
            <a:spLocks noGrp="1"/>
          </p:cNvSpPr>
          <p:nvPr/>
        </p:nvSpPr>
        <p:spPr>
          <a:xfrm>
            <a:off x="2834640" y="3468188"/>
            <a:ext cx="2011680" cy="522514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브로커 수</a:t>
            </a:r>
          </a:p>
        </p:txBody>
      </p:sp>
      <p:sp>
        <p:nvSpPr>
          <p:cNvPr id="210" name="셀_0_3"/>
          <p:cNvSpPr>
            <a:spLocks noGrp="1"/>
          </p:cNvSpPr>
          <p:nvPr/>
        </p:nvSpPr>
        <p:spPr>
          <a:xfrm>
            <a:off x="9438640" y="2945674"/>
            <a:ext cx="2296160" cy="522514"/>
          </a:xfrm>
          <a:prstGeom prst="rect">
            <a:avLst/>
          </a:prstGeom>
          <a:solidFill>
            <a:srgbClr val="F0F4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kafka.m5.4xlarge</a:t>
            </a:r>
          </a:p>
        </p:txBody>
      </p:sp>
      <p:sp>
        <p:nvSpPr>
          <p:cNvPr id="209" name="셀_0_2"/>
          <p:cNvSpPr>
            <a:spLocks noGrp="1"/>
          </p:cNvSpPr>
          <p:nvPr/>
        </p:nvSpPr>
        <p:spPr>
          <a:xfrm>
            <a:off x="7142480" y="2945674"/>
            <a:ext cx="2296160" cy="522514"/>
          </a:xfrm>
          <a:prstGeom prst="rect">
            <a:avLst/>
          </a:prstGeom>
          <a:solidFill>
            <a:srgbClr val="F0F4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 b="1">
                <a:solidFill>
                  <a:srgbClr val="0043DA"/>
                </a:solidFill>
                <a:latin typeface="프리젠테이션 7"/>
              </a:rPr>
              <a:t>kafka.m5.large</a:t>
            </a:r>
          </a:p>
        </p:txBody>
      </p:sp>
      <p:sp>
        <p:nvSpPr>
          <p:cNvPr id="208" name="셀_0_1"/>
          <p:cNvSpPr>
            <a:spLocks noGrp="1"/>
          </p:cNvSpPr>
          <p:nvPr/>
        </p:nvSpPr>
        <p:spPr>
          <a:xfrm>
            <a:off x="4846320" y="2945674"/>
            <a:ext cx="2296160" cy="522514"/>
          </a:xfrm>
          <a:prstGeom prst="rect">
            <a:avLst/>
          </a:prstGeom>
          <a:solidFill>
            <a:srgbClr val="F0F4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kafka.t3.small</a:t>
            </a:r>
          </a:p>
        </p:txBody>
      </p:sp>
      <p:sp>
        <p:nvSpPr>
          <p:cNvPr id="207" name="셀_0_0"/>
          <p:cNvSpPr>
            <a:spLocks noGrp="1"/>
          </p:cNvSpPr>
          <p:nvPr/>
        </p:nvSpPr>
        <p:spPr>
          <a:xfrm>
            <a:off x="2834640" y="2945674"/>
            <a:ext cx="2011680" cy="522514"/>
          </a:xfrm>
          <a:prstGeom prst="rect">
            <a:avLst/>
          </a:prstGeom>
          <a:solidFill>
            <a:srgbClr val="F0F4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인스턴스 타입</a:t>
            </a:r>
          </a:p>
        </p:txBody>
      </p:sp>
      <p:sp>
        <p:nvSpPr>
          <p:cNvPr id="206" name="헤더_3"/>
          <p:cNvSpPr>
            <a:spLocks noGrp="1"/>
          </p:cNvSpPr>
          <p:nvPr/>
        </p:nvSpPr>
        <p:spPr>
          <a:xfrm>
            <a:off x="9438640" y="2423160"/>
            <a:ext cx="2296160" cy="522514"/>
          </a:xfrm>
          <a:prstGeom prst="rect">
            <a:avLst/>
          </a:prstGeom>
          <a:solidFill>
            <a:srgbClr val="0043DA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프리젠테이션 7"/>
              </a:rPr>
              <a:t>대형 (Large)</a:t>
            </a:r>
          </a:p>
        </p:txBody>
      </p:sp>
      <p:sp>
        <p:nvSpPr>
          <p:cNvPr id="205" name="헤더_2"/>
          <p:cNvSpPr>
            <a:spLocks noGrp="1"/>
          </p:cNvSpPr>
          <p:nvPr/>
        </p:nvSpPr>
        <p:spPr>
          <a:xfrm>
            <a:off x="7142480" y="2423160"/>
            <a:ext cx="2296160" cy="522514"/>
          </a:xfrm>
          <a:prstGeom prst="rect">
            <a:avLst/>
          </a:prstGeom>
          <a:solidFill>
            <a:srgbClr val="0043DA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프리젠테이션 7"/>
              </a:rPr>
              <a:t>중형 (Medium)</a:t>
            </a:r>
          </a:p>
        </p:txBody>
      </p:sp>
      <p:sp>
        <p:nvSpPr>
          <p:cNvPr id="204" name="헤더_1"/>
          <p:cNvSpPr>
            <a:spLocks noGrp="1"/>
          </p:cNvSpPr>
          <p:nvPr/>
        </p:nvSpPr>
        <p:spPr>
          <a:xfrm>
            <a:off x="4846320" y="2423160"/>
            <a:ext cx="2296160" cy="522514"/>
          </a:xfrm>
          <a:prstGeom prst="rect">
            <a:avLst/>
          </a:prstGeom>
          <a:solidFill>
            <a:srgbClr val="0043DA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프리젠테이션 7"/>
              </a:rPr>
              <a:t>소형 (Small)</a:t>
            </a:r>
          </a:p>
        </p:txBody>
      </p:sp>
      <p:sp>
        <p:nvSpPr>
          <p:cNvPr id="203" name="헤더_0"/>
          <p:cNvSpPr>
            <a:spLocks noGrp="1"/>
          </p:cNvSpPr>
          <p:nvPr/>
        </p:nvSpPr>
        <p:spPr>
          <a:xfrm>
            <a:off x="2834640" y="2423160"/>
            <a:ext cx="2011680" cy="522514"/>
          </a:xfrm>
          <a:prstGeom prst="rect">
            <a:avLst/>
          </a:prstGeom>
          <a:solidFill>
            <a:srgbClr val="0043DA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프리젠테이션 7"/>
              </a:rPr>
              <a:t>항목</a:t>
            </a:r>
          </a:p>
        </p:txBody>
      </p:sp>
      <p:sp>
        <p:nvSpPr>
          <p:cNvPr id="202" name="추천 콜아웃"/>
          <p:cNvSpPr>
            <a:spLocks noGrp="1"/>
          </p:cNvSpPr>
          <p:nvPr/>
        </p:nvSpPr>
        <p:spPr>
          <a:xfrm>
            <a:off x="457200" y="2423160"/>
            <a:ext cx="2194560" cy="3657600"/>
          </a:xfrm>
          <a:prstGeom prst="roundRect">
            <a:avLst>
              <a:gd name="adj" fmla="val 16667"/>
            </a:avLst>
          </a:prstGeom>
          <a:solidFill>
            <a:srgbClr val="4CB88F"/>
          </a:solidFill>
          <a:ln w="12700">
            <a:solidFill>
              <a:srgbClr val="4CB88F"/>
            </a:solidFill>
          </a:ln>
        </p:spPr>
        <p:txBody>
          <a:bodyPr anchor="ctr"/>
          <a:lstStyle/>
          <a:p>
            <a:pPr algn="ctr"/>
            <a:r>
              <a:rPr lang="ko-KR" sz="1200">
                <a:solidFill>
                  <a:srgbClr val="212121"/>
                </a:solidFill>
                <a:latin typeface="프리젠테이션 7"/>
              </a:rPr>
              <a:t>⭐ 추천
중형 (Medium)
━━━━━━━━
프로덕션 워크로드 최적
비용 대비 TPS 효율 1위
한국 고객 78% 선택
₩1,800만/년</a:t>
            </a:r>
          </a:p>
        </p:txBody>
      </p:sp>
      <p:sp>
        <p:nvSpPr>
          <p:cNvPr id="201" name="본문 설명"/>
          <p:cNvSpPr>
            <a:spLocks noGrp="1"/>
          </p:cNvSpPr>
          <p:nvPr/>
        </p:nvSpPr>
        <p:spPr>
          <a:xfrm>
            <a:off x="457200" y="1965960"/>
            <a:ext cx="11277295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ko-KR" altLang="en-US" sz="1300" dirty="0">
                <a:solidFill>
                  <a:srgbClr val="212121"/>
                </a:solidFill>
                <a:latin typeface="프리젠테이션 5"/>
              </a:rPr>
              <a:t>워크로드별 권장 사양 비교 (2026년 4월 기준, AWS 서울 리전)</a:t>
            </a:r>
          </a:p>
        </p:txBody>
      </p:sp>
      <p:sp>
        <p:nvSpPr>
          <p:cNvPr id="200" name="본문 제목"/>
          <p:cNvSpPr>
            <a:spLocks noGrp="1"/>
          </p:cNvSpPr>
          <p:nvPr/>
        </p:nvSpPr>
        <p:spPr>
          <a:xfrm>
            <a:off x="457200" y="1600200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ko-KR" altLang="en-US" sz="1600" b="1" dirty="0">
                <a:solidFill>
                  <a:srgbClr val="0043DA"/>
                </a:solidFill>
                <a:latin typeface="프리젠테이션 7"/>
              </a:rPr>
              <a:t>AWS MSK 클러스터 크기 선택 가이드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54806" y="557906"/>
            <a:ext cx="2720317" cy="9326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ko-KR" altLang="en-US" sz="2000" b="1" dirty="0">
                <a:solidFill>
                  <a:srgbClr val="212121"/>
                </a:solidFill>
                <a:latin typeface="프리젠테이션 7"/>
              </a:rPr>
              <a:t>L24. Table Callout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3700" y="558800"/>
            <a:ext cx="7551483" cy="93791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ko-KR" altLang="en-US" sz="1300" dirty="0">
                <a:solidFill>
                  <a:srgbClr val="212121"/>
                </a:solidFill>
                <a:latin typeface="프리젠테이션 7"/>
              </a:rPr>
              <a:t>MSK 클러스터 크기 선택 가이드</a:t>
            </a:r>
          </a:p>
        </p:txBody>
      </p:sp>
    </p:spTree>
    <p:extLst>
      <p:ext uri="{BB962C8B-B14F-4D97-AF65-F5344CB8AC3E}">
        <p14:creationId xmlns:p14="http://schemas.microsoft.com/office/powerpoint/2010/main" val="12462385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기술스택 바"/>
          <p:cNvSpPr>
            <a:spLocks noGrp="1"/>
          </p:cNvSpPr>
          <p:nvPr/>
        </p:nvSpPr>
        <p:spPr>
          <a:xfrm>
            <a:off x="457200" y="6263640"/>
            <a:ext cx="11277600" cy="365760"/>
          </a:xfrm>
          <a:prstGeom prst="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l"/>
            <a:r>
              <a:rPr lang="ko-KR" sz="1200">
                <a:solidFill>
                  <a:srgbClr val="212121"/>
                </a:solidFill>
                <a:latin typeface="프리젠테이션 7"/>
              </a:rPr>
              <a:t>🔧 기술 스택: Kafka 3.6 | Java 21 | Terraform 1.7 | CloudWatch | Grafana 11</a:t>
            </a:r>
          </a:p>
        </p:txBody>
      </p:sp>
      <p:sp>
        <p:nvSpPr>
          <p:cNvPr id="305" name="카드_📊 Consumer"/>
          <p:cNvSpPr>
            <a:spLocks noGrp="1"/>
          </p:cNvSpPr>
          <p:nvPr/>
        </p:nvSpPr>
        <p:spPr>
          <a:xfrm>
            <a:off x="7956240" y="4708320"/>
            <a:ext cx="3566400" cy="146304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6350">
            <a:solidFill>
              <a:srgbClr val="DCDCDC"/>
            </a:solidFill>
          </a:ln>
        </p:spPr>
        <p:txBody>
          <a:bodyPr anchor="t"/>
          <a:lstStyle/>
          <a:p>
            <a:pPr algn="l"/>
            <a:r>
              <a:rPr lang="ko-KR" sz="1100">
                <a:solidFill>
                  <a:srgbClr val="212121"/>
                </a:solidFill>
                <a:latin typeface="프리젠테이션 7"/>
              </a:rPr>
              <a:t>📊 Consumer 계층
• Consumer Group 8개 (병렬 처리)
• Kafka Streams + ksqlDB
• 데이터 파이프라인 (S3/Redshift)
처리 지연: &lt; 500ms (p99)</a:t>
            </a:r>
          </a:p>
        </p:txBody>
      </p:sp>
      <p:sp>
        <p:nvSpPr>
          <p:cNvPr id="304" name="카드_⚙️ MSK 브로커"/>
          <p:cNvSpPr>
            <a:spLocks noGrp="1"/>
          </p:cNvSpPr>
          <p:nvPr/>
        </p:nvSpPr>
        <p:spPr>
          <a:xfrm>
            <a:off x="4206720" y="4708320"/>
            <a:ext cx="3566400" cy="146304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6350">
            <a:solidFill>
              <a:srgbClr val="DCDCDC"/>
            </a:solidFill>
          </a:ln>
        </p:spPr>
        <p:txBody>
          <a:bodyPr anchor="t"/>
          <a:lstStyle/>
          <a:p>
            <a:pPr algn="l"/>
            <a:r>
              <a:rPr lang="ko-KR" sz="1100">
                <a:solidFill>
                  <a:srgbClr val="212121"/>
                </a:solidFill>
                <a:latin typeface="프리젠테이션 7"/>
              </a:rPr>
              <a:t>⚙️ MSK 브로커 계층
• Multi-AZ 3 브로커 (m5.large)
• Topic 32개 / Partition 128개
• Replication Factor 3 (durability)
가용성: 99.95% SLA</a:t>
            </a:r>
          </a:p>
        </p:txBody>
      </p:sp>
      <p:sp>
        <p:nvSpPr>
          <p:cNvPr id="303" name="카드_📡 Producer"/>
          <p:cNvSpPr>
            <a:spLocks noGrp="1"/>
          </p:cNvSpPr>
          <p:nvPr/>
        </p:nvSpPr>
        <p:spPr>
          <a:xfrm>
            <a:off x="457200" y="4708320"/>
            <a:ext cx="3566400" cy="146304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6350">
            <a:solidFill>
              <a:srgbClr val="DCDCDC"/>
            </a:solidFill>
          </a:ln>
        </p:spPr>
        <p:txBody>
          <a:bodyPr anchor="t"/>
          <a:lstStyle/>
          <a:p>
            <a:pPr algn="l"/>
            <a:r>
              <a:rPr lang="ko-KR" sz="1100">
                <a:solidFill>
                  <a:srgbClr val="212121"/>
                </a:solidFill>
                <a:latin typeface="프리젠테이션 7"/>
              </a:rPr>
              <a:t>📡 Producer 계층
• 애플리케이션 서버 (EC2/Lambda)
• Kafka Producer SDK v3.6
• 비동기 메시지 발행 (at-least-once)
발행량: 50K msg/s</a:t>
            </a:r>
          </a:p>
        </p:txBody>
      </p:sp>
      <p:sp>
        <p:nvSpPr>
          <p:cNvPr id="302" name="다이어그램 영역"/>
          <p:cNvSpPr>
            <a:spLocks noGrp="1"/>
          </p:cNvSpPr>
          <p:nvPr/>
        </p:nvSpPr>
        <p:spPr>
          <a:xfrm>
            <a:off x="457200" y="2423160"/>
            <a:ext cx="11277600" cy="2102640"/>
          </a:xfrm>
          <a:prstGeom prst="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200">
                <a:solidFill>
                  <a:srgbClr val="505050"/>
                </a:solidFill>
                <a:latin typeface="프리젠테이션 7"/>
              </a:rPr>
              <a:t>[아키텍처 다이어그램: Producer → MSK Broker (3-AZ) → Consumer 3계층]</a:t>
            </a:r>
          </a:p>
        </p:txBody>
      </p:sp>
      <p:sp>
        <p:nvSpPr>
          <p:cNvPr id="301" name="본문 설명"/>
          <p:cNvSpPr>
            <a:spLocks noGrp="1"/>
          </p:cNvSpPr>
          <p:nvPr/>
        </p:nvSpPr>
        <p:spPr>
          <a:xfrm>
            <a:off x="457200" y="1965960"/>
            <a:ext cx="11277295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ko-KR" altLang="en-US" sz="1300" dirty="0">
                <a:solidFill>
                  <a:srgbClr val="212121"/>
                </a:solidFill>
                <a:latin typeface="프리젠테이션 5"/>
              </a:rPr>
              <a:t>Producer부터 Consumer까지 전체 데이터 흐름 (2026년 4월, 서울 리전)</a:t>
            </a:r>
          </a:p>
        </p:txBody>
      </p:sp>
      <p:sp>
        <p:nvSpPr>
          <p:cNvPr id="300" name="본문 제목"/>
          <p:cNvSpPr>
            <a:spLocks noGrp="1"/>
          </p:cNvSpPr>
          <p:nvPr/>
        </p:nvSpPr>
        <p:spPr>
          <a:xfrm>
            <a:off x="457200" y="1600200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ko-KR" altLang="en-US" sz="1600" b="1" dirty="0">
                <a:solidFill>
                  <a:srgbClr val="0043DA"/>
                </a:solidFill>
                <a:latin typeface="프리젠테이션 7"/>
              </a:rPr>
              <a:t>AWS MSK 전체 아키텍처 — 3계층 구조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54806" y="557906"/>
            <a:ext cx="2720317" cy="9326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ko-KR" altLang="en-US" sz="2000" b="1" dirty="0">
                <a:solidFill>
                  <a:srgbClr val="212121"/>
                </a:solidFill>
                <a:latin typeface="프리젠테이션 7"/>
              </a:rPr>
              <a:t>L25. Architecture Wide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3700" y="558800"/>
            <a:ext cx="7551483" cy="93791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ko-KR" altLang="en-US" sz="1300" dirty="0">
                <a:solidFill>
                  <a:srgbClr val="212121"/>
                </a:solidFill>
                <a:latin typeface="프리젠테이션 7"/>
              </a:rPr>
              <a:t>MSK 전체 아키텍처 — 3계층 구조</a:t>
            </a:r>
          </a:p>
        </p:txBody>
      </p:sp>
    </p:spTree>
    <p:extLst>
      <p:ext uri="{BB962C8B-B14F-4D97-AF65-F5344CB8AC3E}">
        <p14:creationId xmlns:p14="http://schemas.microsoft.com/office/powerpoint/2010/main" val="14016211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다이어그램 영역"/>
          <p:cNvSpPr>
            <a:spLocks noGrp="1"/>
          </p:cNvSpPr>
          <p:nvPr/>
        </p:nvSpPr>
        <p:spPr>
          <a:xfrm>
            <a:off x="5029920" y="2423160"/>
            <a:ext cx="6704880" cy="374892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505050"/>
                </a:solidFill>
                <a:latin typeface="프리젠테이션 7"/>
              </a:rPr>
              <a:t>[MSK 3계층 보안 구성도:
IAM → TLS 1.2+ → VPC 격리]</a:t>
            </a:r>
          </a:p>
        </p:txBody>
      </p:sp>
      <p:sp>
        <p:nvSpPr>
          <p:cNvPr id="404" name="섹션_⚠️ Conditi"/>
          <p:cNvSpPr>
            <a:spLocks noGrp="1"/>
          </p:cNvSpPr>
          <p:nvPr/>
        </p:nvSpPr>
        <p:spPr>
          <a:xfrm>
            <a:off x="457200" y="4983480"/>
            <a:ext cx="4389600" cy="118872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9525">
            <a:solidFill>
              <a:srgbClr val="DCDCDC"/>
            </a:solidFill>
          </a:ln>
        </p:spPr>
        <p:txBody>
          <a:bodyPr anchor="t"/>
          <a:lstStyle/>
          <a:p>
            <a:pPr algn="l"/>
            <a:r>
              <a:rPr lang="ko-KR" sz="1100">
                <a:solidFill>
                  <a:srgbClr val="212121"/>
                </a:solidFill>
                <a:latin typeface="프리젠테이션 7"/>
              </a:rPr>
              <a:t>⚠️ Condition
SASL/SCRAM 대신 IAM 권장 (AWS 공식)
KMS 키로 EBS 스토리지 암호화 (at-rest)
Security Group: 9092/9094 포트만 허용
규정 준수율: 100%</a:t>
            </a:r>
          </a:p>
        </p:txBody>
      </p:sp>
      <p:sp>
        <p:nvSpPr>
          <p:cNvPr id="403" name="섹션_⭐ Highligh"/>
          <p:cNvSpPr>
            <a:spLocks noGrp="1"/>
          </p:cNvSpPr>
          <p:nvPr/>
        </p:nvSpPr>
        <p:spPr>
          <a:xfrm>
            <a:off x="457200" y="3703320"/>
            <a:ext cx="4389600" cy="118872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9525">
            <a:solidFill>
              <a:srgbClr val="DCDCDC"/>
            </a:solidFill>
          </a:ln>
        </p:spPr>
        <p:txBody>
          <a:bodyPr anchor="t"/>
          <a:lstStyle/>
          <a:p>
            <a:pPr algn="l"/>
            <a:r>
              <a:rPr lang="ko-KR" sz="1100">
                <a:solidFill>
                  <a:srgbClr val="212121"/>
                </a:solidFill>
                <a:latin typeface="프리젠테이션 7"/>
              </a:rPr>
              <a:t>⭐ Highlight
Zero Trust 접근 — 기본 차단, 최소 권한
mTLS 클라이언트 인증서 검증 (상호 인증)
CloudTrail 감사 로그 자동 기록 (90일)
취약점 발견: 0건 (최근 감사)</a:t>
            </a:r>
          </a:p>
        </p:txBody>
      </p:sp>
      <p:sp>
        <p:nvSpPr>
          <p:cNvPr id="402" name="섹션_📋 Overview"/>
          <p:cNvSpPr>
            <a:spLocks noGrp="1"/>
          </p:cNvSpPr>
          <p:nvPr/>
        </p:nvSpPr>
        <p:spPr>
          <a:xfrm>
            <a:off x="457200" y="2423160"/>
            <a:ext cx="4389600" cy="118872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9525">
            <a:solidFill>
              <a:srgbClr val="DCDCDC"/>
            </a:solidFill>
          </a:ln>
        </p:spPr>
        <p:txBody>
          <a:bodyPr anchor="t"/>
          <a:lstStyle/>
          <a:p>
            <a:pPr algn="l"/>
            <a:r>
              <a:rPr lang="ko-KR" sz="1100">
                <a:solidFill>
                  <a:srgbClr val="212121"/>
                </a:solidFill>
                <a:latin typeface="프리젠테이션 7"/>
              </a:rPr>
              <a:t>📋 Overview
IAM 기반 인증 (AWS 리소스 통합)
TLS 1.2+ 전송 암호화 (in-transit)
VPC 내부 Private Subnet 격리
인증 방식: IAM + mTLS</a:t>
            </a:r>
          </a:p>
        </p:txBody>
      </p:sp>
      <p:sp>
        <p:nvSpPr>
          <p:cNvPr id="401" name="본문 설명"/>
          <p:cNvSpPr>
            <a:spLocks noGrp="1"/>
          </p:cNvSpPr>
          <p:nvPr/>
        </p:nvSpPr>
        <p:spPr>
          <a:xfrm>
            <a:off x="457200" y="1965960"/>
            <a:ext cx="11277295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ko-KR" altLang="en-US" sz="1300" dirty="0">
                <a:solidFill>
                  <a:srgbClr val="212121"/>
                </a:solidFill>
                <a:latin typeface="프리젠테이션 5"/>
              </a:rPr>
              <a:t>인증·암호화·접근제어 통합 구성 (2026년 4월 기준, ISMS-P 준거)</a:t>
            </a:r>
          </a:p>
        </p:txBody>
      </p:sp>
      <p:sp>
        <p:nvSpPr>
          <p:cNvPr id="400" name="본문 제목"/>
          <p:cNvSpPr>
            <a:spLocks noGrp="1"/>
          </p:cNvSpPr>
          <p:nvPr/>
        </p:nvSpPr>
        <p:spPr>
          <a:xfrm>
            <a:off x="457200" y="1600200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ko-KR" altLang="en-US" sz="1600" b="1" dirty="0">
                <a:solidFill>
                  <a:srgbClr val="0043DA"/>
                </a:solidFill>
                <a:latin typeface="프리젠테이션 7"/>
              </a:rPr>
              <a:t>AWS MSK 보안 아키텍처 — 3계층 보안 모델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54806" y="557906"/>
            <a:ext cx="2720317" cy="9326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ko-KR" altLang="en-US" sz="2000" b="1" dirty="0">
                <a:solidFill>
                  <a:srgbClr val="212121"/>
                </a:solidFill>
                <a:latin typeface="프리젠테이션 7"/>
              </a:rPr>
              <a:t>L26. Detail Sections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3700" y="558800"/>
            <a:ext cx="7551483" cy="93791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ko-KR" altLang="en-US" sz="1300" dirty="0">
                <a:solidFill>
                  <a:srgbClr val="212121"/>
                </a:solidFill>
                <a:latin typeface="프리젠테이션 7"/>
              </a:rPr>
              <a:t>MSK 보안 아키텍처 — 3계층 보안 모델</a:t>
            </a:r>
          </a:p>
        </p:txBody>
      </p:sp>
    </p:spTree>
    <p:extLst>
      <p:ext uri="{BB962C8B-B14F-4D97-AF65-F5344CB8AC3E}">
        <p14:creationId xmlns:p14="http://schemas.microsoft.com/office/powerpoint/2010/main" val="20546636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서브_모니터링 팀"/>
          <p:cNvSpPr>
            <a:spLocks noGrp="1"/>
          </p:cNvSpPr>
          <p:nvPr/>
        </p:nvSpPr>
        <p:spPr>
          <a:xfrm>
            <a:off x="8529120" y="4344480"/>
            <a:ext cx="2651760" cy="1463040"/>
          </a:xfrm>
          <a:prstGeom prst="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txBody>
          <a:bodyPr anchor="t"/>
          <a:lstStyle/>
          <a:p>
            <a:pPr algn="l"/>
            <a:r>
              <a:rPr lang="ko-KR" sz="1300">
                <a:solidFill>
                  <a:srgbClr val="212121"/>
                </a:solidFill>
                <a:latin typeface="프리젠테이션 7"/>
              </a:rPr>
              <a:t>역할: CloudWatch/Grafana 운영
인원: 3명
MTTR &lt; 30분</a:t>
            </a:r>
          </a:p>
        </p:txBody>
      </p:sp>
      <p:sp>
        <p:nvSpPr>
          <p:cNvPr id="512" name="자식_모니터링 팀"/>
          <p:cNvSpPr>
            <a:spLocks noGrp="1"/>
          </p:cNvSpPr>
          <p:nvPr/>
        </p:nvSpPr>
        <p:spPr>
          <a:xfrm>
            <a:off x="8529120" y="3748680"/>
            <a:ext cx="2651760" cy="457200"/>
          </a:xfrm>
          <a:prstGeom prst="rect">
            <a:avLst/>
          </a:prstGeom>
          <a:solidFill>
            <a:srgbClr val="4F7DE5"/>
          </a:solidFill>
          <a:ln>
            <a:noFill/>
          </a:ln>
        </p:spPr>
        <p:txBody>
          <a:bodyPr anchor="ctr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프리젠테이션 7"/>
              </a:rPr>
              <a:t>모니터링 팀</a:t>
            </a:r>
          </a:p>
        </p:txBody>
      </p:sp>
      <p:cxnSp>
        <p:nvCxnSpPr>
          <p:cNvPr id="511" name="선_모니터링 팀"/>
          <p:cNvCxnSpPr/>
          <p:nvPr/>
        </p:nvCxnSpPr>
        <p:spPr>
          <a:xfrm>
            <a:off x="8941003" y="3566160"/>
            <a:ext cx="0" cy="182879"/>
          </a:xfrm>
          <a:prstGeom prst="line">
            <a:avLst/>
          </a:prstGeom>
          <a:ln w="14288">
            <a:solidFill>
              <a:srgbClr val="AAAAAA"/>
            </a:solidFill>
          </a:ln>
        </p:spPr>
      </p:cxnSp>
      <p:sp>
        <p:nvSpPr>
          <p:cNvPr id="510" name="서브_개발 팀"/>
          <p:cNvSpPr>
            <a:spLocks noGrp="1"/>
          </p:cNvSpPr>
          <p:nvPr/>
        </p:nvSpPr>
        <p:spPr>
          <a:xfrm>
            <a:off x="4770600" y="4344480"/>
            <a:ext cx="2651760" cy="1463040"/>
          </a:xfrm>
          <a:prstGeom prst="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txBody>
          <a:bodyPr anchor="t"/>
          <a:lstStyle/>
          <a:p>
            <a:pPr algn="l"/>
            <a:r>
              <a:rPr lang="ko-KR" sz="1300">
                <a:solidFill>
                  <a:srgbClr val="212121"/>
                </a:solidFill>
                <a:latin typeface="프리젠테이션 7"/>
              </a:rPr>
              <a:t>역할: Producer/Consumer SDK 개발
인원: 6명
SDK v3.6 유지보수</a:t>
            </a:r>
          </a:p>
        </p:txBody>
      </p:sp>
      <p:sp>
        <p:nvSpPr>
          <p:cNvPr id="509" name="자식_개발 팀"/>
          <p:cNvSpPr>
            <a:spLocks noGrp="1"/>
          </p:cNvSpPr>
          <p:nvPr/>
        </p:nvSpPr>
        <p:spPr>
          <a:xfrm>
            <a:off x="4770600" y="3748680"/>
            <a:ext cx="2651760" cy="457200"/>
          </a:xfrm>
          <a:prstGeom prst="rect">
            <a:avLst/>
          </a:prstGeom>
          <a:solidFill>
            <a:srgbClr val="4F7DE5"/>
          </a:solidFill>
          <a:ln>
            <a:noFill/>
          </a:ln>
        </p:spPr>
        <p:txBody>
          <a:bodyPr anchor="ctr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프리젠테이션 7"/>
              </a:rPr>
              <a:t>개발 팀</a:t>
            </a:r>
          </a:p>
        </p:txBody>
      </p:sp>
      <p:cxnSp>
        <p:nvCxnSpPr>
          <p:cNvPr id="508" name="선_개발 팀"/>
          <p:cNvCxnSpPr/>
          <p:nvPr/>
        </p:nvCxnSpPr>
        <p:spPr>
          <a:xfrm>
            <a:off x="5574182" y="3566160"/>
            <a:ext cx="0" cy="182879"/>
          </a:xfrm>
          <a:prstGeom prst="line">
            <a:avLst/>
          </a:prstGeom>
          <a:ln w="14288">
            <a:solidFill>
              <a:srgbClr val="AAAAAA"/>
            </a:solidFill>
          </a:ln>
        </p:spPr>
      </p:cxnSp>
      <p:sp>
        <p:nvSpPr>
          <p:cNvPr id="507" name="서브_인프라 팀"/>
          <p:cNvSpPr>
            <a:spLocks noGrp="1"/>
          </p:cNvSpPr>
          <p:nvPr/>
        </p:nvSpPr>
        <p:spPr>
          <a:xfrm>
            <a:off x="1012800" y="4344480"/>
            <a:ext cx="2651760" cy="1463040"/>
          </a:xfrm>
          <a:prstGeom prst="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txBody>
          <a:bodyPr anchor="t"/>
          <a:lstStyle/>
          <a:p>
            <a:pPr algn="l"/>
            <a:r>
              <a:rPr lang="ko-KR" sz="1300">
                <a:solidFill>
                  <a:srgbClr val="212121"/>
                </a:solidFill>
                <a:latin typeface="프리젠테이션 7"/>
              </a:rPr>
              <a:t>역할: MSK 클러스터 관리·모니터링
인원: 4명
SLA 99.95% 유지</a:t>
            </a:r>
          </a:p>
        </p:txBody>
      </p:sp>
      <p:sp>
        <p:nvSpPr>
          <p:cNvPr id="506" name="자식_인프라 팀"/>
          <p:cNvSpPr>
            <a:spLocks noGrp="1"/>
          </p:cNvSpPr>
          <p:nvPr/>
        </p:nvSpPr>
        <p:spPr>
          <a:xfrm>
            <a:off x="1012800" y="3748680"/>
            <a:ext cx="2651760" cy="457200"/>
          </a:xfrm>
          <a:prstGeom prst="rect">
            <a:avLst/>
          </a:prstGeom>
          <a:solidFill>
            <a:srgbClr val="4F7DE5"/>
          </a:solidFill>
          <a:ln>
            <a:noFill/>
          </a:ln>
        </p:spPr>
        <p:txBody>
          <a:bodyPr anchor="ctr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프리젠테이션 7"/>
              </a:rPr>
              <a:t>인프라 팀</a:t>
            </a:r>
          </a:p>
        </p:txBody>
      </p:sp>
      <p:cxnSp>
        <p:nvCxnSpPr>
          <p:cNvPr id="505" name="선_인프라 팀"/>
          <p:cNvCxnSpPr/>
          <p:nvPr/>
        </p:nvCxnSpPr>
        <p:spPr>
          <a:xfrm>
            <a:off x="2180844" y="3566160"/>
            <a:ext cx="0" cy="182879"/>
          </a:xfrm>
          <a:prstGeom prst="line">
            <a:avLst/>
          </a:prstGeom>
          <a:ln w="14288">
            <a:solidFill>
              <a:srgbClr val="AAAAAA"/>
            </a:solidFill>
          </a:ln>
        </p:spPr>
      </p:cxnSp>
      <p:cxnSp>
        <p:nvCxnSpPr>
          <p:cNvPr id="504" name="선_H바"/>
          <p:cNvCxnSpPr/>
          <p:nvPr/>
        </p:nvCxnSpPr>
        <p:spPr>
          <a:xfrm>
            <a:off x="2180844" y="3566160"/>
            <a:ext cx="6760159" cy="0"/>
          </a:xfrm>
          <a:prstGeom prst="line">
            <a:avLst/>
          </a:prstGeom>
          <a:ln w="14288">
            <a:solidFill>
              <a:srgbClr val="AAAAAA"/>
            </a:solidFill>
          </a:ln>
        </p:spPr>
      </p:cxnSp>
      <p:cxnSp>
        <p:nvCxnSpPr>
          <p:cNvPr id="503" name="선_루트"/>
          <p:cNvCxnSpPr/>
          <p:nvPr/>
        </p:nvCxnSpPr>
        <p:spPr>
          <a:xfrm>
            <a:off x="5574182" y="3217773"/>
            <a:ext cx="0" cy="348387"/>
          </a:xfrm>
          <a:prstGeom prst="line">
            <a:avLst/>
          </a:prstGeom>
          <a:ln w="14288">
            <a:solidFill>
              <a:srgbClr val="AAAAAA"/>
            </a:solidFill>
          </a:ln>
        </p:spPr>
      </p:cxnSp>
      <p:sp>
        <p:nvSpPr>
          <p:cNvPr id="502" name="루트 노드"/>
          <p:cNvSpPr>
            <a:spLocks noGrp="1"/>
          </p:cNvSpPr>
          <p:nvPr/>
        </p:nvSpPr>
        <p:spPr>
          <a:xfrm>
            <a:off x="4770600" y="2800000"/>
            <a:ext cx="2651760" cy="457200"/>
          </a:xfrm>
          <a:prstGeom prst="rect">
            <a:avLst/>
          </a:prstGeom>
          <a:solidFill>
            <a:srgbClr val="0043DA"/>
          </a:solidFill>
          <a:ln>
            <a:noFill/>
          </a:ln>
        </p:spPr>
        <p:txBody>
          <a:bodyPr anchor="ctr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프리젠테이션 7"/>
              </a:rPr>
              <a:t>메시징 플랫폼 TF</a:t>
            </a:r>
          </a:p>
        </p:txBody>
      </p:sp>
      <p:sp>
        <p:nvSpPr>
          <p:cNvPr id="501" name="본문 설명"/>
          <p:cNvSpPr>
            <a:spLocks noGrp="1"/>
          </p:cNvSpPr>
          <p:nvPr/>
        </p:nvSpPr>
        <p:spPr>
          <a:xfrm>
            <a:off x="457200" y="1965960"/>
            <a:ext cx="11277295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ko-KR" altLang="en-US" sz="1300" dirty="0">
                <a:solidFill>
                  <a:srgbClr val="212121"/>
                </a:solidFill>
                <a:latin typeface="프리젠테이션 5"/>
              </a:rPr>
              <a:t>메시징 플랫폼 운영팀 체계 (2026년 4월 기준, 총 15명)</a:t>
            </a:r>
          </a:p>
        </p:txBody>
      </p:sp>
      <p:sp>
        <p:nvSpPr>
          <p:cNvPr id="500" name="본문 제목"/>
          <p:cNvSpPr>
            <a:spLocks noGrp="1"/>
          </p:cNvSpPr>
          <p:nvPr/>
        </p:nvSpPr>
        <p:spPr>
          <a:xfrm>
            <a:off x="457200" y="1600200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ko-KR" altLang="en-US" sz="1600" b="1" dirty="0">
                <a:solidFill>
                  <a:srgbClr val="0043DA"/>
                </a:solidFill>
                <a:latin typeface="프리젠테이션 7"/>
              </a:rPr>
              <a:t>MSK 운영 조직 구조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54806" y="557906"/>
            <a:ext cx="2720317" cy="9326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ko-KR" altLang="en-US" sz="2000" b="1" dirty="0">
                <a:solidFill>
                  <a:srgbClr val="212121"/>
                </a:solidFill>
                <a:latin typeface="프리젠테이션 7"/>
              </a:rPr>
              <a:t>L28. Org Chart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3700" y="558800"/>
            <a:ext cx="7551483" cy="93791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ko-KR" altLang="en-US" sz="1300" dirty="0">
                <a:solidFill>
                  <a:srgbClr val="212121"/>
                </a:solidFill>
                <a:latin typeface="프리젠테이션 7"/>
              </a:rPr>
              <a:t>MSK 운영 조직 구조</a:t>
            </a:r>
          </a:p>
        </p:txBody>
      </p:sp>
    </p:spTree>
    <p:extLst>
      <p:ext uri="{BB962C8B-B14F-4D97-AF65-F5344CB8AC3E}">
        <p14:creationId xmlns:p14="http://schemas.microsoft.com/office/powerpoint/2010/main" val="12669827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기초"/>
          <p:cNvSpPr>
            <a:spLocks noGrp="1"/>
          </p:cNvSpPr>
          <p:nvPr/>
        </p:nvSpPr>
        <p:spPr>
          <a:xfrm>
            <a:off x="457200" y="5622000"/>
            <a:ext cx="11277600" cy="82296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6350">
            <a:solidFill>
              <a:srgbClr val="0043DA"/>
            </a:solidFill>
          </a:ln>
        </p:spPr>
        <p:txBody>
          <a:bodyPr anchor="t"/>
          <a:lstStyle/>
          <a:p>
            <a:pPr algn="l"/>
            <a:r>
              <a:rPr lang="ko-KR" sz="1200">
                <a:solidFill>
                  <a:srgbClr val="212121"/>
                </a:solidFill>
                <a:latin typeface="프리젠테이션 7"/>
              </a:rPr>
              <a:t>🏗️ Foundation: AWS 클라우드 네이티브 + DevOps 문화
로드맵: Q2 기반 구축 → Q3 마이그레이션 (42개 레거시) → Q4 최적화·모니터링 고도화</a:t>
            </a:r>
          </a:p>
        </p:txBody>
      </p:sp>
      <p:sp>
        <p:nvSpPr>
          <p:cNvPr id="606" name="기둥_비용 효율"/>
          <p:cNvSpPr>
            <a:spLocks noGrp="1"/>
          </p:cNvSpPr>
          <p:nvPr/>
        </p:nvSpPr>
        <p:spPr>
          <a:xfrm>
            <a:off x="8778960" y="3337320"/>
            <a:ext cx="2194560" cy="2102640"/>
          </a:xfrm>
          <a:prstGeom prst="roundRect">
            <a:avLst>
              <a:gd name="adj" fmla="val 16667"/>
            </a:avLst>
          </a:prstGeom>
          <a:solidFill>
            <a:srgbClr val="E6ECFC"/>
          </a:solidFill>
          <a:ln w="6350">
            <a:solidFill>
              <a:srgbClr val="0043DA"/>
            </a:solidFill>
          </a:ln>
        </p:spPr>
        <p:txBody>
          <a:bodyPr anchor="t"/>
          <a:lstStyle/>
          <a:p>
            <a:pPr algn="ctr"/>
            <a:r>
              <a:rPr lang="ko-KR" sz="1200">
                <a:solidFill>
                  <a:srgbClr val="212121"/>
                </a:solidFill>
                <a:latin typeface="프리젠테이션 7"/>
              </a:rPr>
              <a:t>비용 효율
완전 관리형으로
운영 비용 절감
────────
TCO -35%
온프레미스 대비 3년</a:t>
            </a:r>
          </a:p>
        </p:txBody>
      </p:sp>
      <p:sp>
        <p:nvSpPr>
          <p:cNvPr id="605" name="기둥_보안"/>
          <p:cNvSpPr>
            <a:spLocks noGrp="1"/>
          </p:cNvSpPr>
          <p:nvPr/>
        </p:nvSpPr>
        <p:spPr>
          <a:xfrm>
            <a:off x="6218400" y="3337320"/>
            <a:ext cx="2194560" cy="2102640"/>
          </a:xfrm>
          <a:prstGeom prst="roundRect">
            <a:avLst>
              <a:gd name="adj" fmla="val 16667"/>
            </a:avLst>
          </a:prstGeom>
          <a:solidFill>
            <a:srgbClr val="E6ECFC"/>
          </a:solidFill>
          <a:ln w="6350">
            <a:solidFill>
              <a:srgbClr val="0043DA"/>
            </a:solidFill>
          </a:ln>
        </p:spPr>
        <p:txBody>
          <a:bodyPr anchor="t"/>
          <a:lstStyle/>
          <a:p>
            <a:pPr algn="ctr"/>
            <a:r>
              <a:rPr lang="ko-KR" sz="1200">
                <a:solidFill>
                  <a:srgbClr val="212121"/>
                </a:solidFill>
                <a:latin typeface="프리젠테이션 7"/>
              </a:rPr>
              <a:t>보안
Zero Trust: IAM
+ mTLS + KMS 3중 보호
────────
취약점 0건
연간 보안 감사 기준</a:t>
            </a:r>
          </a:p>
        </p:txBody>
      </p:sp>
      <p:sp>
        <p:nvSpPr>
          <p:cNvPr id="604" name="기둥_안정성"/>
          <p:cNvSpPr>
            <a:spLocks noGrp="1"/>
          </p:cNvSpPr>
          <p:nvPr/>
        </p:nvSpPr>
        <p:spPr>
          <a:xfrm>
            <a:off x="3657840" y="3337320"/>
            <a:ext cx="2194560" cy="2102640"/>
          </a:xfrm>
          <a:prstGeom prst="roundRect">
            <a:avLst>
              <a:gd name="adj" fmla="val 16667"/>
            </a:avLst>
          </a:prstGeom>
          <a:solidFill>
            <a:srgbClr val="E6ECFC"/>
          </a:solidFill>
          <a:ln w="6350">
            <a:solidFill>
              <a:srgbClr val="0043DA"/>
            </a:solidFill>
          </a:ln>
        </p:spPr>
        <p:txBody>
          <a:bodyPr anchor="t"/>
          <a:lstStyle/>
          <a:p>
            <a:pPr algn="ctr"/>
            <a:r>
              <a:rPr lang="ko-KR" sz="1200">
                <a:solidFill>
                  <a:srgbClr val="212121"/>
                </a:solidFill>
                <a:latin typeface="프리젠테이션 7"/>
              </a:rPr>
              <a:t>안정성
Multi-AZ 자동 복제
+ 자동 복구
────────
99.95% SLA
가용성 목표</a:t>
            </a:r>
          </a:p>
        </p:txBody>
      </p:sp>
      <p:sp>
        <p:nvSpPr>
          <p:cNvPr id="603" name="기둥_확장성"/>
          <p:cNvSpPr>
            <a:spLocks noGrp="1"/>
          </p:cNvSpPr>
          <p:nvPr/>
        </p:nvSpPr>
        <p:spPr>
          <a:xfrm>
            <a:off x="1097280" y="3337320"/>
            <a:ext cx="2194560" cy="2102640"/>
          </a:xfrm>
          <a:prstGeom prst="roundRect">
            <a:avLst>
              <a:gd name="adj" fmla="val 16667"/>
            </a:avLst>
          </a:prstGeom>
          <a:solidFill>
            <a:srgbClr val="E6ECFC"/>
          </a:solidFill>
          <a:ln w="6350">
            <a:solidFill>
              <a:srgbClr val="0043DA"/>
            </a:solidFill>
          </a:ln>
        </p:spPr>
        <p:txBody>
          <a:bodyPr anchor="t"/>
          <a:lstStyle/>
          <a:p>
            <a:pPr algn="ctr"/>
            <a:r>
              <a:rPr lang="ko-KR" sz="1200">
                <a:solidFill>
                  <a:srgbClr val="212121"/>
                </a:solidFill>
                <a:latin typeface="프리젠테이션 7"/>
              </a:rPr>
              <a:t>확장성
수평 스케일 아웃으로
무한 처리량 확보
────────
50K→200K TPS
2028 목표 처리량</a:t>
            </a:r>
          </a:p>
        </p:txBody>
      </p:sp>
      <p:sp>
        <p:nvSpPr>
          <p:cNvPr id="602" name="지붕"/>
          <p:cNvSpPr>
            <a:spLocks noGrp="1"/>
          </p:cNvSpPr>
          <p:nvPr/>
        </p:nvSpPr>
        <p:spPr>
          <a:xfrm>
            <a:off x="457200" y="2423160"/>
            <a:ext cx="11277600" cy="731520"/>
          </a:xfrm>
          <a:prstGeom prst="roundRect">
            <a:avLst>
              <a:gd name="adj" fmla="val 16667"/>
            </a:avLst>
          </a:prstGeom>
          <a:solidFill>
            <a:srgbClr val="0043DA"/>
          </a:solidFill>
          <a:ln>
            <a:noFill/>
          </a:ln>
        </p:spPr>
        <p:txBody>
          <a:bodyPr anchor="ctr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프리젠테이션 7"/>
              </a:rPr>
              <a:t>🎯 Vision: 실시간 데이터 중심 비즈니스 혁신 — 2028년까지 전사 데이터 레이턴시 &lt; 1초 달성</a:t>
            </a:r>
          </a:p>
        </p:txBody>
      </p:sp>
      <p:sp>
        <p:nvSpPr>
          <p:cNvPr id="601" name="본문 설명"/>
          <p:cNvSpPr>
            <a:spLocks noGrp="1"/>
          </p:cNvSpPr>
          <p:nvPr/>
        </p:nvSpPr>
        <p:spPr>
          <a:xfrm>
            <a:off x="457200" y="1965960"/>
            <a:ext cx="11277295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ko-KR" altLang="en-US" sz="1300" dirty="0">
                <a:solidFill>
                  <a:srgbClr val="212121"/>
                </a:solidFill>
                <a:latin typeface="프리젠테이션 5"/>
              </a:rPr>
              <a:t>Vision부터 Foundation까지 통합 전략 (2026~2028, 3개년)</a:t>
            </a:r>
          </a:p>
        </p:txBody>
      </p:sp>
      <p:sp>
        <p:nvSpPr>
          <p:cNvPr id="600" name="본문 제목"/>
          <p:cNvSpPr>
            <a:spLocks noGrp="1"/>
          </p:cNvSpPr>
          <p:nvPr/>
        </p:nvSpPr>
        <p:spPr>
          <a:xfrm>
            <a:off x="457200" y="1600200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ko-KR" altLang="en-US" sz="1600" b="1" dirty="0">
                <a:solidFill>
                  <a:srgbClr val="0043DA"/>
                </a:solidFill>
                <a:latin typeface="프리젠테이션 7"/>
              </a:rPr>
              <a:t>MSK 플랫폼 전략 — Temple 구조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54806" y="557906"/>
            <a:ext cx="2720317" cy="9326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ko-KR" altLang="en-US" sz="2000" b="1" dirty="0">
                <a:solidFill>
                  <a:srgbClr val="212121"/>
                </a:solidFill>
                <a:latin typeface="프리젠테이션 7"/>
              </a:rPr>
              <a:t>L29. Temple Pillars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3700" y="558800"/>
            <a:ext cx="7551483" cy="93791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ko-KR" altLang="en-US" sz="1300" dirty="0">
                <a:solidFill>
                  <a:srgbClr val="212121"/>
                </a:solidFill>
                <a:latin typeface="프리젠테이션 7"/>
              </a:rPr>
              <a:t>MSK 플랫폼 전략 — Temple 구조</a:t>
            </a:r>
          </a:p>
        </p:txBody>
      </p:sp>
    </p:spTree>
    <p:extLst>
      <p:ext uri="{BB962C8B-B14F-4D97-AF65-F5344CB8AC3E}">
        <p14:creationId xmlns:p14="http://schemas.microsoft.com/office/powerpoint/2010/main" val="27506458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79;p32"/>
          <p:cNvSpPr txBox="1">
            <a:spLocks/>
          </p:cNvSpPr>
          <p:nvPr/>
        </p:nvSpPr>
        <p:spPr>
          <a:xfrm>
            <a:off x="0" y="2699114"/>
            <a:ext cx="12192000" cy="101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Clr>
                <a:schemeClr val="lt1"/>
              </a:buClr>
              <a:buSzPts val="4000"/>
              <a:buNone/>
            </a:pPr>
            <a:r>
              <a:rPr lang="en-US" altLang="ko-KR" sz="6000" dirty="0">
                <a:solidFill>
                  <a:schemeClr val="bg1"/>
                </a:solidFill>
                <a:latin typeface="프리젠테이션 7 Bold" pitchFamily="2" charset="-127"/>
                <a:ea typeface="프리젠테이션 7 Bold" pitchFamily="2" charset="-127"/>
              </a:rPr>
              <a:t>Thank You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036" y="378400"/>
            <a:ext cx="1329872" cy="33054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398157" y="3870726"/>
            <a:ext cx="5395685" cy="54363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/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GS</a:t>
            </a:r>
            <a:r>
              <a:rPr lang="ko-KR" altLang="en-US" sz="16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네오텍의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IT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서비스 브랜드 </a:t>
            </a:r>
            <a:r>
              <a:rPr lang="en-US" altLang="ko-KR" sz="16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WiseN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으로 진정한 프리미엄을 경험하세요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2360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5">
      <a:dk1>
        <a:sysClr val="windowText" lastClr="000000"/>
      </a:dk1>
      <a:lt1>
        <a:sysClr val="window" lastClr="FFFFFF"/>
      </a:lt1>
      <a:dk2>
        <a:srgbClr val="A5A5A5"/>
      </a:dk2>
      <a:lt2>
        <a:srgbClr val="E7E6E6"/>
      </a:lt2>
      <a:accent1>
        <a:srgbClr val="0043DA"/>
      </a:accent1>
      <a:accent2>
        <a:srgbClr val="4CB88F"/>
      </a:accent2>
      <a:accent3>
        <a:srgbClr val="EE8150"/>
      </a:accent3>
      <a:accent4>
        <a:srgbClr val="2A6FDE"/>
      </a:accent4>
      <a:accent5>
        <a:srgbClr val="000000"/>
      </a:accent5>
      <a:accent6>
        <a:srgbClr val="000000"/>
      </a:accent6>
      <a:hlink>
        <a:srgbClr val="0563C1"/>
      </a:hlink>
      <a:folHlink>
        <a:srgbClr val="954F72"/>
      </a:folHlink>
    </a:clrScheme>
    <a:fontScheme name="GS네오텍">
      <a:majorFont>
        <a:latin typeface="프리젠테이션 7 Bold"/>
        <a:ea typeface="프리젠테이션 7 Bold"/>
        <a:cs typeface=""/>
      </a:majorFont>
      <a:minorFont>
        <a:latin typeface="프리젠테이션 4 Regular"/>
        <a:ea typeface="프리젠테이션 4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6831</TotalTime>
  <Words>3673</Words>
  <Application>Microsoft Macintosh PowerPoint</Application>
  <PresentationFormat>Widescreen</PresentationFormat>
  <Paragraphs>585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Freesentation</vt:lpstr>
      <vt:lpstr>Freesentation 7 Bold</vt:lpstr>
      <vt:lpstr>맑은 고딕</vt:lpstr>
      <vt:lpstr>프리젠테이션 4 Regular</vt:lpstr>
      <vt:lpstr>프리젠테이션 5</vt:lpstr>
      <vt:lpstr>프리젠테이션 6 SemiBold</vt:lpstr>
      <vt:lpstr>프리젠테이션 7</vt:lpstr>
      <vt:lpstr>프리젠테이션 7 Bold</vt:lpstr>
      <vt:lpstr>Arial</vt:lpstr>
      <vt:lpstr>Courier New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디자이너</dc:creator>
  <cp:lastModifiedBy>이홍섭/GRM프로젝트</cp:lastModifiedBy>
  <cp:revision>779</cp:revision>
  <dcterms:created xsi:type="dcterms:W3CDTF">2022-03-02T05:40:55Z</dcterms:created>
  <dcterms:modified xsi:type="dcterms:W3CDTF">2026-04-21T06:52:13Z</dcterms:modified>
</cp:coreProperties>
</file>