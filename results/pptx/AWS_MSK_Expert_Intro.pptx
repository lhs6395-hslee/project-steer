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9"/>
    <p:sldId id="369" r:id="rId10"/>
    <p:sldId id="371" r:id="rId11"/>
    <p:sldId id="372" r:id="rId12"/>
    <p:sldId id="373" r:id="rId13"/>
    <p:sldId id="375" r:id="rId14"/>
    <p:sldId id="376" r:id="rId15"/>
    <p:sldId id="377" r:id="rId23"/>
    <p:sldId id="378" r:id="rId24"/>
    <p:sldId id="379" r:id="rId25"/>
    <p:sldId id="380" r:id="rId26"/>
    <p:sldId id="381" r:id="rId27"/>
    <p:sldId id="388" r:id="rId34"/>
    <p:sldId id="382" r:id="rId28"/>
    <p:sldId id="383" r:id="rId29"/>
    <p:sldId id="384" r:id="rId30"/>
    <p:sldId id="385" r:id="rId31"/>
    <p:sldId id="386" r:id="rId32"/>
    <p:sldId id="387" r:id="rId33"/>
    <p:sldId id="35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  <p14:sldId id="374"/>
            <p14:sldId id="369"/>
            <p14:sldId id="371"/>
            <p14:sldId id="372"/>
            <p14:sldId id="373"/>
            <p14:sldId id="375"/>
            <p14:sldId id="376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27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2026. 4. 20.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A5C"/>
                </a:solidFill>
                <a:latin typeface="Freesentation"/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 b="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</a:bodyPr>
          <a:lstStyle/>
          <a:p>
            <a:r>
              <a:rPr sz="1200" dirty="0">
                <a:latin typeface="Freesentation"/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2000" b="1" dirty="0">
                <a:solidFill>
                  <a:srgbClr val="000000"/>
                </a:solidFill>
                <a:latin typeface="Freesentation"/>
              </a:rPr>
              <a:t>L06. Zigzag Timeline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>
              <a:lnSpc>
                <a:spcPct val="120000"/>
              </a:lnSpc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S자 지그재그 타임라인 — MSK 도입 4단계 로드맵</a:t>
            </a:r>
            <a:endParaRPr lang="ko-KR" altLang="en-US" dirty="0"/>
          </a:p>
        </p:txBody>
      </p:sp>
      <p:sp>
        <p:nvSpPr>
          <p:cNvPr id="190" name="TextBox 19"/>
          <p:cNvSpPr txBox="1">
            <a:spLocks noGrp="1"/>
          </p:cNvSpPr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 → AWS MSK 전환 4단계</a:t>
            </a:r>
          </a:p>
        </p:txBody>
      </p:sp>
      <p:sp>
        <p:nvSpPr>
          <p:cNvPr id="200" name="TextBox 20"/>
          <p:cNvSpPr txBox="1">
            <a:spLocks noGrp="1"/>
          </p:cNvSpPr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sz="1300" b="0">
                <a:solidFill>
                  <a:srgbClr val="4A4A4A"/>
                </a:solidFill>
                <a:latin typeface="Freesentation"/>
              </a:rPr>
              <a:t>환경 설계부터 운영 안정화까지 2024년 로드맵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48780"/>
            <a:ext cx="11277295" cy="18288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798625" y="253746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053535" y="5417820"/>
            <a:ext cx="1828800" cy="1143000"/>
          </a:xfrm>
          <a:prstGeom prst="roundRect">
            <a:avLst/>
          </a:prstGeom>
          <a:solidFill>
            <a:srgbClr val="F2F6FC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9360" y="253746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564270" y="5417820"/>
            <a:ext cx="1828800" cy="1143000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890065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환경 설계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44975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43DA"/>
                </a:solidFill>
              </a:rPr>
              <a:t>클러스터 구축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2890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검증 및 최적화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55710" y="5509260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E9E9E"/>
                </a:solidFill>
              </a:rPr>
              <a:t>운영 안정화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90065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VPC/서브넷 설계</a:t>
            </a:r>
          </a:p>
          <a:p>
            <a:r>
              <a:rPr sz="1000">
                <a:solidFill>
                  <a:srgbClr val="4A4A4A"/>
                </a:solidFill>
              </a:rPr>
              <a:t>• 브로커 수 산정</a:t>
            </a:r>
          </a:p>
          <a:p>
            <a:r>
              <a:rPr sz="1000">
                <a:solidFill>
                  <a:srgbClr val="4A4A4A"/>
                </a:solidFill>
              </a:rPr>
              <a:t>• 인증 방식 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44975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• MSK 클러스터 프로비저닝</a:t>
            </a:r>
          </a:p>
          <a:p>
            <a:r>
              <a:rPr sz="1000">
                <a:solidFill>
                  <a:srgbClr val="4A4A4A"/>
                </a:solidFill>
              </a:rPr>
              <a:t>• IAM 정책 설정</a:t>
            </a:r>
          </a:p>
          <a:p>
            <a:r>
              <a:rPr sz="1000">
                <a:solidFill>
                  <a:srgbClr val="4A4A4A"/>
                </a:solidFill>
              </a:rPr>
              <a:t>• 모니터링 에이전트 배포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99466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성능 벤치마크</a:t>
            </a:r>
          </a:p>
          <a:p>
            <a:r>
              <a:rPr sz="1000">
                <a:solidFill>
                  <a:srgbClr val="9E9E9E"/>
                </a:solidFill>
              </a:rPr>
              <a:t>• 장애 복구 테스트</a:t>
            </a:r>
          </a:p>
          <a:p>
            <a:r>
              <a:rPr sz="1000">
                <a:solidFill>
                  <a:srgbClr val="9E9E9E"/>
                </a:solidFill>
              </a:rPr>
              <a:t>• 파티션 최적화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55710" y="58750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• 24/7 모니터링 구성</a:t>
            </a:r>
          </a:p>
          <a:p>
            <a:r>
              <a:rPr sz="1000">
                <a:solidFill>
                  <a:srgbClr val="9E9E9E"/>
                </a:solidFill>
              </a:rPr>
              <a:t>• 알람 임계값 튜닝</a:t>
            </a:r>
          </a:p>
          <a:p>
            <a:r>
              <a:rPr sz="1000">
                <a:solidFill>
                  <a:srgbClr val="9E9E9E"/>
                </a:solidFill>
              </a:rPr>
              <a:t>• 스케일링 정책 수립</a:t>
            </a:r>
          </a:p>
        </p:txBody>
      </p:sp>
      <p:pic>
        <p:nvPicPr>
          <p:cNvPr id="43" name="Picture 4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225" y="2628900"/>
            <a:ext cx="365760" cy="365760"/>
          </a:xfrm>
          <a:prstGeom prst="rect">
            <a:avLst/>
          </a:prstGeom>
        </p:spPr>
      </p:pic>
      <p:pic>
        <p:nvPicPr>
          <p:cNvPr id="44" name="Picture 43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5135" y="5509260"/>
            <a:ext cx="365760" cy="365760"/>
          </a:xfrm>
          <a:prstGeom prst="rect">
            <a:avLst/>
          </a:prstGeom>
        </p:spPr>
      </p:pic>
      <p:pic>
        <p:nvPicPr>
          <p:cNvPr id="45" name="Picture 44" descr="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628900"/>
            <a:ext cx="365760" cy="365760"/>
          </a:xfrm>
          <a:prstGeom prst="rect">
            <a:avLst/>
          </a:prstGeom>
        </p:spPr>
      </p:pic>
      <p:pic>
        <p:nvPicPr>
          <p:cNvPr id="46" name="Picture 4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870" y="5509260"/>
            <a:ext cx="365760" cy="365760"/>
          </a:xfrm>
          <a:prstGeom prst="rect">
            <a:avLst/>
          </a:prstGeom>
        </p:spPr>
      </p:pic>
      <p:sp>
        <p:nvSpPr>
          <p:cNvPr id="97" name="Badge Node2"/>
          <p:cNvSpPr/>
          <p:nvPr/>
        </p:nvSpPr>
        <p:spPr>
          <a:xfrm>
            <a:off x="4510918" y="4960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2024.04</a:t>
            </a:r>
          </a:p>
        </p:txBody>
      </p:sp>
      <p:sp>
        <p:nvSpPr>
          <p:cNvPr id="98" name="Badge Node4"/>
          <p:cNvSpPr/>
          <p:nvPr/>
        </p:nvSpPr>
        <p:spPr>
          <a:xfrm>
            <a:off x="9021836" y="4960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2024.10</a:t>
            </a:r>
          </a:p>
        </p:txBody>
      </p:sp>
      <p:sp>
        <p:nvSpPr>
          <p:cNvPr id="95" name="Badge Node1"/>
          <p:cNvSpPr/>
          <p:nvPr/>
        </p:nvSpPr>
        <p:spPr>
          <a:xfrm>
            <a:off x="2255459" y="3817620"/>
            <a:ext cx="914400" cy="320040"/>
          </a:xfrm>
          <a:prstGeom prst="roundRect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2024.01</a:t>
            </a:r>
          </a:p>
        </p:txBody>
      </p:sp>
      <p:sp>
        <p:nvSpPr>
          <p:cNvPr id="96" name="Badge Node3"/>
          <p:cNvSpPr/>
          <p:nvPr/>
        </p:nvSpPr>
        <p:spPr>
          <a:xfrm>
            <a:off x="6766377" y="3817620"/>
            <a:ext cx="914400" cy="320040"/>
          </a:xfrm>
          <a:prstGeom prst="roundRect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2024.07</a:t>
            </a:r>
          </a:p>
        </p:txBody>
      </p:sp>
      <p:sp>
        <p:nvSpPr>
          <p:cNvPr id="23" name="Oval 22"/>
          <p:cNvSpPr/>
          <p:nvPr/>
        </p:nvSpPr>
        <p:spPr>
          <a:xfrm>
            <a:off x="243870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4693615" y="4274820"/>
            <a:ext cx="548640" cy="548640"/>
          </a:xfrm>
          <a:prstGeom prst="ellipse">
            <a:avLst/>
          </a:prstGeom>
          <a:solidFill>
            <a:srgbClr val="0043D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Oval 24"/>
          <p:cNvSpPr/>
          <p:nvPr/>
        </p:nvSpPr>
        <p:spPr>
          <a:xfrm>
            <a:off x="694944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9204350" y="4274820"/>
            <a:ext cx="548640" cy="548640"/>
          </a:xfrm>
          <a:prstGeom prst="ellipse">
            <a:avLst/>
          </a:prstGeom>
          <a:solidFill>
            <a:srgbClr val="9E9E9E"/>
          </a:solidFill>
        </p:spPr>
        <p:style>
          <a:lnRef idx="0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수영장 레인 구조 — 복수 워크스트림 병렬 진행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 b="1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Freesentation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1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788920"/>
            <a:ext cx="530352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31280" y="2788920"/>
            <a:ext cx="530352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>
            <a:off x="5944440" y="4594859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7160" y="24231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611040" y="24231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L09.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latin typeface="Freesentation"/>
              </a:rPr>
              <a:t>현황/문제 → 개선/해결 대비 레이아웃 — 2컬럼 챌린지·솔루션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2898648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264408"/>
            <a:ext cx="4484640" cy="2450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5577840" cy="388620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56960" y="2788920"/>
            <a:ext cx="5577840" cy="388620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7160" y="2423160"/>
            <a:ext cx="1554480" cy="274320"/>
          </a:xfrm>
          <a:prstGeom prst="roundRect">
            <a:avLst/>
          </a:prstGeom>
          <a:solidFill>
            <a:srgbClr val="212121"/>
          </a:solidFill>
          <a:ln w="9525"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4231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</a:p>
          <a:p>
            <a:pPr algn="l"/>
            <a:endParaRPr sz="1400" b="1">
              <a:solidFill>
                <a:srgbClr val="212121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7720" y="3264408"/>
            <a:ext cx="521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</a:p>
          <a:p>
            <a:pPr algn="l"/>
            <a:endParaRPr sz="1400" b="1">
              <a:solidFill>
                <a:srgbClr val="0043DA"/>
              </a:solidFill>
              <a:latin typeface="Freesentation"/>
            </a:endParaRPr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600" y="5605200"/>
            <a:ext cx="849600" cy="84960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360" y="5605200"/>
            <a:ext cx="849600" cy="84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sz="2000" b="1" dirty="0">
                <a:solidFill>
                  <a:srgbClr val="000000"/>
                </a:solidFill>
                <a:latin typeface="Freesentation"/>
              </a:rPr>
              <a:t>L10. Comparison VS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0927" y="558698"/>
            <a:ext cx="7550200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Freesentation"/>
              </a:rPr>
              <a:t>2컬럼 병렬 비교 레이아웃 — 옵션A vs 옵션B 항목별 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1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클라우드 메시징 솔루션 비교</a:t>
            </a:r>
          </a:p>
        </p:txBody>
      </p:sp>
      <p:sp>
        <p:nvSpPr>
          <p:cNvPr id="11" name="TextBox L11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AWS MSK · Confluent Cloud · 자체 구축 Kafka 3개 옵션 비교 (2026년 4월 기준)</a:t>
            </a:r>
          </a:p>
        </p:txBody>
      </p:sp>
      <p:graphicFrame>
        <p:nvGraphicFramePr>
          <p:cNvPr id="20" name="Table L11"/>
          <p:cNvGraphicFramePr>
            <a:graphicFrameLocks noGrp="1"/>
          </p:cNvGraphicFramePr>
          <p:nvPr/>
        </p:nvGraphicFramePr>
        <p:xfrm>
          <a:off x="457200" y="2423160"/>
          <a:ext cx="11277600" cy="425232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항목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자체 구축 Kafka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✓ AWS MSK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400" b="1">
                          <a:solidFill>
                            <a:srgbClr val="FFFFFF"/>
                          </a:solidFill>
                          <a:latin typeface="프리젠테이션 7 Bold"/>
                        </a:rPr>
                        <a:t>Confluent Cloud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0043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초기 비용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₩5억+ 서버 구매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초기 투자 0원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운영 인력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전담 2~3명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0.5명 (모니터링)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0명 (완전 관리)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가용성 SLA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자체 HA 구성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99.9%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99.95% 보장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확장 소요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2~4주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수분 내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9024">
                <a:tc>
                  <a:txBody>
                    <a:bodyPr/>
                    <a:lstStyle/>
                    <a:p>
                      <a:pPr algn="l"/>
                      <a:r>
                        <a:rPr lang="ko-KR" sz="1300" b="1">
                          <a:solidFill>
                            <a:srgbClr val="212121"/>
                          </a:solidFill>
                          <a:latin typeface="프리젠테이션 7 Bold"/>
                        </a:rPr>
                        <a:t>월 운영비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₩3,000만+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1">
                          <a:solidFill>
                            <a:srgbClr val="0043DA"/>
                          </a:solidFill>
                          <a:latin typeface="Freesentation"/>
                        </a:rPr>
                        <a:t>₩800만~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300" b="0">
                          <a:solidFill>
                            <a:srgbClr val="212121"/>
                          </a:solidFill>
                          <a:latin typeface="Freesentation"/>
                        </a:rPr>
                        <a:t>₩1,200만~</a:t>
                      </a:r>
                    </a:p>
                  </a:txBody>
                  <a:tcPr>
                    <a:lnL w="12700" cap="flat" cmpd="sng">
                      <a:solidFill>
                        <a:srgbClr val="DCDCDC"/>
                      </a:solidFill>
                    </a:lnL>
                    <a:lnR w="12700" cap="flat" cmpd="sng">
                      <a:solidFill>
                        <a:srgbClr val="DCDCDC"/>
                      </a:solidFill>
                    </a:lnR>
                    <a:lnT w="12700" cap="flat" cmpd="sng">
                      <a:solidFill>
                        <a:srgbClr val="DCDCDC"/>
                      </a:solidFill>
                    </a:lnT>
                    <a:lnB w="12700" cap="flat" cmpd="sng">
                      <a:solidFill>
                        <a:srgbClr val="DCDCDC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L11. Comparison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3+ 옵션 비교 테이블 — 항목별 교차 평가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0" name="TextBox L12 Title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600" b="1">
                <a:solidFill>
                  <a:srgbClr val="0043DA"/>
                </a:solidFill>
                <a:latin typeface="Freesentation"/>
              </a:rPr>
              <a:t>API 응답 시간 개선 — MSK 이벤트 기반 아키텍처 전환 효과</a:t>
            </a:r>
          </a:p>
        </p:txBody>
      </p:sp>
      <p:sp>
        <p:nvSpPr>
          <p:cNvPr id="11" name="TextBox L12 Desc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2026년 1분기 실측 기준. 동일 트래픽(10K RPS) 조건 A/B 테스트 결과</a:t>
            </a:r>
          </a:p>
        </p:txBody>
      </p:sp>
      <p:sp>
        <p:nvSpPr>
          <p:cNvPr id="12" name="RRect L12 Badge Before"/>
          <p:cNvSpPr/>
          <p:nvPr/>
        </p:nvSpPr>
        <p:spPr>
          <a:xfrm>
            <a:off x="63716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solidFill>
              <a:srgbClr val="212121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" name="RRect L12 Badge After"/>
          <p:cNvSpPr/>
          <p:nvPr/>
        </p:nvSpPr>
        <p:spPr>
          <a:xfrm>
            <a:off x="6611040" y="242316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" name="TextBox L12 Badge Before Text"/>
          <p:cNvSpPr txBox="1"/>
          <p:nvPr/>
        </p:nvSpPr>
        <p:spPr>
          <a:xfrm>
            <a:off x="63716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BEFORE</a:t>
            </a:r>
          </a:p>
        </p:txBody>
      </p:sp>
      <p:sp>
        <p:nvSpPr>
          <p:cNvPr id="15" name="TextBox L12 Badge After Text"/>
          <p:cNvSpPr txBox="1"/>
          <p:nvPr/>
        </p:nvSpPr>
        <p:spPr>
          <a:xfrm>
            <a:off x="6611040" y="24231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300" b="1">
                <a:solidFill>
                  <a:srgbClr val="FFFFFF"/>
                </a:solidFill>
                <a:latin typeface="Freesentation"/>
              </a:rPr>
              <a:t>AFTER</a:t>
            </a:r>
          </a:p>
        </p:txBody>
      </p:sp>
      <p:sp>
        <p:nvSpPr>
          <p:cNvPr id="16" name="RRect L12 Panel Before"/>
          <p:cNvSpPr/>
          <p:nvPr/>
        </p:nvSpPr>
        <p:spPr>
          <a:xfrm>
            <a:off x="45720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9525">
            <a:solidFill>
              <a:srgbClr val="DCDCDC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" name="RRect L12 Panel After"/>
          <p:cNvSpPr/>
          <p:nvPr/>
        </p:nvSpPr>
        <p:spPr>
          <a:xfrm>
            <a:off x="6431280" y="2789820"/>
            <a:ext cx="5303520" cy="3885660"/>
          </a:xfrm>
          <a:prstGeom prst="roundRect">
            <a:avLst>
              <a:gd name="adj" fmla="val 16667"/>
            </a:avLst>
          </a:prstGeom>
          <a:solidFill>
            <a:srgbClr val="E6F0FF"/>
          </a:solidFill>
          <a:ln w="9525"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" name="Arrow L12 Transition"/>
          <p:cNvSpPr/>
          <p:nvPr/>
        </p:nvSpPr>
        <p:spPr>
          <a:xfrm>
            <a:off x="5944440" y="45949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Box L12 KPI Before Value"/>
          <p:cNvSpPr txBox="1"/>
          <p:nvPr/>
        </p:nvSpPr>
        <p:spPr>
          <a:xfrm>
            <a:off x="63716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212121"/>
                </a:solidFill>
                <a:latin typeface="프리젠테이션 7 Bold"/>
              </a:rPr>
              <a:t>3.2초</a:t>
            </a:r>
          </a:p>
        </p:txBody>
      </p:sp>
      <p:sp>
        <p:nvSpPr>
          <p:cNvPr id="20" name="TextBox L12 KPI After Value"/>
          <p:cNvSpPr txBox="1"/>
          <p:nvPr/>
        </p:nvSpPr>
        <p:spPr>
          <a:xfrm>
            <a:off x="6611040" y="2897580"/>
            <a:ext cx="49418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2400" b="1">
                <a:solidFill>
                  <a:srgbClr val="0043DA"/>
                </a:solidFill>
                <a:latin typeface="프리젠테이션 7 Bold"/>
              </a:rPr>
              <a:t>0.8초</a:t>
            </a:r>
          </a:p>
        </p:txBody>
      </p:sp>
      <p:sp>
        <p:nvSpPr>
          <p:cNvPr id="21" name="TextBox L12 KPI Before Label"/>
          <p:cNvSpPr txBox="1"/>
          <p:nvPr/>
        </p:nvSpPr>
        <p:spPr>
          <a:xfrm>
            <a:off x="63716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2" name="TextBox L12 KPI After Label"/>
          <p:cNvSpPr txBox="1"/>
          <p:nvPr/>
        </p:nvSpPr>
        <p:spPr>
          <a:xfrm>
            <a:off x="6611040" y="3354780"/>
            <a:ext cx="494184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ko-KR" sz="1100" b="0">
                <a:solidFill>
                  <a:srgbClr val="505050"/>
                </a:solidFill>
                <a:latin typeface="Freesentation"/>
              </a:rPr>
              <a:t>평균 응답 시간</a:t>
            </a:r>
          </a:p>
        </p:txBody>
      </p:sp>
      <p:sp>
        <p:nvSpPr>
          <p:cNvPr id="23" name="Line L12 Divider Before"/>
          <p:cNvSpPr/>
          <p:nvPr/>
        </p:nvSpPr>
        <p:spPr>
          <a:xfrm>
            <a:off x="63716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L12 Divider After"/>
          <p:cNvSpPr/>
          <p:nvPr/>
        </p:nvSpPr>
        <p:spPr>
          <a:xfrm>
            <a:off x="6611040" y="3674820"/>
            <a:ext cx="4941840" cy="0"/>
          </a:xfrm>
          <a:prstGeom prst="line">
            <a:avLst/>
          </a:prstGeom>
          <a:noFill/>
          <a:ln w="12700">
            <a:solidFill>
              <a:srgbClr val="DCDCD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TextBox L12 Content Before"/>
          <p:cNvSpPr txBox="1"/>
          <p:nvPr/>
        </p:nvSpPr>
        <p:spPr>
          <a:xfrm>
            <a:off x="63716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단일 서버 동기 처리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REST API 직접 호출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무중단 배포 미지원</a:t>
            </a:r>
          </a:p>
        </p:txBody>
      </p:sp>
      <p:sp>
        <p:nvSpPr>
          <p:cNvPr id="26" name="TextBox L12 Content After"/>
          <p:cNvSpPr txBox="1"/>
          <p:nvPr/>
        </p:nvSpPr>
        <p:spPr>
          <a:xfrm>
            <a:off x="6611040" y="3766260"/>
            <a:ext cx="4484640" cy="1947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Redis 캐시 + CDN 적용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MSK 비동기 이벤트 기반</a:t>
            </a:r>
          </a:p>
          <a:p>
            <a:pPr algn="l"/>
            <a:r>
              <a:rPr lang="ko-KR" sz="1300" b="0">
                <a:solidFill>
                  <a:srgbClr val="212121"/>
                </a:solidFill>
                <a:latin typeface="Freesentation"/>
              </a:rPr>
              <a:t>• Blue/Green 무중단 배포</a:t>
            </a:r>
          </a:p>
        </p:txBody>
      </p:sp>
      <p:sp>
        <p:nvSpPr>
          <p:cNvPr id="27" name="RRect L12 Change Badge"/>
          <p:cNvSpPr/>
          <p:nvPr/>
        </p:nvSpPr>
        <p:spPr>
          <a:xfrm>
            <a:off x="5318760" y="5029200"/>
            <a:ext cx="1554480" cy="27432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solidFill>
              <a:srgbClr val="0043DA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TextBox L12 Change Badge Text"/>
          <p:cNvSpPr txBox="1"/>
          <p:nvPr/>
        </p:nvSpPr>
        <p:spPr>
          <a:xfrm>
            <a:off x="5318760" y="5029200"/>
            <a:ext cx="1554480" cy="457200"/>
          </a:xfrm>
          <a:prstGeom prst="roundRect">
            <a:avLst>
              <a:gd name="adj" fmla="val 16667"/>
            </a:avLst>
          </a:prstGeom>
          <a:solidFill>
            <a:srgbClr val="0043D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ko-KR" sz="2000" b="1">
                <a:solidFill>
                  <a:srgbClr val="FFFFFF"/>
                </a:solidFill>
                <a:latin typeface="프리젠테이션 7 Bold"/>
              </a:rPr>
              <a:t>▼ 75% 개선</a:t>
            </a:r>
          </a:p>
        </p:txBody>
      </p:sp>
      <p:pic>
        <p:nvPicPr>
          <p:cNvPr id="29" name="Icon L12 Befo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00" y="6087600"/>
            <a:ext cx="411480" cy="411480"/>
          </a:xfrm>
          <a:prstGeom prst="rect">
            <a:avLst/>
          </a:prstGeom>
          <a:ln>
            <a:noFill/>
          </a:ln>
        </p:spPr>
      </p:pic>
      <p:pic>
        <p:nvPicPr>
          <p:cNvPr id="30" name="Icon L12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1280" y="6087600"/>
            <a:ext cx="411480" cy="411480"/>
          </a:xfrm>
          <a:prstGeom prst="rect">
            <a:avLst/>
          </a:prstGeom>
          <a:ln>
            <a:noFill/>
          </a:ln>
        </p:spPr>
      </p:pic>
      <p:sp>
        <p:nvSpPr>
          <p:cNvPr id="31" name="TextBox 3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2000" b="1">
                <a:latin typeface="Freesentation"/>
              </a:rPr>
              <a:t>L12. Before/After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00">
                <a:latin typeface="Freesentation"/>
              </a:rPr>
              <a:t>KPI 수치 중심 시간 비교 — 변화량 강조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L13. Pros &amp; Cons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도입 검토 — 장단점 분석 및 종합 판단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검토 — 장단점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솔루션 전환 시 고려사항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Pros (장점)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43DA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★ 관리 부담 80% 감소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Kafka 클러스터 운영 자동화 (AWS 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고가용성 99.9% SLA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Multi-AZ 자동 복제, 장애 복구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ROI 240% (12개월)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인력 비용 ₩1.8억/년 절감 vs 서비스 비용 ₩0.75억/년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F6C0A8"/>
          </a:solidFill>
          <a:ln w="6350">
            <a:solidFill>
              <a:srgbClr val="EE8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Cons (단점)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마이그레이션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데이터 전환 + 검증 ₩5,000만 (1회)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단계별 이관으로 리스크 분산 (3개월)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벤더 종속성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AWS 서비스에 강하게 결합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Kafka 표준 API 유지로 이식성 확보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on-premises 대비 15% 높은 월 비용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₩750만/월 vs 자체 운영 ₩650만/월</a:t>
            </a:r>
          </a:p>
          <a:p>
            <a:pPr algn="l"/>
            <a:r>
              <a:rPr sz="1300" b="0">
                <a:solidFill>
                  <a:srgbClr val="0043DA"/>
                </a:solidFill>
                <a:latin typeface="Freesentation"/>
              </a:rPr>
              <a:t>  → 운영 인력 포함 TCO 기준 35% 절감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종합 판단: 도입 권장 — Pros ROI 240%가 Cons를 상회, 모든 단점 완화 가능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Action: 2026-Q2 PoC 착수 승인 요청 (예산 ₩5,000만, 기간 3개월)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L14. Do / Don't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MSK 아키텍처 설계 가이드라인 — 프로덕션 환경 필수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MSK 아키텍처 설계 가이드라인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프로덕션 환경 구성 시 필수 체크리스트 (2026-Q1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B2D9CD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996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✅  DO (권장)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16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Multi-AZ 배포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가용성 99.9% 보장, 장애 시 자동 failover &lt; 5분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Endpoint 사용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인터넷 경유 금지 → 네트워크 지연 70% 감소 (실측)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알람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  CPU &gt; 70%, Disk &gt; 80% 임계치 모니터링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360" y="242316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C62828"/>
          </a:solidFill>
          <a:ln w="952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4120" y="2603120"/>
            <a:ext cx="455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>❌  DON'T (비권장)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1320" y="2968800"/>
            <a:ext cx="5124480" cy="293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Freesentation"/>
              </a:rPr>
              <a:t/>
            </a:r>
            <a:r>
              <a:rPr sz="1300" b="1">
                <a:solidFill>
                  <a:srgbClr val="FFFFFF"/>
                </a:solidFill>
                <a:latin typeface="Freesentation"/>
              </a:rPr>
              <a:t>🔴 Single-AZ 배포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AZ 장애 시 서비스 전체 중단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2025-Q4 서울 AZ-A 장애 — 3시간 다운타임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Multi-AZ 배포 (99.9% SLA)</a:t>
            </a:r>
          </a:p>
          <a:p>
            <a:pPr algn="l">
              <a:spcBef>
                <a:spcPts val="400"/>
              </a:spcBef>
            </a:pPr>
            <a:r>
              <a:rPr sz="1300" b="1">
                <a:solidFill>
                  <a:srgbClr val="FFFFFF"/>
                </a:solidFill>
                <a:latin typeface="Freesentation"/>
              </a:rPr>
              <a:t>🔴 Public Subnet 배치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외부 공격 노출, 데이터 유출 위험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⚡ 보안 감사 지적 사항 1순위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Private Subnet + VPC Endpoint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  <a:latin typeface="Freesentation"/>
              </a:rPr>
              <a:t>⚠️ default 보안그룹 사용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0.0.0.0/0 허용 → 무단 접근 가능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Freesentation"/>
              </a:rPr>
              <a:t>  ✅ 대신: 최소 권한 보안그룹 (필요 포트만)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6172200"/>
            <a:ext cx="11320560" cy="457200"/>
          </a:xfrm>
          <a:prstGeom prst="roundRect">
            <a:avLst>
              <a:gd name="adj" fmla="val 4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160" y="6217920"/>
            <a:ext cx="10960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/>
            </a:r>
            <a:r>
              <a:rPr sz="1400" b="1">
                <a:solidFill>
                  <a:srgbClr val="212121"/>
                </a:solidFill>
                <a:latin typeface="Freesentation"/>
              </a:rPr>
              <a:t>📋 준수 현황: 3/6 항목 준수 (50%) — 미준수 항목 (Single-AZ, Public Subnet, default SG) 즉시 조치 필요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L15. SWOT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사업 진출 SWOT 분석 — SO전략 집중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클라우드 메시징 서비스 시장 진입 타당성 검토 (2026-Q1)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5669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내부 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31720"/>
            <a:ext cx="5516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505050"/>
                </a:solidFill>
                <a:latin typeface="Freesentation"/>
              </a:rPr>
              <a:t>외부 요인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5669280" cy="1737360"/>
          </a:xfrm>
          <a:prstGeom prst="roundRect">
            <a:avLst>
              <a:gd name="adj" fmla="val 4000"/>
            </a:avLst>
          </a:prstGeom>
          <a:solidFill>
            <a:srgbClr val="DBF1E9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16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💪  강점 (Strengths)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16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AWS Premier 파트너십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기술 지원 우선 + 공동 마케팅 기회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10년 운영 경험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국내 금융권 구축 실적 15건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24/7 전담 엔지니어 12명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평균 경력 7년, SLA 99.9% 실적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5516880" cy="1737360"/>
          </a:xfrm>
          <a:prstGeom prst="roundRect">
            <a:avLst>
              <a:gd name="adj" fmla="val 4000"/>
            </a:avLst>
          </a:prstGeom>
          <a:solidFill>
            <a:srgbClr val="E6ED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880" y="25722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🎯  기회 (Opportunities)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880" y="2846520"/>
            <a:ext cx="5124480" cy="131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1">
                <a:solidFill>
                  <a:srgbClr val="0043DA"/>
                </a:solidFill>
                <a:latin typeface="Freesentation"/>
              </a:rPr>
              <a:t>• 시장 CAGR 28%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2026~2028 IDC 전망, ₩3,200억 규모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금융권 클라우드 전환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규제 완화, 수요 급증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레거시 MQ 대체 수요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WebSphere MQ EOL 2027, 전환 시급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669280" cy="1828800"/>
          </a:xfrm>
          <a:prstGeom prst="roundRect">
            <a:avLst>
              <a:gd name="adj" fmla="val 4000"/>
            </a:avLst>
          </a:prstGeom>
          <a:solidFill>
            <a:srgbClr val="FBD9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16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⚠️  약점 (Weaknesses)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초기 투자 ₩8억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인프라 + 인력 + 마케팅 비용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단계별 투자 12개월 계획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ISO 27001 미취득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금융권 필수 인증, 6개월 소요 예정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Q2 완료 목표, 임시 파트너 인증 활용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343400"/>
            <a:ext cx="5516880" cy="1828800"/>
          </a:xfrm>
          <a:prstGeom prst="roundRect">
            <a:avLst>
              <a:gd name="adj" fmla="val 4000"/>
            </a:avLst>
          </a:prstGeom>
          <a:solidFill>
            <a:srgbClr val="F5CCCC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880" y="4401000"/>
            <a:ext cx="512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⛔  위협 (Threats)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7880" y="4675320"/>
            <a:ext cx="5124480" cy="14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  <a:r>
              <a:rPr sz="1300" b="0">
                <a:solidFill>
                  <a:srgbClr val="212121"/>
                </a:solidFill>
                <a:latin typeface="Freesentation"/>
              </a:rPr>
              <a:t>• Confluent 국내 점유 22%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2025년 서울 리전 오픈, 점유 확대 중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AWS 네이티브 통합 + 가격 경쟁력 강조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IT 예산 감축 -5%</a:t>
            </a:r>
          </a:p>
          <a:p>
            <a:pPr lvl="1"/>
            <a:r>
              <a:rPr sz="1300" b="0">
                <a:solidFill>
                  <a:srgbClr val="212121"/>
                </a:solidFill>
                <a:latin typeface="Freesentation"/>
              </a:rPr>
              <a:t>2026 Gartner 전망, 신규 도입 보수화</a:t>
            </a:r>
          </a:p>
          <a:p>
            <a:pPr lvl="1"/>
            <a:r>
              <a:rPr sz="1300" b="0">
                <a:solidFill>
                  <a:srgbClr val="0043DA"/>
                </a:solidFill>
                <a:latin typeface="Freesentation"/>
              </a:rPr>
              <a:t>→ ROI 마케팅 — TCO 35% 절감 실증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263640"/>
            <a:ext cx="11277600" cy="457200"/>
          </a:xfrm>
          <a:prstGeom prst="roundRect">
            <a:avLst>
              <a:gd name="adj" fmla="val 4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60" y="6309360"/>
            <a:ext cx="11069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Freesentation"/>
              </a:rPr>
              <a:t/>
            </a:r>
            <a:r>
              <a:rPr sz="1400" b="1">
                <a:solidFill>
                  <a:srgbClr val="FFFFFF"/>
                </a:solidFill>
                <a:latin typeface="Freesentation"/>
              </a:rPr>
              <a:t>📋 전략 방향: SO전략 집중 — AWS 파트너십(S) × 금융권 클라우드 수요(O)로 MSK 시장 선점</a:t>
            </a:r>
          </a:p>
          <a:p>
            <a:pPr/>
            <a:r>
              <a:rPr sz="1300" b="0">
                <a:solidFill>
                  <a:srgbClr val="FFFFFF"/>
                </a:solidFill>
                <a:latin typeface="Freesentation"/>
              </a:rPr>
              <a:t>WO: ISO 27001 Q2 인증 완료 → 금융권 진입 장벽 해소 | 초기 투자 단계별 분산으로 리스크 최소화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L16. Detail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이미지+설명 레이아웃 — 스크린샷·다이어그램 + 상세 해설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콘솔 — 클러스터 모니터링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기반 실시간 모니터링 (2026년 4월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1127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① CloudWatch 콘솔 → MSK 클러스터 선택 → 모니터링 탭 확인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② BytesInPerSec / BytesOutPerSec 지표로 처리량 실시간 모니터링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③ UnderReplicatedPartitions &gt; 0 시 즉시 알람 — 복제 장애 자동 감지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657360"/>
            <a:ext cx="11277600" cy="292608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080"/>
            <a:ext cx="1127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[CloudWatch MSK 모니터링 화면]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L17. Image 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이미지+불릿 2컬럼 레이아웃 — 좌 시각자료 + 우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VPC 네트워크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격리 구성 — 3-Tier 보안 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5486400" cy="4114800"/>
          </a:xfrm>
          <a:prstGeom prst="rect">
            <a:avLst/>
          </a:prstGeom>
          <a:solidFill>
            <a:srgbClr val="E8EFFD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  <a:latin typeface="Freesentation"/>
              </a:rPr>
              <a:t>[VPC 네트워크 구성도]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000" y="2468880"/>
            <a:ext cx="5608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• Public Subnet (10.0.1.0/24)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ALB, NAT Gateway 배치 — 외부 트래픽 수신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Private Subnet (10.0.10.0/24)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MSK 브로커 배치 (포트 9092/9094)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DB Subnet (10.0.20.0/24)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S3/RDS 오프로드 — 앱서버에서만 접근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/>
            </a:r>
          </a:p>
          <a:p>
            <a:r>
              <a:rPr sz="1400" b="1">
                <a:solidFill>
                  <a:srgbClr val="212121"/>
                </a:solidFill>
                <a:latin typeface="Freesentation"/>
              </a:rPr>
              <a:t>• 보안그룹 규칙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App→MSK(9092), MSK→S3(443) 허용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/>
          <p:cNvSpPr/>
          <p:nvPr/>
        </p:nvSpPr>
        <p:spPr>
          <a:xfrm>
            <a:off x="5454814" y="1560692"/>
            <a:ext cx="6461651" cy="1543780"/>
          </a:xfrm>
          <a:prstGeom prst="rect">
            <a:avLst/>
          </a:prstGeom>
          <a:solidFill>
            <a:srgbClr val="2A6FDE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30" y="1560692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200" b="1" dirty="0">
                <a:solidFill>
                  <a:srgbClr val="2A6FDE"/>
                </a:solidFill>
                <a:latin typeface="프리젠테이션 7 Bold" pitchFamily="2" charset="-127"/>
                <a:ea typeface="프리젠테이션 7 Bold" pitchFamily="2" charset="-127"/>
              </a:rPr>
              <a:t>CHALLENGE</a:t>
            </a:r>
            <a:endParaRPr kumimoji="1" lang="ko-KR" altLang="en-US" sz="1200" b="1" dirty="0">
              <a:solidFill>
                <a:srgbClr val="2A6FDE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5" y="1560691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상담사 숙련도에 따라서 전화 응대 후 후처리로 남기는 내용에 대한 품질이 상이함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통화가 길어지면 통화 내용에 대해서 전체적으로 기억하기 어려움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객관적으로 고객의 감정상태를 파악하기 어려움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수기로 후처리를 남기면 상담 업무 생산성이 </a:t>
            </a:r>
            <a:r>
              <a:rPr kumimoji="1" lang="ko-KR" altLang="en-US" sz="1100" dirty="0" smtClean="0">
                <a:latin typeface="프리젠테이션 4 Regular" pitchFamily="2" charset="-127"/>
                <a:ea typeface="프리젠테이션 4 Regular" pitchFamily="2" charset="-127"/>
              </a:rPr>
              <a:t>떨어짐</a:t>
            </a:r>
            <a:endParaRPr kumimoji="1" lang="en-US" altLang="ko-KR" sz="1100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cxnSp>
        <p:nvCxnSpPr>
          <p:cNvPr id="41" name="직선 연결선 40"/>
          <p:cNvCxnSpPr/>
          <p:nvPr/>
        </p:nvCxnSpPr>
        <p:spPr>
          <a:xfrm flipV="1">
            <a:off x="5454815" y="1560691"/>
            <a:ext cx="6461650" cy="21252"/>
          </a:xfrm>
          <a:prstGeom prst="line">
            <a:avLst/>
          </a:prstGeom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5454813" y="3275389"/>
            <a:ext cx="6461651" cy="1543780"/>
          </a:xfrm>
          <a:prstGeom prst="rect">
            <a:avLst/>
          </a:prstGeom>
          <a:solidFill>
            <a:srgbClr val="4CB88F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9" y="3275389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200" b="1" dirty="0">
                <a:solidFill>
                  <a:srgbClr val="4CB88F"/>
                </a:solidFill>
                <a:latin typeface="프리젠테이션 7 Bold" pitchFamily="2" charset="-127"/>
                <a:ea typeface="프리젠테이션 7 Bold" pitchFamily="2" charset="-127"/>
              </a:rPr>
              <a:t>SOLUTION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4" y="3275388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STT(Speech-to-Text)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를 도입하여 </a:t>
            </a:r>
            <a:r>
              <a:rPr kumimoji="1" lang="ko-KR" altLang="en-US" sz="1100" dirty="0" err="1">
                <a:latin typeface="프리젠테이션 4 Regular" pitchFamily="2" charset="-127"/>
                <a:ea typeface="프리젠테이션 4 Regular" pitchFamily="2" charset="-127"/>
              </a:rPr>
              <a:t>화자별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대화 분리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 err="1">
                <a:latin typeface="프리젠테이션 4 Regular" pitchFamily="2" charset="-127"/>
                <a:ea typeface="프리젠테이션 4 Regular" pitchFamily="2" charset="-127"/>
              </a:rPr>
              <a:t>생성형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</a:t>
            </a: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AI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와 </a:t>
            </a:r>
            <a:r>
              <a:rPr kumimoji="1" lang="en" altLang="ko-KR" sz="1100" dirty="0">
                <a:latin typeface="프리젠테이션 4 Regular" pitchFamily="2" charset="-127"/>
                <a:ea typeface="프리젠테이션 4 Regular" pitchFamily="2" charset="-127"/>
              </a:rPr>
              <a:t>STT(Speech-to-Text)</a:t>
            </a:r>
            <a:r>
              <a:rPr kumimoji="1" lang="ko-KR" altLang="en-US" sz="1100" dirty="0" err="1">
                <a:latin typeface="프리젠테이션 4 Regular" pitchFamily="2" charset="-127"/>
                <a:ea typeface="프리젠테이션 4 Regular" pitchFamily="2" charset="-127"/>
              </a:rPr>
              <a:t>를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도입하여 </a:t>
            </a:r>
            <a:r>
              <a:rPr kumimoji="1" lang="ko-KR" altLang="en-US" sz="1100" dirty="0" err="1">
                <a:latin typeface="프리젠테이션 4 Regular" pitchFamily="2" charset="-127"/>
                <a:ea typeface="프리젠테이션 4 Regular" pitchFamily="2" charset="-127"/>
              </a:rPr>
              <a:t>상담사와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고객의 대화를 요약하고</a:t>
            </a:r>
            <a:r>
              <a:rPr kumimoji="1" lang="en-US" altLang="ko-KR" sz="1100" dirty="0">
                <a:latin typeface="프리젠테이션 4 Regular" pitchFamily="2" charset="-127"/>
                <a:ea typeface="프리젠테이션 4 Regular" pitchFamily="2" charset="-127"/>
              </a:rPr>
              <a:t>, </a:t>
            </a:r>
            <a:br>
              <a:rPr kumimoji="1" lang="en-US" altLang="ko-KR" sz="1100" dirty="0">
                <a:latin typeface="프리젠테이션 4 Regular" pitchFamily="2" charset="-127"/>
                <a:ea typeface="프리젠테이션 4 Regular" pitchFamily="2" charset="-127"/>
              </a:rPr>
            </a:b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고객의 감정을 분류</a:t>
            </a:r>
            <a:r>
              <a:rPr kumimoji="1" lang="en-US" altLang="ko-KR" sz="1100" dirty="0">
                <a:latin typeface="프리젠테이션 4 Regular" pitchFamily="2" charset="-127"/>
                <a:ea typeface="프리젠테이션 4 Regular" pitchFamily="2" charset="-127"/>
              </a:rPr>
              <a:t>,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문의 유형 분류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5454812" y="4987648"/>
            <a:ext cx="6461651" cy="1543780"/>
          </a:xfrm>
          <a:prstGeom prst="rect">
            <a:avLst/>
          </a:prstGeom>
          <a:solidFill>
            <a:srgbClr val="EE815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F1CD8C-B1D4-7464-AA76-B85D3FD34B41}"/>
              </a:ext>
            </a:extLst>
          </p:cNvPr>
          <p:cNvSpPr txBox="1"/>
          <p:nvPr/>
        </p:nvSpPr>
        <p:spPr>
          <a:xfrm>
            <a:off x="5532228" y="4987648"/>
            <a:ext cx="1251848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kumimoji="1" lang="en-US" altLang="ko-KR" sz="1200" b="1" dirty="0">
                <a:solidFill>
                  <a:srgbClr val="EE8150"/>
                </a:solidFill>
                <a:latin typeface="프리젠테이션 7 Bold" pitchFamily="2" charset="-127"/>
                <a:ea typeface="프리젠테이션 7 Bold" pitchFamily="2" charset="-127"/>
              </a:rPr>
              <a:t>CHALLENGE</a:t>
            </a:r>
            <a:endParaRPr kumimoji="1" lang="ko-KR" altLang="en-US" sz="1200" b="1" dirty="0">
              <a:solidFill>
                <a:srgbClr val="EE8150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B32EE-1742-12E7-BFF9-906AF589AC67}"/>
              </a:ext>
            </a:extLst>
          </p:cNvPr>
          <p:cNvSpPr txBox="1"/>
          <p:nvPr/>
        </p:nvSpPr>
        <p:spPr>
          <a:xfrm>
            <a:off x="6950763" y="4987647"/>
            <a:ext cx="4965700" cy="1543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업무 효율성 향상</a:t>
            </a:r>
            <a:r>
              <a:rPr kumimoji="1" lang="en-US" altLang="ko-KR" sz="1100" dirty="0">
                <a:latin typeface="프리젠테이션 4 Regular" pitchFamily="2" charset="-127"/>
                <a:ea typeface="프리젠테이션 4 Regular" pitchFamily="2" charset="-127"/>
              </a:rPr>
              <a:t>: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후처리 시간 감소 및 고객 응대에 대한 집중도 향상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품질 개선 </a:t>
            </a:r>
            <a:r>
              <a:rPr kumimoji="1" lang="en-US" altLang="ko-KR" sz="1100" dirty="0">
                <a:latin typeface="프리젠테이션 4 Regular" pitchFamily="2" charset="-127"/>
                <a:ea typeface="프리젠테이션 4 Regular" pitchFamily="2" charset="-127"/>
              </a:rPr>
              <a:t>: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</a:t>
            </a:r>
            <a:r>
              <a:rPr kumimoji="1" lang="ko-KR" altLang="en-US" sz="1100" dirty="0" err="1">
                <a:latin typeface="프리젠테이션 4 Regular" pitchFamily="2" charset="-127"/>
                <a:ea typeface="프리젠테이션 4 Regular" pitchFamily="2" charset="-127"/>
              </a:rPr>
              <a:t>대화요약에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대한 일관성과 신뢰도 증가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비즈니스 성과 </a:t>
            </a:r>
            <a:r>
              <a:rPr kumimoji="1" lang="en-US" altLang="ko-KR" sz="1100" dirty="0">
                <a:latin typeface="프리젠테이션 4 Regular" pitchFamily="2" charset="-127"/>
                <a:ea typeface="프리젠테이션 4 Regular" pitchFamily="2" charset="-127"/>
              </a:rPr>
              <a:t>: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</a:t>
            </a:r>
            <a:r>
              <a:rPr kumimoji="1" lang="ko-KR" altLang="en-US" sz="1100" dirty="0" err="1">
                <a:latin typeface="프리젠테이션 4 Regular" pitchFamily="2" charset="-127"/>
                <a:ea typeface="프리젠테이션 4 Regular" pitchFamily="2" charset="-127"/>
              </a:rPr>
              <a:t>상담사</a:t>
            </a:r>
            <a:r>
              <a:rPr kumimoji="1" lang="ko-KR" altLang="en-US" sz="1100" dirty="0">
                <a:latin typeface="프리젠테이션 4 Regular" pitchFamily="2" charset="-127"/>
                <a:ea typeface="프리젠테이션 4 Regular" pitchFamily="2" charset="-127"/>
              </a:rPr>
              <a:t> 업무 처리량 증가 및 고객 대기 시간 감소</a:t>
            </a:r>
          </a:p>
        </p:txBody>
      </p:sp>
      <p:sp>
        <p:nvSpPr>
          <p:cNvPr id="72" name="직사각형 71"/>
          <p:cNvSpPr/>
          <p:nvPr/>
        </p:nvSpPr>
        <p:spPr>
          <a:xfrm>
            <a:off x="344974" y="1581170"/>
            <a:ext cx="4943151" cy="4949482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r>
              <a:rPr lang="ko-KR" altLang="en-US" sz="4400" dirty="0">
                <a:solidFill>
                  <a:schemeClr val="bg2">
                    <a:lumMod val="10000"/>
                  </a:schemeClr>
                </a:solidFill>
                <a:latin typeface="프리젠테이션 7 Bold" pitchFamily="2" charset="-127"/>
                <a:ea typeface="프리젠테이션 7 Bold" pitchFamily="2" charset="-127"/>
              </a:rPr>
              <a:t>이미지</a:t>
            </a:r>
            <a:r>
              <a:rPr lang="en-US" altLang="ko-KR" sz="4400" dirty="0">
                <a:solidFill>
                  <a:schemeClr val="bg2">
                    <a:lumMod val="10000"/>
                  </a:schemeClr>
                </a:solidFill>
                <a:latin typeface="프리젠테이션 7 Bold" pitchFamily="2" charset="-127"/>
                <a:ea typeface="프리젠테이션 7 Bold" pitchFamily="2" charset="-127"/>
              </a:rPr>
              <a:t>, </a:t>
            </a:r>
            <a:r>
              <a:rPr lang="ko-KR" altLang="en-US" sz="4400" dirty="0">
                <a:solidFill>
                  <a:schemeClr val="bg2">
                    <a:lumMod val="10000"/>
                  </a:schemeClr>
                </a:solidFill>
                <a:latin typeface="프리젠테이션 7 Bold" pitchFamily="2" charset="-127"/>
                <a:ea typeface="프리젠테이션 7 Bold" pitchFamily="2" charset="-127"/>
              </a:rPr>
              <a:t>내용</a:t>
            </a:r>
          </a:p>
        </p:txBody>
      </p:sp>
      <p:cxnSp>
        <p:nvCxnSpPr>
          <p:cNvPr id="34" name="직선 연결선 33"/>
          <p:cNvCxnSpPr/>
          <p:nvPr/>
        </p:nvCxnSpPr>
        <p:spPr>
          <a:xfrm flipV="1">
            <a:off x="5454815" y="3249791"/>
            <a:ext cx="6461650" cy="21252"/>
          </a:xfrm>
          <a:prstGeom prst="line">
            <a:avLst/>
          </a:prstGeom>
          <a:ln w="12700">
            <a:solidFill>
              <a:srgbClr val="4CB8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 flipV="1">
            <a:off x="5454815" y="4976991"/>
            <a:ext cx="6461650" cy="21252"/>
          </a:xfrm>
          <a:prstGeom prst="line">
            <a:avLst/>
          </a:prstGeom>
          <a:ln w="12700">
            <a:solidFill>
              <a:srgbClr val="EE81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L17-1. Image Left-1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설명글을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적어주세요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강조 텍스트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7 Bold, </a:t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메인 컬러</a:t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)</a:t>
            </a:r>
          </a:p>
          <a:p>
            <a:pPr latinLnBrk="0">
              <a:lnSpc>
                <a:spcPct val="150000"/>
              </a:lnSpc>
            </a:pP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폰트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200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프리젠테이션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5 Medium 12pt  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최대 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줄까지 작성 가능합니다</a:t>
            </a: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.</a:t>
            </a:r>
            <a:endParaRPr lang="en-US" altLang="ko-KR" sz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765E1"/>
              </a:solidFill>
              <a:latin typeface="프리젠테이션 5 Medium" pitchFamily="2" charset="-127"/>
              <a:ea typeface="프리젠테이션 5 Medium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L18. Full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풀와이드 이미지 레이아웃 — 배경 + 캡션 오버레이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5486400" cy="1371600"/>
          </a:xfrm>
          <a:prstGeom prst="roundRect">
            <a:avLst>
              <a:gd name="adj" fmla="val 16667"/>
            </a:avLst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Freesentation"/>
              </a:rPr>
              <a:t>AWS MSK 클라우드 전환 전략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Freesentation"/>
              </a:rPr>
              <a:t>금융·공공 분야 실시간 이벤트 스트리밍 선도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L19. Icon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아이콘 그리드 레이아웃 — 3×2 기술 스택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통합 기술 스택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메시징 플랫폼 핵심 구성요소 (2026년 4월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748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Apache Kafka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분산 스트리밍 플랫폼 — 메시지 브로커 코어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8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120" y="269748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272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Zookeeper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1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메타데이터 관리 (KRaft 전환 가능)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8400" y="242316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2720" y="26974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82800" y="274320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Kafka 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2720" y="342900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Source/Sink 커넥터 — 외부 시스템 통합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70916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716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Schema 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Avro/Protobuf 스키마 중앙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28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7120" y="4709160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2272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CloudWatch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1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브로커·토픽 메트릭 실시간 모니터링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8400" y="4434840"/>
            <a:ext cx="3566400" cy="182880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cur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2720" y="4709160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82800" y="4754880"/>
            <a:ext cx="26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IAM/mTLS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2720" y="5440680"/>
            <a:ext cx="318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인증·암호화 — 보안 통신 계층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4288" y="557760"/>
            <a:ext cx="2719800" cy="932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Freesentation"/>
              </a:rPr>
              <a:t>L20. Numbered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1040" y="558624"/>
            <a:ext cx="7549368" cy="938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Freesentation"/>
              </a:rPr>
              <a:t>번호 리스트 레이아웃 — 순서 강조 단계별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AWS MSK 클러스터 구축 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 배포 절차 (2026년 4월 기준)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43459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0317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VPC 및 Subnet 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6893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Private Subnet 3개(AZ-a/b/c) 생성, CIDR 대역 분리, 라우팅 테이블 설정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3187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045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클러스터 프로비저닝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621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kafka.m5.large 3 브로커, EBS gp3 100GB, Multi-AZ 배치 설정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462915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69773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그룹 및 IAM 정책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6349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포트 9092/9094 허용, IAM 정책으로 Topic 권한 제어, TLS 암호화 활성화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726430"/>
            <a:ext cx="457200" cy="457200"/>
          </a:xfrm>
          <a:prstGeom prst="ellipse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Freesentation 7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795010"/>
            <a:ext cx="1063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모니터링 및 알람 설정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160770"/>
            <a:ext cx="1063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CloudWatch 지표 활성화, CPU/Disk 임계치 알람, SNS 통보 설정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L21. Quote 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클라우드 전환 리더십 메시지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클라우드 전환 추진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CTO 메시지 (2026년 1분기 전사 회의)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73152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9560" y="2423160"/>
            <a:ext cx="3822191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172200"/>
            <a:ext cx="11277295" cy="45720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>
                <a:solidFill>
                  <a:srgbClr val="0043DA"/>
                </a:solidFill>
              </a:rPr>
              <a:t>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212121"/>
                </a:solidFill>
                <a:latin typeface="Freesentation"/>
              </a:rPr>
              <a:t>우리는 2026년까지 레거시 시스템의 80%를 클라우드로 전환합니다. 이는 단순한 인프라 이전이 아닌, 비즈니스 민첩성 확보를 위한 전략적 투자입니다.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505050"/>
                </a:solidFill>
                <a:latin typeface="Freesentation"/>
              </a:rPr>
              <a:t>— 김철수, CTO  (GS네오텍)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606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📊 컨텍스트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175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₩3.2억/년 절감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인프라+인력 합산 (2025 실측)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레거시 42개 시스템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전환 대상, 목표 전환율 80%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2026-Q4 완료 기한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1차 마감 2026-Q2</a:t>
            </a:r>
          </a:p>
          <a:p/>
          <a:p>
            <a:r>
              <a:rPr sz="1300">
                <a:solidFill>
                  <a:srgbClr val="212121"/>
                </a:solidFill>
                <a:latin typeface="Freesentation"/>
              </a:rPr>
              <a:t>TTM -40%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클라우드 전환 후 제품 출시 단축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💡 핵심: 클라우드 전환은 비용 절감이 아닌 민첩성 확보 — 경쟁사 대비 TTM 40% 단축 목표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L22. Split Text+Code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AWS CLI 기반 MSK 프로비저닝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CLI로 MSK 클러스터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명령줄 기반 프로비저닝 절차 (2026년 4월 기준)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① 클러스터 설정 JSON 작성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broker-node-group-info, kafka-version,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cluster-name 필수 항목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② VPC Subnet ID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Private Subnet 3개 (AZ-a/b/c) ID 확보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aws ec2 describe-subnets 명령 활용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③ 생성 명령 실행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create-cluster 명령어 + 설정 파일 참조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완료까지 5~10분 소요</a:t>
            </a:r>
          </a:p>
          <a:p/>
          <a:p>
            <a:r>
              <a:rPr sz="1400" b="1">
                <a:solidFill>
                  <a:srgbClr val="212121"/>
                </a:solidFill>
                <a:latin typeface="Freesentation"/>
              </a:rPr>
              <a:t>④ 생성 완료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describe-cluster 응답 State="ACTIVE" 확인</a:t>
            </a:r>
          </a:p>
          <a:p>
            <a:r>
              <a:rPr sz="1300">
                <a:solidFill>
                  <a:srgbClr val="212121"/>
                </a:solidFill>
                <a:latin typeface="Freesentation"/>
              </a:rPr>
              <a:t>   CloudWatch 메트릭 수집 시작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423160"/>
            <a:ext cx="5608015" cy="3657600"/>
          </a:xfrm>
          <a:prstGeom prst="rect">
            <a:avLst/>
          </a:prstGeom>
          <a:solidFill>
            <a:srgbClr val="1E1E1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423160"/>
            <a:ext cx="5608015" cy="274320"/>
          </a:xfrm>
          <a:prstGeom prst="rect">
            <a:avLst/>
          </a:prstGeom>
          <a:solidFill>
            <a:srgbClr val="2C001E"/>
          </a:solidFill>
          <a:ln>
            <a:solidFill>
              <a:srgbClr val="2D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D0D0D0"/>
                </a:solidFill>
                <a:latin typeface="Courier New"/>
              </a:rPr>
              <a:t>ubuntu@msk-cluster: ~ — bash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solidFill>
            <a:srgbClr val="F8F9FA"/>
          </a:solidFill>
          <a:ln w="6350">
            <a:solidFill>
              <a:srgbClr val="4CB8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ourier New"/>
              </a:rPr>
              <a:t>ubuntu@msk-cluster:~$ aws kafka create-cluster \
  --cluster-name my-msk-cluster \
  --broker-node-group-info file://broker-info.json \
  --kafka-version 3.5.1 \
  --number-of-broker-nodes 3 \
  --region ap-northeast-2
# 응답 예시
{
  "ClusterArn": "arn:aws:kafka:ap-northeast-2:...",
  "ClusterName": "my-msk-cluster",
  "State": "CREATING"
}
ubuntu@msk-cluster:~$ aws kafka describe-cluster --cluster-arn &lt;ARN&gt;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12121"/>
                </a:solidFill>
                <a:latin typeface="Freesentation"/>
              </a:rPr>
              <a:t>✅ 확인: aws kafka describe-cluster 응답에서 State="ACTIVE" 확인   |   소요시간: 5~10분   |   실패 시: CloudWatch /aws/msk/ 로그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263640" y="2514600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3660" y="2514600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0" y="2514600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3872" y="557784"/>
            <a:ext cx="27175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"/>
              </a:rPr>
              <a:t>L23. Stats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872" y="896112"/>
            <a:ext cx="27175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05050"/>
                </a:solidFill>
                <a:latin typeface="Freesentatio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0012" y="558698"/>
            <a:ext cx="75465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05050"/>
                </a:solidFill>
                <a:latin typeface="Freesentation"/>
              </a:rPr>
              <a:t>MSK 도입 성과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AWS MSK 도입 효과 — 핵심 성과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77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12121"/>
                </a:solidFill>
                <a:latin typeface="Freesentation"/>
              </a:rPr>
              <a:t>2026년 1분기 실측 기준 (운영 6개월 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79" y="2423160"/>
            <a:ext cx="3566160" cy="329184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₩1.8억/년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비용 절감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운영 인력 2명 절감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+ 인프라 비용 감소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(MSK vs 자체 Kafka 운영)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2026-Q1 실측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4CB88F"/>
                </a:solidFill>
                <a:latin typeface="Freesentation"/>
              </a:rPr>
              <a:t>▲  +320%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처리량 증가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10K → 42K msg/s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Multi-AZ 자동 스케일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(피크 트래픽 실측)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피크 트래픽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606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43DA"/>
                </a:solidFill>
                <a:latin typeface="Freesentation"/>
              </a:rPr>
              <a:t>▼  -75%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2004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Freesentation"/>
              </a:rPr>
              <a:t>지연시간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6118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200ms → 50ms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VPC Endpoint 적용</a:t>
            </a:r>
          </a:p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(평균 레이턴시 실측)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349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505050"/>
                </a:solidFill>
                <a:latin typeface="Freesentation"/>
              </a:rPr>
              <a:t>평균 레이턴시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71032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Freesentation"/>
              </a:rPr>
              <a:t>📊 종합: MSK 도입 6개월 만에 ROI 240% 달성 — 연간 순이익 ₩1.05억 (절감 ₩1.8억 - 서비스 비용 ₩0.75억)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6829</TotalTime>
  <Words>1261</Words>
  <Application>Microsoft Macintosh PowerPoint</Application>
  <PresentationFormat>Widescreen</PresentationFormat>
  <Paragraphs>284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Freesentation</vt:lpstr>
      <vt:lpstr>맑은 고딕</vt:lpstr>
      <vt:lpstr>Pretendard</vt:lpstr>
      <vt:lpstr>Pretendard ExtraBold</vt:lpstr>
      <vt:lpstr>프리젠테이션 4 Regular</vt:lpstr>
      <vt:lpstr>프리젠테이션 5</vt:lpstr>
      <vt:lpstr>프리젠테이션 6 SemiBold</vt:lpstr>
      <vt:lpstr>프리젠테이션 7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775</cp:revision>
  <dcterms:created xsi:type="dcterms:W3CDTF">2022-03-02T05:40:55Z</dcterms:created>
  <dcterms:modified xsi:type="dcterms:W3CDTF">2026-04-19T16:38:02Z</dcterms:modified>
</cp:coreProperties>
</file>