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handoutMasterIdLst>
    <p:handoutMasterId r:id="rId11"/>
  </p:handoutMasterIdLst>
  <p:sldIdLst>
    <p:sldId id="358" r:id="rId2"/>
    <p:sldId id="304" r:id="rId3"/>
    <p:sldId id="363" r:id="rId4"/>
    <p:sldId id="364" r:id="rId5"/>
    <p:sldId id="365" r:id="rId6"/>
    <p:sldId id="366" r:id="rId7"/>
    <p:sldId id="367" r:id="rId8"/>
    <p:sldId id="374" r:id="rId20"/>
    <p:sldId id="369" r:id="rId16"/>
    <p:sldId id="371" r:id="rId18"/>
    <p:sldId id="372" r:id="rId17"/>
    <p:sldId id="373" r:id="rId19"/>
    <p:sldId id="356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707F8F92-E977-4AF4-A17B-064B3F7C6292}">
          <p14:sldIdLst>
            <p14:sldId id="358"/>
          </p14:sldIdLst>
        </p14:section>
        <p14:section name="목차" id="{274BBB5B-E2ED-467F-AF7A-784F9A4055E0}">
          <p14:sldIdLst>
            <p14:sldId id="304"/>
          </p14:sldIdLst>
        </p14:section>
        <p14:section name="본문" id="{2BBFEB54-47FC-4EC8-AE18-073925A68771}">
          <p14:sldIdLst>
            <p14:sldId id="363"/>
            <p14:sldId id="364"/>
            <p14:sldId id="365"/>
            <p14:sldId id="366"/>
            <p14:sldId id="367"/>
          </p14:sldIdLst>
        </p14:section>
        <p14:section name="끝맺음" id="{C9A1EC51-E183-4528-B5C9-C551F42A7D16}">
          <p14:sldIdLst>
            <p14:sldId id="356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3DA"/>
    <a:srgbClr val="D9E5FF"/>
    <a:srgbClr val="B7CDFF"/>
    <a:srgbClr val="F2F5FD"/>
    <a:srgbClr val="F8FAFE"/>
    <a:srgbClr val="FBFBFB"/>
    <a:srgbClr val="89AEFF"/>
    <a:srgbClr val="3372FF"/>
    <a:srgbClr val="D1DFFF"/>
    <a:srgbClr val="EE81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619" autoAdjust="0"/>
    <p:restoredTop sz="94660"/>
  </p:normalViewPr>
  <p:slideViewPr>
    <p:cSldViewPr snapToGrid="0">
      <p:cViewPr varScale="1">
        <p:scale>
          <a:sx n="69" d="100"/>
          <a:sy n="69" d="100"/>
        </p:scale>
        <p:origin x="216" y="112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7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12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11.xml"/><Relationship Id="rId20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30D723-4A74-427C-8704-F358CE22FDDC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1117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3378F70-37B2-44B5-9F4B-14A4EA9C44E7}" type="datetimeFigureOut">
              <a:rPr lang="ko-KR" altLang="en-US" smtClean="0"/>
              <a:t>2026. 4. 16.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836B27-1065-44B6-A758-016B3436B22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0647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microsoft.com/office/2007/relationships/hdphoto" Target="../media/hdphoto1.wdp"/><Relationship Id="rId4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5788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직선 연결선 5"/>
          <p:cNvCxnSpPr/>
          <p:nvPr userDrawn="1"/>
        </p:nvCxnSpPr>
        <p:spPr>
          <a:xfrm>
            <a:off x="336000" y="1496718"/>
            <a:ext cx="11520000" cy="0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9" name="직선 연결선 8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sp>
        <p:nvSpPr>
          <p:cNvPr id="27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48184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강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0" y="1496718"/>
            <a:ext cx="12192001" cy="5361282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73935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_프로세스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 rot="10800000">
            <a:off x="0" y="1496718"/>
            <a:ext cx="12192001" cy="5361282"/>
          </a:xfrm>
          <a:prstGeom prst="rect">
            <a:avLst/>
          </a:prstGeom>
          <a:gradFill>
            <a:gsLst>
              <a:gs pos="100000">
                <a:srgbClr val="0043DA">
                  <a:alpha val="4000"/>
                </a:srgbClr>
              </a:gs>
              <a:gs pos="0">
                <a:schemeClr val="bg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65000"/>
                  <a:lumOff val="35000"/>
                </a:schemeClr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19520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직선 연결선 7"/>
          <p:cNvCxnSpPr/>
          <p:nvPr userDrawn="1"/>
        </p:nvCxnSpPr>
        <p:spPr>
          <a:xfrm>
            <a:off x="3367314" y="397805"/>
            <a:ext cx="0" cy="6460195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11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35907607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섹션구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sp>
        <p:nvSpPr>
          <p:cNvPr id="8" name="직사각형 7"/>
          <p:cNvSpPr/>
          <p:nvPr userDrawn="1"/>
        </p:nvSpPr>
        <p:spPr>
          <a:xfrm>
            <a:off x="3367314" y="397805"/>
            <a:ext cx="8817263" cy="6460195"/>
          </a:xfrm>
          <a:prstGeom prst="rect">
            <a:avLst/>
          </a:prstGeom>
          <a:solidFill>
            <a:schemeClr val="accent5">
              <a:alpha val="2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cxnSp>
        <p:nvCxnSpPr>
          <p:cNvPr id="17" name="직선 연결선 16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/>
              <a:t>제목</a:t>
            </a:r>
          </a:p>
        </p:txBody>
      </p:sp>
    </p:spTree>
    <p:extLst>
      <p:ext uri="{BB962C8B-B14F-4D97-AF65-F5344CB8AC3E}">
        <p14:creationId xmlns:p14="http://schemas.microsoft.com/office/powerpoint/2010/main" val="21656056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이미지강조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5806" y="128889"/>
            <a:ext cx="710194" cy="176398"/>
          </a:xfrm>
          <a:prstGeom prst="rect">
            <a:avLst/>
          </a:prstGeom>
        </p:spPr>
      </p:pic>
      <p:sp>
        <p:nvSpPr>
          <p:cNvPr id="7" name="TextBox 6"/>
          <p:cNvSpPr txBox="1"/>
          <p:nvPr userDrawn="1"/>
        </p:nvSpPr>
        <p:spPr>
          <a:xfrm>
            <a:off x="3754192" y="140144"/>
            <a:ext cx="1620993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fld id="{D4D3CB94-2040-454F-8FC0-96221EAF3B89}" type="slidenum">
              <a:rPr lang="en-US" altLang="ko-KR" sz="1000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‹#›</a:t>
            </a:fld>
            <a:r>
              <a:rPr lang="en-US" altLang="ko-KR" sz="1000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p</a:t>
            </a:r>
            <a:endParaRPr lang="ko-KR" altLang="en-US" sz="1000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/>
              </a:solidFill>
              <a:latin typeface="프리젠테이션 4 Regular" pitchFamily="2" charset="-127"/>
              <a:ea typeface="프리젠테이션 4 Regular" pitchFamily="2" charset="-127"/>
              <a:cs typeface="Pretendard" panose="02000503000000020004" pitchFamily="2" charset="-127"/>
            </a:endParaRPr>
          </a:p>
        </p:txBody>
      </p:sp>
      <p:cxnSp>
        <p:nvCxnSpPr>
          <p:cNvPr id="8" name="직선 연결선 7"/>
          <p:cNvCxnSpPr/>
          <p:nvPr userDrawn="1"/>
        </p:nvCxnSpPr>
        <p:spPr>
          <a:xfrm>
            <a:off x="336000" y="397805"/>
            <a:ext cx="11520000" cy="0"/>
          </a:xfrm>
          <a:prstGeom prst="line">
            <a:avLst/>
          </a:prstGeom>
          <a:ln w="3175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텍스트 개체 틀 24"/>
          <p:cNvSpPr>
            <a:spLocks noGrp="1"/>
          </p:cNvSpPr>
          <p:nvPr>
            <p:ph type="body" sz="quarter" idx="10" hasCustomPrompt="1"/>
          </p:nvPr>
        </p:nvSpPr>
        <p:spPr>
          <a:xfrm>
            <a:off x="354806" y="101016"/>
            <a:ext cx="2807494" cy="250530"/>
          </a:xfrm>
        </p:spPr>
        <p:txBody>
          <a:bodyPr lIns="0" tIns="0" rIns="0" bIns="0" anchor="ctr">
            <a:normAutofit/>
          </a:bodyPr>
          <a:lstStyle>
            <a:lvl1pPr marL="0" indent="0">
              <a:buNone/>
              <a:defRPr sz="1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ko-KR" altLang="en-US" dirty="0" err="1"/>
              <a:t>대제목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57588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끝맺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직선 연결선 10"/>
          <p:cNvCxnSpPr/>
          <p:nvPr userDrawn="1"/>
        </p:nvCxnSpPr>
        <p:spPr>
          <a:xfrm>
            <a:off x="13675460" y="1539854"/>
            <a:ext cx="0" cy="4421134"/>
          </a:xfrm>
          <a:prstGeom prst="line">
            <a:avLst/>
          </a:prstGeom>
          <a:ln w="3175">
            <a:solidFill>
              <a:schemeClr val="tx1">
                <a:lumMod val="10000"/>
                <a:lumOff val="90000"/>
                <a:alpha val="68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그림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95234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A09537-3B6C-4308-9077-364C9BAEFA1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26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9" r:id="rId2"/>
    <p:sldLayoutId id="2147483674" r:id="rId3"/>
    <p:sldLayoutId id="2147483676" r:id="rId4"/>
    <p:sldLayoutId id="2147483670" r:id="rId5"/>
    <p:sldLayoutId id="2147483671" r:id="rId6"/>
    <p:sldLayoutId id="2147483673" r:id="rId7"/>
    <p:sldLayoutId id="2147483675" r:id="rId8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orient="horz" pos="210">
          <p15:clr>
            <a:srgbClr val="F26B43"/>
          </p15:clr>
        </p15:guide>
        <p15:guide id="4" pos="234">
          <p15:clr>
            <a:srgbClr val="F26B43"/>
          </p15:clr>
        </p15:guide>
        <p15:guide id="5" orient="horz" pos="4110">
          <p15:clr>
            <a:srgbClr val="F26B43"/>
          </p15:clr>
        </p15:guide>
        <p15:guide id="6" pos="7446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0.png"/><Relationship Id="rId5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Relationship Id="rId3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3619"/>
            <a:ext cx="12192000" cy="6857195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601" y="5948604"/>
            <a:ext cx="1329872" cy="33054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526616" y="1490472"/>
            <a:ext cx="9144000" cy="256032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Amazon Managed Streaming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for Apache Kafka</a:t>
            </a:r>
          </a:p>
          <a:p>
            <a:pPr latinLnBrk="0"/>
            <a:r>
              <a:rPr lang="en-US" altLang="ko-KR" sz="50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(MSK)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38715" y="5760410"/>
            <a:ext cx="194070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Digitalization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을 선도하는</a:t>
            </a: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</a:p>
          <a:p>
            <a:pPr latinLnBrk="0">
              <a:lnSpc>
                <a:spcPct val="150000"/>
              </a:lnSpc>
            </a:pPr>
            <a:r>
              <a:rPr lang="en-US" altLang="ko-KR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DX </a:t>
            </a:r>
            <a:r>
              <a:rPr lang="ko-KR" altLang="en-US" sz="11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전문기업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88000" y="5760410"/>
            <a:ext cx="5965370" cy="923183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AI, Cloud, </a:t>
            </a:r>
            <a:r>
              <a:rPr lang="en-US" altLang="ko-KR" sz="1100" b="1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BigData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CDN, Contact Center,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물류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, 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스마트 인프라 등 다양한 영역에서 </a:t>
            </a:r>
            <a:endParaRPr lang="en-US" altLang="ko-KR" sz="1100" b="1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bg1">
                  <a:alpha val="80000"/>
                </a:schemeClr>
              </a:solidFill>
              <a:latin typeface="프리젠테이션 6 SemiBold" pitchFamily="2" charset="-127"/>
              <a:ea typeface="프리젠테이션 6 Semi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150000"/>
              </a:lnSpc>
            </a:pP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고객의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Business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를 선도하는 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Digital Innovator</a:t>
            </a:r>
            <a:r>
              <a: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입니다</a:t>
            </a:r>
            <a:r>
              <a:rPr lang="en-US" altLang="ko-KR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6 SemiBold" pitchFamily="2" charset="-127"/>
                <a:ea typeface="프리젠테이션 6 SemiBold" pitchFamily="2" charset="-127"/>
                <a:cs typeface="Pretendard" panose="02000503000000020004" pitchFamily="2" charset="-127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6616" y="4187952"/>
            <a:ext cx="9144000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ko-KR" altLang="en-US" sz="24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Expert Introduction — 아키텍처 · 핵심 기능 · 운영 전략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355601" y="5759125"/>
            <a:ext cx="11444514" cy="0"/>
          </a:xfrm>
          <a:prstGeom prst="line">
            <a:avLst/>
          </a:prstGeom>
          <a:ln w="3175">
            <a:solidFill>
              <a:schemeClr val="bg1">
                <a:lumMod val="75000"/>
                <a:alpha val="33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74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8715" y="29028"/>
            <a:ext cx="1940700" cy="39780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>
              <a:lnSpc>
                <a:spcPct val="150000"/>
              </a:lnSpc>
            </a:pPr>
            <a:r>
              <a:rPr lang="en-US" altLang="ko-KR" sz="12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>
                    <a:alpha val="80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04/16</a:t>
            </a:r>
          </a:p>
        </p:txBody>
      </p:sp>
    </p:spTree>
    <p:extLst>
      <p:ext uri="{BB962C8B-B14F-4D97-AF65-F5344CB8AC3E}">
        <p14:creationId xmlns:p14="http://schemas.microsoft.com/office/powerpoint/2010/main" val="12793857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354805" y="545902"/>
            <a:ext cx="3112294" cy="51076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Autofit/>
          </a:bodyPr>
          <a:lstStyle/>
          <a:p>
            <a:pPr>
              <a:lnSpc>
                <a:spcPct val="120000"/>
              </a:lnSpc>
            </a:pPr>
            <a:r>
              <a:rPr lang="en-US" altLang="ko-KR" sz="2800" dirty="0">
                <a:solidFill>
                  <a:srgbClr val="0043DA"/>
                </a:solidFill>
                <a:latin typeface="프리젠테이션 7 Bold" pitchFamily="2" charset="-127"/>
                <a:ea typeface="프리젠테이션 7 Bold" pitchFamily="2" charset="-127"/>
                <a:cs typeface="Pretendard ExtraBold" panose="02000903000000020004" pitchFamily="2" charset="-127"/>
              </a:rPr>
              <a:t>CONTENTS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67314" y="1715534"/>
            <a:ext cx="1161474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1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2</a:t>
            </a:r>
          </a:p>
          <a:p>
            <a:pPr algn="ctr" latinLnBrk="0">
              <a:lnSpc>
                <a:spcPct val="250000"/>
              </a:lnSpc>
            </a:pPr>
            <a:r>
              <a:rPr lang="en-US" altLang="ko-KR" sz="2400" dirty="0">
                <a:ln>
                  <a:solidFill>
                    <a:schemeClr val="accent1">
                      <a:alpha val="0"/>
                    </a:schemeClr>
                  </a:solidFill>
                </a:ln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3</a:t>
            </a: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algn="ctr" latinLnBrk="0">
              <a:lnSpc>
                <a:spcPct val="250000"/>
              </a:lnSpc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4543668" y="1715534"/>
            <a:ext cx="5129783" cy="4616648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spAutoFit/>
          </a:bodyPr>
          <a:lstStyle/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아키텍처 및 핵심 개념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클러스터 구성과 핵심 기능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r>
              <a:rPr lang="ko-KR" altLang="en-US" sz="24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프리젠테이션 7 Bold" pitchFamily="2" charset="-127"/>
                <a:ea typeface="프리젠테이션 7 Bold" pitchFamily="2" charset="-127"/>
                <a:cs typeface="Pretendard" panose="02000503000000020004" pitchFamily="2" charset="-127"/>
              </a:rPr>
              <a:t>MSK 운영 전략 및 Best Practices</a:t>
            </a: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  <a:p>
            <a:pPr latinLnBrk="0">
              <a:lnSpc>
                <a:spcPct val="250000"/>
              </a:lnSpc>
              <a:buClr>
                <a:srgbClr val="1F43F9"/>
              </a:buClr>
            </a:pPr>
            <a:endParaRPr lang="en-US" altLang="ko-KR" sz="240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75000"/>
                  <a:lumOff val="25000"/>
                </a:schemeClr>
              </a:solidFill>
              <a:latin typeface="프리젠테이션 7 Bold" pitchFamily="2" charset="-127"/>
              <a:ea typeface="프리젠테이션 7 Bold" pitchFamily="2" charset="-127"/>
              <a:cs typeface="Pretendard" panose="02000503000000020004" pitchFamily="2" charset="-127"/>
            </a:endParaRPr>
          </a:p>
        </p:txBody>
      </p:sp>
      <p:grpSp>
        <p:nvGrpSpPr>
          <p:cNvPr id="53" name="그룹 52"/>
          <p:cNvGrpSpPr/>
          <p:nvPr/>
        </p:nvGrpSpPr>
        <p:grpSpPr>
          <a:xfrm>
            <a:off x="3806048" y="2760055"/>
            <a:ext cx="8385952" cy="2761457"/>
            <a:chOff x="3764222" y="1060078"/>
            <a:chExt cx="5147549" cy="1685118"/>
          </a:xfrm>
        </p:grpSpPr>
        <p:cxnSp>
          <p:nvCxnSpPr>
            <p:cNvPr id="54" name="직선 연결선 53"/>
            <p:cNvCxnSpPr/>
            <p:nvPr/>
          </p:nvCxnSpPr>
          <p:spPr>
            <a:xfrm>
              <a:off x="3764222" y="1060078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직선 연결선 54"/>
            <p:cNvCxnSpPr/>
            <p:nvPr/>
          </p:nvCxnSpPr>
          <p:spPr>
            <a:xfrm>
              <a:off x="3764222" y="1621784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직선 연결선 55"/>
            <p:cNvCxnSpPr/>
            <p:nvPr/>
          </p:nvCxnSpPr>
          <p:spPr>
            <a:xfrm>
              <a:off x="3764222" y="2183490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직선 연결선 56"/>
            <p:cNvCxnSpPr/>
            <p:nvPr/>
          </p:nvCxnSpPr>
          <p:spPr>
            <a:xfrm>
              <a:off x="3764222" y="2745196"/>
              <a:ext cx="5147549" cy="0"/>
            </a:xfrm>
            <a:prstGeom prst="line">
              <a:avLst/>
            </a:prstGeom>
            <a:ln w="3175">
              <a:solidFill>
                <a:schemeClr val="bg1">
                  <a:lumMod val="75000"/>
                  <a:alpha val="48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2550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5394960" cy="384048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81308" y="2628900"/>
            <a:ext cx="5650992" cy="2057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081308" y="4960620"/>
            <a:ext cx="5650992" cy="15087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4979662"/>
            <a:ext cx="4663440" cy="1256546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1234440" y="5242175"/>
            <a:ext cx="1097280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606040" y="5242175"/>
            <a:ext cx="1097280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977640" y="5242175"/>
            <a:ext cx="1097280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ight Arrow 9"/>
          <p:cNvSpPr/>
          <p:nvPr/>
        </p:nvSpPr>
        <p:spPr>
          <a:xfrm>
            <a:off x="23317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ight Arrow 10"/>
          <p:cNvSpPr/>
          <p:nvPr/>
        </p:nvSpPr>
        <p:spPr>
          <a:xfrm>
            <a:off x="3703320" y="5356475"/>
            <a:ext cx="274320" cy="228600"/>
          </a:xfrm>
          <a:prstGeom prst="rightArrow">
            <a:avLst/>
          </a:prstGeom>
          <a:solidFill>
            <a:srgbClr val="969696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L01. Bento Grid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좌 50% + 우 2분할 레이아웃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핵심 아키텍처와 클러스터 유형별 특성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아키텍처 개요, 클러스터 유형(Provisioned/Serverless/Express), 보안 체계 비교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2859982"/>
            <a:ext cx="503496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MSK 아키텍처 개요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200" y="3288022"/>
            <a:ext cx="5034960" cy="15544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완전관리형 Apache Kafka 서비스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Multi-AZ 자동 복제 및 고가용성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브로커/파티션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AWS 서비스 네이티브 통합 (Lambda, Kinesis, Glue, S3)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오픈소스 호환 — 코드 변경 불필요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1308" y="2706067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클러스터 유형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1308" y="3134107"/>
            <a:ext cx="5290992" cy="1371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Provisioned: 직접 지정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Serverless: 자동 스케일링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Express: 고성능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1308" y="5006988"/>
            <a:ext cx="5290992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보안 체계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1308" y="5435028"/>
            <a:ext cx="5290992" cy="10058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IAM / SASL-SCRAM / mTLS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TLS + KMS 암호화</a:t>
            </a:r>
          </a:p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• Security Group 접근 제어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Producer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MSK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5242175"/>
            <a:ext cx="109728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Consumer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App / SDK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Topic/Part.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5745095"/>
            <a:ext cx="1098000" cy="22860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A4A4A"/>
                </a:solidFill>
                <a:latin typeface="Freesentation"/>
              </a:rPr>
              <a:t>Consumer Grp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84133" y="2674620"/>
            <a:ext cx="1828800" cy="118872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Producer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5630" y="3086374"/>
            <a:ext cx="457200" cy="365760"/>
          </a:xfrm>
          <a:prstGeom prst="rightArrow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535710" y="2674620"/>
            <a:ext cx="5120640" cy="1188720"/>
          </a:xfrm>
          <a:prstGeom prst="roundRect">
            <a:avLst/>
          </a:prstGeom>
          <a:solidFill>
            <a:srgbClr val="E6F0FF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15710" y="2711450"/>
            <a:ext cx="4760640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ctr"/>
            <a:r>
              <a:rPr sz="1300" b="1">
                <a:latin typeface="Freesentation"/>
                <a:solidFill>
                  <a:srgbClr val="1B3A5C"/>
                </a:solidFill>
              </a:rPr>
              <a:t>MSK Cluster (Multi-AZ Brokers)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1859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(AZ-a)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49880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1169" y="3268980"/>
            <a:ext cx="1494129" cy="41148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>
                <a:solidFill>
                  <a:srgbClr val="FFFFFF"/>
                </a:solidFill>
              </a:rPr>
              <a:t>Broker (AZ-c)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8839230" y="3086374"/>
            <a:ext cx="457200" cy="365760"/>
          </a:xfrm>
          <a:prstGeom prst="rightArrow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479310" y="2674620"/>
            <a:ext cx="1828800" cy="118872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293108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129016" y="4137660"/>
            <a:ext cx="3605479" cy="22860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7200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핵심 구성요소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Broker: 메시지 저장/전달 노드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Topic: 메시지 카테고리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Partition: 병렬 처리 단위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Replication Factor: 데이터 복제 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ZooKeeper / KRaft: 메타데이터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3108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네트워크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3108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 내 Private Subnet 배치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Security Group 기반 접근 제어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ENI: 브로커별 네트워크 인터페이스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PrivateLink: Cross-VPC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 배치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9016" y="4230996"/>
            <a:ext cx="3245479" cy="3044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9016" y="4643491"/>
            <a:ext cx="3245479" cy="16459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gp3: 기본 브로커 스토리지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Provisioned IOPS: 고성능 워크로드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Storage: S3 기반 장기 보관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확장: 디스크 용량 자동 증설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보존 기간별 계층화 전략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L02. Three Cards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3열 카드 레이아웃 테스트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Producer → MSK Cluster → Consumer 데이터 흐름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메시지 생산부터 소비까지의 전체 아키텍처 구성도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64093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33190" y="2628900"/>
            <a:ext cx="5394960" cy="18288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64093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233190" y="4732020"/>
            <a:ext cx="5394960" cy="173736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44093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브로커 관리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13190" y="2691622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스토리지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093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모니터링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13190" y="4789548"/>
            <a:ext cx="5034960" cy="3657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MSK Connect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4093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Multi-AZ 자동 분산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장애 시 자동 복구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인스턴스 타입 변경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3190" y="3165382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EBS gp3 기본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Tiered Storage (S3)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자동 디스크 확장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4093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CloudWatch 3단계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Prometheus 호환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Broker 로그 전송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190" y="5263308"/>
            <a:ext cx="5034960" cy="109728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Kafka Connect 관리형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Source/Sink 플러그인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Auto Scaling</a:t>
            </a:r>
          </a:p>
        </p:txBody>
      </p:sp>
      <p:pic>
        <p:nvPicPr>
          <p:cNvPr id="15" name="Picture 14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784" y="2766060"/>
            <a:ext cx="411480" cy="411480"/>
          </a:xfrm>
          <a:prstGeom prst="rect">
            <a:avLst/>
          </a:prstGeom>
        </p:spPr>
      </p:pic>
      <p:pic>
        <p:nvPicPr>
          <p:cNvPr id="16" name="Picture 15" descr="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4064" y="2766060"/>
            <a:ext cx="411480" cy="411480"/>
          </a:xfrm>
          <a:prstGeom prst="rect">
            <a:avLst/>
          </a:prstGeom>
        </p:spPr>
      </p:pic>
      <p:pic>
        <p:nvPicPr>
          <p:cNvPr id="17" name="Picture 16" descr="monitor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784" y="4869180"/>
            <a:ext cx="411480" cy="411480"/>
          </a:xfrm>
          <a:prstGeom prst="rect">
            <a:avLst/>
          </a:prstGeom>
        </p:spPr>
      </p:pic>
      <p:pic>
        <p:nvPicPr>
          <p:cNvPr id="18" name="Picture 17" descr="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4064" y="4869180"/>
            <a:ext cx="411480" cy="4114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L03. Grid 2x2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2x2 카드 그리드 레이아웃 테스트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클러스터 운영 핵심 요소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브로커 관리, 스토리지, 모니터링, MSK Connect 통합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1. 설계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2. 생성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3. 연결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7950" cy="548640"/>
          </a:xfrm>
          <a:prstGeom prst="chevron">
            <a:avLst>
              <a:gd name="adj" fmla="val 50000"/>
            </a:avLst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FFFFFF"/>
                </a:solidFill>
              </a:rPr>
              <a:t>4.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451860"/>
            <a:ext cx="2646273" cy="301752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VPC/Subnet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브로커 수 결정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그룹 설정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생성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인증 방식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암호화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Producer 연결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MSK Connect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PrivateLink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573415"/>
            <a:ext cx="2286273" cy="288036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구성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파티션 리밸런싱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L04. Process Arrow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4단계 프로세스 화살표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도입 4단계 프로세스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설계 → 생성 → 연결 → 운영 단계별 핵심 작업 및 체크포인트</a:t>
            </a:r>
          </a:p>
        </p:txBody>
      </p:sp>
      <p:pic>
        <p:nvPicPr>
          <p:cNvPr id="20" name="Picture 19" descr="L04_rId2_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5875020"/>
            <a:ext cx="411480" cy="411480"/>
          </a:xfrm>
          <a:prstGeom prst="rect">
            <a:avLst/>
          </a:prstGeom>
        </p:spPr>
      </p:pic>
      <p:pic>
        <p:nvPicPr>
          <p:cNvPr id="21" name="Picture 20" descr="L04_rId3_imag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5875020"/>
            <a:ext cx="411480" cy="411480"/>
          </a:xfrm>
          <a:prstGeom prst="rect">
            <a:avLst/>
          </a:prstGeom>
        </p:spPr>
      </p:pic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6175" y="5875020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6536" y="587502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2628900"/>
            <a:ext cx="2646273" cy="457200"/>
          </a:xfrm>
          <a:prstGeom prst="roundRect">
            <a:avLst/>
          </a:prstGeom>
          <a:solidFill>
            <a:srgbClr val="001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1: 평가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32988" y="2628900"/>
            <a:ext cx="2646273" cy="457200"/>
          </a:xfrm>
          <a:prstGeom prst="roundRect">
            <a:avLst/>
          </a:prstGeom>
          <a:solidFill>
            <a:srgbClr val="0043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</a:rPr>
              <a:t>Phase 2: 설계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08776" y="2628900"/>
            <a:ext cx="2646273" cy="457200"/>
          </a:xfrm>
          <a:prstGeom prst="roundRect">
            <a:avLst/>
          </a:prstGeom>
          <a:solidFill>
            <a:srgbClr val="EE81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3: 구축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83649" y="2628900"/>
            <a:ext cx="2646273" cy="457200"/>
          </a:xfrm>
          <a:prstGeom prst="roundRect">
            <a:avLst/>
          </a:prstGeom>
          <a:solidFill>
            <a:srgbClr val="4CB8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Phase 4: 운영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332988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08776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083649" y="3268980"/>
            <a:ext cx="2646273" cy="3200400"/>
          </a:xfrm>
          <a:prstGeom prst="roundRect">
            <a:avLst/>
          </a:prstGeom>
          <a:solidFill>
            <a:srgbClr val="F8F9FA"/>
          </a:solidFill>
          <a:ln w="6350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7200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현재 환경 분석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워크로드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비용/성능 비교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2988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보안 아키텍처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8776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클러스터 프로비저닝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3649" y="3390535"/>
            <a:ext cx="2286273" cy="30632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대시보드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알림 정책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성능 튜닝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  <a:ln>
            <a:noFill/>
          </a:ln>
        </p:spPr>
        <p:txBody>
          <a:bodyPr anchor="t" lIns="0" tIns="0" rIns="0" bIns="0"/>
          <a:lstStyle/>
          <a:p>
            <a:r>
              <a:rPr sz="2000" b="1" dirty="0">
                <a:latin typeface="프리젠테이션 7 Bold"/>
              </a:rPr>
              <a:t>L05. Phased Columns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sz="1200" dirty="0">
                <a:latin typeface="프리젠테이션 5 Medium"/>
                <a:solidFill>
                  <a:schemeClr val="tx1">
                    <a:lumMod val="75000"/>
                    <a:lumOff val="25000"/>
                  </a:schemeClr>
                </a:solidFill>
              </a:rPr>
              <a:t>단계별 그라데이션 컬럼 레이아웃 테스트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MSK 전환 4단계 로드맵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pPr algn="l"/>
            <a:r>
              <a:rPr sz="1300">
                <a:solidFill>
                  <a:srgbClr val="4A4A4A"/>
                </a:solidFill>
                <a:latin typeface="Freesentation"/>
              </a:rPr>
              <a:t>평가 → 설계 → 구축 → 운영 단계별 주요 액션과 산출물</a:t>
            </a:r>
          </a:p>
        </p:txBody>
      </p:sp>
      <p:pic>
        <p:nvPicPr>
          <p:cNvPr id="20" name="Picture 19" descr="L05_rId2_image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0942" y="5875934"/>
            <a:ext cx="411480" cy="411480"/>
          </a:xfrm>
          <a:prstGeom prst="rect">
            <a:avLst/>
          </a:prstGeom>
        </p:spPr>
      </p:pic>
      <p:pic>
        <p:nvPicPr>
          <p:cNvPr id="21" name="Picture 20" descr="L04_rId2_image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7644" y="5875934"/>
            <a:ext cx="411480" cy="411480"/>
          </a:xfrm>
          <a:prstGeom prst="rect">
            <a:avLst/>
          </a:prstGeom>
        </p:spPr>
      </p:pic>
      <p:pic>
        <p:nvPicPr>
          <p:cNvPr id="22" name="Picture 21" descr="L05_rId4_image1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63432" y="5875934"/>
            <a:ext cx="411480" cy="411480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0135" y="5875934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355610" y="557509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43DA"/>
                </a:solidFill>
                <a:latin typeface="프리젠테이션 7 Bold"/>
              </a:rPr>
              <a:t>L07. Roadmap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509"/>
            <a:ext cx="8430768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프리젠테이션 5 Medium"/>
              </a:rPr>
              <a:t>수영장 레인 구조 — 복수 워크스트림 병렬 진행</a:t>
            </a:r>
          </a:p>
        </p:txBody>
      </p:sp>
      <p:sp>
        <p:nvSpPr>
          <p:cNvPr id="5" name="Rectangle 4"/>
          <p:cNvSpPr/>
          <p:nvPr/>
        </p:nvSpPr>
        <p:spPr>
          <a:xfrm>
            <a:off x="355610" y="1496689"/>
            <a:ext cx="11480292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92024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Q1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357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Q2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26910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Q3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80245" y="1984157"/>
            <a:ext cx="2453335" cy="3657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>
                <a:solidFill>
                  <a:srgbClr val="0043DA"/>
                </a:solidFill>
              </a:rPr>
              <a:t>Q4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40442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인프라 구축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445368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마이그레이션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45029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404040"/>
                </a:solidFill>
              </a:rPr>
              <a:t>운영 준비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456133"/>
            <a:ext cx="1371600" cy="914400"/>
          </a:xfrm>
          <a:prstGeom prst="roundRect">
            <a:avLst/>
          </a:prstGeom>
          <a:solidFill>
            <a:srgbClr val="DCDCDC"/>
          </a:solidFill>
          <a:ln w="9525">
            <a:solidFill>
              <a:srgbClr val="B4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404040"/>
                </a:solidFill>
              </a:rPr>
              <a:t>보안/컴플라이언스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20240" y="2623322"/>
            <a:ext cx="2453335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VPC/네트워크 설계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73575" y="2623322"/>
            <a:ext cx="4906670" cy="54864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MSK 클러스터 구성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99785" y="3628248"/>
            <a:ext cx="2453335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파일럿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3120" y="3628248"/>
            <a:ext cx="3680460" cy="548640"/>
          </a:xfrm>
          <a:prstGeom prst="roundRect">
            <a:avLst/>
          </a:prstGeom>
          <a:solidFill>
            <a:srgbClr val="3A7BD5"/>
          </a:solidFill>
          <a:ln>
            <a:solidFill>
              <a:srgbClr val="3A7B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데이터 이전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53120" y="4633173"/>
            <a:ext cx="1839772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모니터링 구성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0245" y="4633173"/>
            <a:ext cx="2453335" cy="548640"/>
          </a:xfrm>
          <a:prstGeom prst="roundRect">
            <a:avLst/>
          </a:prstGeom>
          <a:solidFill>
            <a:srgbClr val="6B9FFF"/>
          </a:solidFill>
          <a:ln>
            <a:solidFill>
              <a:srgbClr val="6B9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운영팀 이관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20240" y="5639013"/>
            <a:ext cx="9813340" cy="548640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100">
                <a:solidFill>
                  <a:srgbClr val="FFFFFF"/>
                </a:solidFill>
              </a:rPr>
              <a:t>IAM/암호화/VPC 검증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 altLang="en-US" dirty="0"/>
              <a:t>L08. Funnel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5701" y="557784"/>
            <a:ext cx="32918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43DA"/>
                </a:solidFill>
                <a:latin typeface="프리젠테이션 7"/>
              </a:rPr>
              <a:t>L08. 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60927" y="557784"/>
            <a:ext cx="8431042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프리젠테이션 5"/>
              </a:rPr>
              <a:t>깔때기 다이어그램 — 단계별 필터링으로 최적 기술 선택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7344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프리젠테이션 7"/>
              </a:rPr>
              <a:t>MSK 도입 의사결정 깔때기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66874"/>
            <a:ext cx="117344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404040"/>
                </a:solidFill>
                <a:latin typeface="프리젠테이션 5"/>
              </a:rPr>
              <a:t>후보 기술부터 최종 선택까지 4가지 평가 기준으로 필터링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702052"/>
            <a:ext cx="7315200" cy="694944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3451860"/>
            <a:ext cx="6217920" cy="694944"/>
          </a:xfrm>
          <a:prstGeom prst="roundRect">
            <a:avLst/>
          </a:prstGeom>
          <a:solidFill>
            <a:srgbClr val="C8DCFF"/>
          </a:solidFill>
          <a:ln>
            <a:solidFill>
              <a:srgbClr val="C8D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554480" y="4200753"/>
            <a:ext cx="5120640" cy="694944"/>
          </a:xfrm>
          <a:prstGeom prst="roundRect">
            <a:avLst/>
          </a:prstGeom>
          <a:solidFill>
            <a:srgbClr val="8AB4F8"/>
          </a:solidFill>
          <a:ln>
            <a:solidFill>
              <a:srgbClr val="8AB4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103120" y="4950561"/>
            <a:ext cx="4023360" cy="694944"/>
          </a:xfrm>
          <a:prstGeom prst="roundRect">
            <a:avLst/>
          </a:prstGeom>
          <a:solidFill>
            <a:srgbClr val="3571F5"/>
          </a:solidFill>
          <a:ln>
            <a:solidFill>
              <a:srgbClr val="3571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651760" y="5700369"/>
            <a:ext cx="2926080" cy="694944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702052"/>
            <a:ext cx="731520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후보 기술 평가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Kafka · Kinesis · RabbitMQ · Pulsar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51860"/>
            <a:ext cx="621792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기술 적합성</a:t>
            </a:r>
          </a:p>
          <a:p>
            <a:pPr algn="ctr"/>
            <a:r>
              <a:rPr sz="1300" b="1">
                <a:solidFill>
                  <a:srgbClr val="0043DA"/>
                </a:solidFill>
                <a:latin typeface="프리젠테이션 7"/>
              </a:rPr>
              <a:t>처리량 100MB/s · 지연 10ms · 내구성 99.99%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200753"/>
            <a:ext cx="512064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운영 효율성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관리형 서비스 · AWS 통합 · 비용 최적화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4950561"/>
            <a:ext cx="402336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보안/컴플라이언스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IAM · TLS 암호화 · VPC 격리 · FIPS 140-2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5700369"/>
            <a:ext cx="2926080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Amazon MSK 선택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프리젠테이션 7"/>
              </a:rPr>
              <a:t>완전관리형 Kafka · 멀티AZ · AWS 네이티브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702052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4개 기술 초기 검토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3451860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Kafka · Kinesis 통과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4200753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Amazon MSK · Kinesis 잔류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4950561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404040"/>
                </a:solidFill>
                <a:latin typeface="프리젠테이션 5"/>
              </a:rPr>
              <a:t>MSK 단독 충족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5700369"/>
            <a:ext cx="3687775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043DA"/>
                </a:solidFill>
                <a:latin typeface="프리젠테이션 7"/>
              </a:rPr>
              <a:t>최종 채택 결정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457200" y="2560320"/>
            <a:ext cx="5303520" cy="4023360"/>
          </a:xfrm>
          <a:prstGeom prst="roundRect">
            <a:avLst/>
          </a:prstGeom>
          <a:solidFill>
            <a:srgbClr val="F8F9FA"/>
          </a:solidFill>
          <a:ln>
            <a:solidFill>
              <a:srgbClr val="F8F9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31280" y="2560320"/>
            <a:ext cx="5303520" cy="4023360"/>
          </a:xfrm>
          <a:prstGeom prst="roundRect">
            <a:avLst/>
          </a:prstGeom>
          <a:solidFill>
            <a:srgbClr val="E6F0FF"/>
          </a:solidFill>
          <a:ln>
            <a:solidFill>
              <a:srgbClr val="E6F0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944440" y="4480680"/>
            <a:ext cx="411480" cy="274320"/>
          </a:xfrm>
          <a:prstGeom prst="rightArrow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37160" y="2651760"/>
            <a:ext cx="1371600" cy="274320"/>
          </a:xfrm>
          <a:prstGeom prst="roundRect">
            <a:avLst/>
          </a:prstGeom>
          <a:solidFill>
            <a:srgbClr val="212121"/>
          </a:solidFill>
          <a:ln>
            <a:solidFill>
              <a:srgbClr val="2121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611040" y="2651760"/>
            <a:ext cx="137160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4806" y="557906"/>
            <a:ext cx="2719850" cy="932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12121"/>
                </a:solidFill>
                <a:latin typeface="Freesentation"/>
              </a:rPr>
              <a:t>1-1. As-Is / To-Be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63700" y="558800"/>
            <a:ext cx="7551483" cy="9379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12121"/>
                </a:solidFill>
                <a:latin typeface="Freesentation"/>
              </a:rPr>
              <a:t>온프레미스 Kafka에서 AWS MSK로의 전환 근거를 현황과 개선안으로 대비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00200"/>
            <a:ext cx="1127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043DA"/>
                </a:solidFill>
                <a:latin typeface="Freesentation"/>
              </a:rPr>
              <a:t>온프레미스 Kafka의 운영 한계와 MSK 전환 효과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5960"/>
            <a:ext cx="1127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관리 복잡도·확장성·비용 3가지 핵심 문제를 AWS MSK 완전 관리형으로 해소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160" y="2651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⚠ 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1040" y="26517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Freesentation"/>
              </a:rPr>
              <a:t>✓ To-Be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160" y="3017520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12121"/>
                </a:solidFill>
                <a:latin typeface="Freesentation"/>
              </a:rPr>
              <a:t>온프레미스 Kafka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1040" y="3017520"/>
            <a:ext cx="494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AWS MSK 도입 효과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160" y="3474720"/>
            <a:ext cx="4484640" cy="292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브로커 패치·업그레이드 전담 인력 2~3명 상시 필요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피크 트래픽 대비 서버 과잉 프로비저닝 — 비용 비효율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ZooKeeper 의존성으로 운영 복잡도 가중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장애 복구 수동 처리 — MTTR 평균 4시간 이상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1040" y="3474720"/>
            <a:ext cx="4484640" cy="2926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212121"/>
                </a:solidFill>
                <a:latin typeface="Freesentation"/>
              </a:rPr>
              <a:t>• AWS 완전 관리형 — 패치·모니터링 자동화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Serverless 옵션으로 수분 내 자동 스케일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KRaft 모드 지원 — ZooKeeper 의존성 제거</a:t>
            </a:r>
          </a:p>
          <a:p>
            <a:r>
              <a:rPr sz="1300" b="0">
                <a:solidFill>
                  <a:srgbClr val="212121"/>
                </a:solidFill>
                <a:latin typeface="Freesentation"/>
              </a:rPr>
              <a:t>• Multi-AZ 자동 복구 — MTTR 99% 단축</a:t>
            </a:r>
          </a:p>
        </p:txBody>
      </p:sp>
      <p:pic>
        <p:nvPicPr>
          <p:cNvPr id="19" name="Picture 18" descr="w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720" y="6172200"/>
            <a:ext cx="411480" cy="411480"/>
          </a:xfrm>
          <a:prstGeom prst="rect">
            <a:avLst/>
          </a:prstGeom>
        </p:spPr>
      </p:pic>
      <p:pic>
        <p:nvPicPr>
          <p:cNvPr id="20" name="Picture 19" descr="deplo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40800" y="6172200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 altLang="en-US" dirty="0" b="1"/>
              <a:t>1-2. 비용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5254" y="1524304"/>
            <a:ext cx="10742371" cy="304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043DA"/>
                </a:solidFill>
                <a:latin typeface="Freesentation"/>
              </a:rPr>
              <a:t>On-Premises Kafka vs AWS MSK — TCO 직접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5254" y="1872691"/>
            <a:ext cx="10742371" cy="261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Freesentation"/>
              </a:rPr>
              <a:t>비용·관리·가용성·확장성 4개 항목 기준 직접 비교 (2026년 4월 기준)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560320"/>
            <a:ext cx="5577840" cy="402336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56960" y="2560320"/>
            <a:ext cx="5577840" cy="4023360"/>
          </a:xfrm>
          <a:prstGeom prst="roundRect">
            <a:avLst/>
          </a:prstGeom>
          <a:solidFill>
            <a:srgbClr val="E6F0FF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17680" y="2651760"/>
            <a:ext cx="9144" cy="3840480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7160" y="2651760"/>
            <a:ext cx="1554480" cy="274320"/>
          </a:xfrm>
          <a:prstGeom prst="roundRect">
            <a:avLst/>
          </a:prstGeom>
          <a:solidFill>
            <a:srgbClr val="F8F9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212121"/>
                </a:solidFill>
              </a:rPr>
              <a:t>On-Premises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37720" y="2651760"/>
            <a:ext cx="1554480" cy="274320"/>
          </a:xfrm>
          <a:prstGeom prst="round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300">
                <a:solidFill>
                  <a:srgbClr val="FFFFFF"/>
                </a:solidFill>
              </a:rPr>
              <a:t>✓ AWS MSK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161" y="2873959"/>
            <a:ext cx="4967020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서버 구매 ₩5억+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전담 인력 2~3명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자체 HA 구성 필요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212121"/>
                </a:solidFill>
                <a:latin typeface="Freesentation"/>
              </a:rPr>
              <a:t>용량 증설에 수 주 소요</a:t>
            </a:r>
            <a:defRPr sz="1400" b="1"/>
          </a:p>
        </p:txBody>
      </p:sp>
      <p:sp>
        <p:nvSpPr>
          <p:cNvPr id="11" name="TextBox 10"/>
          <p:cNvSpPr txBox="1"/>
          <p:nvPr/>
        </p:nvSpPr>
        <p:spPr>
          <a:xfrm>
            <a:off x="6035954" y="2873959"/>
            <a:ext cx="4967020" cy="3136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초기 비용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초기 투자 0원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운영 관리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AWS 완전 관리형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가용성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99.9% SLA 보장</a:t>
            </a:r>
            <a:defRPr sz="1400" b="1"/>
          </a:p>
          <a:p>
            <a:pPr algn="l"/>
          </a:p>
          <a:p>
            <a:pPr algn="l"/>
            <a:r>
              <a:rPr sz="1100" b="0">
                <a:solidFill>
                  <a:srgbClr val="505050"/>
                </a:solidFill>
                <a:latin typeface="Freesentation"/>
              </a:rPr>
              <a:t>확장성</a:t>
            </a:r>
            <a:defRPr sz="1100" b="0"/>
          </a:p>
          <a:p>
            <a:pPr algn="l"/>
            <a:r>
              <a:rPr sz="1400" b="1">
                <a:solidFill>
                  <a:srgbClr val="0043DA"/>
                </a:solidFill>
                <a:latin typeface="Freesentation"/>
              </a:rPr>
              <a:t>수분 내 스케일 아웃</a:t>
            </a:r>
            <a:defRPr sz="1400" b="1"/>
          </a:p>
        </p:txBody>
      </p:sp>
      <p:pic>
        <p:nvPicPr>
          <p:cNvPr id="12" name="Picture 11" descr="ser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1904" y="5878677"/>
            <a:ext cx="411480" cy="411480"/>
          </a:xfrm>
          <a:prstGeom prst="rect">
            <a:avLst/>
          </a:prstGeom>
        </p:spPr>
      </p:pic>
      <p:pic>
        <p:nvPicPr>
          <p:cNvPr id="13" name="Picture 12" descr="clu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1612" y="5878677"/>
            <a:ext cx="411480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79;p32"/>
          <p:cNvSpPr txBox="1">
            <a:spLocks/>
          </p:cNvSpPr>
          <p:nvPr/>
        </p:nvSpPr>
        <p:spPr>
          <a:xfrm>
            <a:off x="0" y="2699114"/>
            <a:ext cx="12192000" cy="1019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Bef>
                <a:spcPts val="0"/>
              </a:spcBef>
              <a:buClr>
                <a:schemeClr val="lt1"/>
              </a:buClr>
              <a:buSzPts val="4000"/>
              <a:buNone/>
            </a:pPr>
            <a:r>
              <a:rPr lang="en-US" altLang="ko-KR" sz="6000" dirty="0">
                <a:solidFill>
                  <a:schemeClr val="bg1"/>
                </a:solidFill>
                <a:latin typeface="프리젠테이션 7 Bold" pitchFamily="2" charset="-127"/>
                <a:ea typeface="프리젠테이션 7 Bold" pitchFamily="2" charset="-127"/>
              </a:rPr>
              <a:t>Thank You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2036" y="378400"/>
            <a:ext cx="1329872" cy="33054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3398157" y="3870726"/>
            <a:ext cx="5395685" cy="543635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noAutofit/>
          </a:bodyPr>
          <a:lstStyle/>
          <a:p>
            <a:pPr latinLnBrk="0"/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GS</a:t>
            </a:r>
            <a:r>
              <a:rPr lang="ko-KR" altLang="en-US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네오텍의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 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IT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서비스 브랜드 </a:t>
            </a:r>
            <a:r>
              <a:rPr lang="en-US" altLang="ko-KR" sz="160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WiseN</a:t>
            </a:r>
            <a:r>
              <a:rPr lang="ko-KR" altLang="en-US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으로 진정한 프리미엄을 경험하세요</a:t>
            </a:r>
            <a:r>
              <a:rPr lang="en-US" altLang="ko-KR" sz="16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프리젠테이션 4 Regular" pitchFamily="2" charset="-127"/>
                <a:ea typeface="프리젠테이션 4 Regular" pitchFamily="2" charset="-127"/>
                <a:cs typeface="Pretendard" panose="02000503000000020004" pitchFamily="2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22360403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L06 Zigzag Timeline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54787" y="557784"/>
            <a:ext cx="2720340" cy="9326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00000"/>
                </a:solidFill>
                <a:latin typeface="Freesentation 7 Bold"/>
              </a:rPr>
              <a:t>L06. Zigzag Timeline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62756" y="558698"/>
            <a:ext cx="7550200" cy="9381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4A4A"/>
                </a:solidFill>
                <a:latin typeface="Freesentation 5 Medium"/>
              </a:rPr>
              <a:t>S자 지그재그 타임라인 — 시간 흐름 시각화</a:t>
            </a:r>
          </a:p>
        </p:txBody>
      </p:sp>
      <p:sp>
        <p:nvSpPr>
          <p:cNvPr id="6" name="Rectangle 5"/>
          <p:cNvSpPr/>
          <p:nvPr/>
        </p:nvSpPr>
        <p:spPr>
          <a:xfrm>
            <a:off x="355701" y="1496872"/>
            <a:ext cx="11481206" cy="9144"/>
          </a:xfrm>
          <a:prstGeom prst="rect">
            <a:avLst/>
          </a:prstGeom>
          <a:solidFill>
            <a:srgbClr val="DCDCDC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0043DA"/>
                </a:solidFill>
                <a:latin typeface="Freesentation"/>
              </a:rPr>
              <a:t>온프레미스 Kafka → AWS MSK 전환 로드맵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965960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현황 분석부터 안정화까지 5분기 전환 타임라인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114800"/>
            <a:ext cx="11277295" cy="36576"/>
          </a:xfrm>
          <a:prstGeom prst="rect">
            <a:avLst/>
          </a:prstGeom>
          <a:solidFill>
            <a:srgbClr val="0043DA"/>
          </a:solidFill>
          <a:ln>
            <a:solidFill>
              <a:srgbClr val="0043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544" y="228600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270455" y="429768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228600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82104" y="429768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037015" y="2286000"/>
            <a:ext cx="2011680" cy="1645920"/>
          </a:xfrm>
          <a:prstGeom prst="rect">
            <a:avLst/>
          </a:prstGeom>
          <a:solidFill>
            <a:srgbClr val="F8F9FA"/>
          </a:solidFill>
          <a:ln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29944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84855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440680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696504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951415" y="4023360"/>
            <a:ext cx="182880" cy="182880"/>
          </a:xfrm>
          <a:prstGeom prst="ellipse">
            <a:avLst/>
          </a:prstGeom>
          <a:solidFill>
            <a:srgbClr val="0043D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" y="2286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Q1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" y="25146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현황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" y="278892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온프레미스 Kafka 현황 파악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운영 문제점 정리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비용·성능 기준 수립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70455" y="42976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Q2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70455" y="4526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아키텍처 설계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70455" y="4800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MSK 클러스터 유형 선택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네트워크/보안 설계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마이그레이션 계획 수립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2286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Q3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25146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파일럿 구축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278892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개발 환경 MSK 구축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MirrorMaker 2 설정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동기화 검증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82104" y="42976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Q4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82104" y="45262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전환 실행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2104" y="480060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프로덕션 전환 실행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데이터 마이그레이션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롤백 계획 준비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37015" y="228600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0043DA"/>
                </a:solidFill>
                <a:latin typeface="Freesentation"/>
              </a:rPr>
              <a:t>Q1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37015" y="25146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0043DA"/>
                </a:solidFill>
                <a:latin typeface="Freesentation"/>
              </a:rPr>
              <a:t>안정화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37015" y="278892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4A4A4A"/>
                </a:solidFill>
                <a:latin typeface="Freesentation"/>
              </a:rPr>
              <a:t>• 모니터링 체계 수립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비용 최적화</a:t>
            </a:r>
          </a:p>
          <a:p>
            <a:r>
              <a:rPr sz="1300">
                <a:solidFill>
                  <a:srgbClr val="4A4A4A"/>
                </a:solidFill>
                <a:latin typeface="Freesentation"/>
              </a:rPr>
              <a:t>• 운영 매뉴얼 완성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5">
      <a:dk1>
        <a:sysClr val="windowText" lastClr="000000"/>
      </a:dk1>
      <a:lt1>
        <a:sysClr val="window" lastClr="FFFFFF"/>
      </a:lt1>
      <a:dk2>
        <a:srgbClr val="A5A5A5"/>
      </a:dk2>
      <a:lt2>
        <a:srgbClr val="E7E6E6"/>
      </a:lt2>
      <a:accent1>
        <a:srgbClr val="0043DA"/>
      </a:accent1>
      <a:accent2>
        <a:srgbClr val="4CB88F"/>
      </a:accent2>
      <a:accent3>
        <a:srgbClr val="EE8150"/>
      </a:accent3>
      <a:accent4>
        <a:srgbClr val="2A6FDE"/>
      </a:accent4>
      <a:accent5>
        <a:srgbClr val="000000"/>
      </a:accent5>
      <a:accent6>
        <a:srgbClr val="000000"/>
      </a:accent6>
      <a:hlink>
        <a:srgbClr val="0563C1"/>
      </a:hlink>
      <a:folHlink>
        <a:srgbClr val="954F72"/>
      </a:folHlink>
    </a:clrScheme>
    <a:fontScheme name="GS네오텍">
      <a:majorFont>
        <a:latin typeface="프리젠테이션 7 Bold"/>
        <a:ea typeface="프리젠테이션 7 Bold"/>
        <a:cs typeface=""/>
      </a:majorFont>
      <a:minorFont>
        <a:latin typeface="프리젠테이션 4 Regular"/>
        <a:ea typeface="프리젠테이션 4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6792</TotalTime>
  <Words>594</Words>
  <Application>Microsoft Macintosh PowerPoint</Application>
  <PresentationFormat>Widescreen</PresentationFormat>
  <Paragraphs>135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7" baseType="lpstr">
      <vt:lpstr>Freesentation</vt:lpstr>
      <vt:lpstr>맑은 고딕</vt:lpstr>
      <vt:lpstr>Pretendard</vt:lpstr>
      <vt:lpstr>Pretendard ExtraBold</vt:lpstr>
      <vt:lpstr>프리젠테이션 4 Regular</vt:lpstr>
      <vt:lpstr>프리젠테이션 6 SemiBold</vt:lpstr>
      <vt:lpstr>프리젠테이션 7 Bold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디자이너</dc:creator>
  <cp:lastModifiedBy>이 홍섭</cp:lastModifiedBy>
  <cp:revision>774</cp:revision>
  <dcterms:created xsi:type="dcterms:W3CDTF">2022-03-02T05:40:55Z</dcterms:created>
  <dcterms:modified xsi:type="dcterms:W3CDTF">2026-04-15T17:20:02Z</dcterms:modified>
</cp:coreProperties>
</file>