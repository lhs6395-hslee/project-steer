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14" r:id="rId21"/>
    <p:sldId id="382" r:id="rId22"/>
    <p:sldId id="383" r:id="rId23"/>
    <p:sldId id="384" r:id="rId24"/>
    <p:sldId id="385" r:id="rId25"/>
    <p:sldId id="386" r:id="rId26"/>
    <p:sldId id="387" r:id="rId27"/>
    <p:sldId id="35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  <p14:sldId id="377"/>
            <p14:sldId id="378"/>
            <p14:sldId id="379"/>
            <p14:sldId id="380"/>
            <p14:sldId id="381"/>
            <p14:sldId id="314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56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5454814" y="1560692"/>
            <a:ext cx="6461651" cy="1543780"/>
          </a:xfrm>
          <a:prstGeom prst="rect">
            <a:avLst/>
          </a:prstGeom>
          <a:solidFill>
            <a:srgbClr val="2A6FDE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30" y="1560692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2A6FDE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2A6FD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5" y="1560691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배치 처리(Batch) 기반 데이터 파이프라인 한계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처리 지연 30분 이상 → 실시간 의사결정·알림 불가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시스템 간 강결합 → 마이크로서비스 전환 구조적 장벽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대용량 로그 적체 → 장애 감지·대응 지연 심화</a:t>
            </a:r>
          </a:p>
        </p:txBody>
      </p:sp>
      <p:cxnSp>
        <p:nvCxnSpPr>
          <p:cNvPr id="41" name="직선 연결선 40"/>
          <p:cNvCxnSpPr/>
          <p:nvPr/>
        </p:nvCxnSpPr>
        <p:spPr>
          <a:xfrm flipV="1">
            <a:off x="5454815" y="1560691"/>
            <a:ext cx="6461650" cy="21252"/>
          </a:xfrm>
          <a:prstGeom prst="line">
            <a:avLst/>
          </a:prstGeom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5454813" y="3275389"/>
            <a:ext cx="6461651" cy="1543780"/>
          </a:xfrm>
          <a:prstGeom prst="rect">
            <a:avLst/>
          </a:prstGeom>
          <a:solidFill>
            <a:srgbClr val="4CB88F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9" y="3275389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4CB88F"/>
                </a:solidFill>
                <a:latin typeface="프리젠테이션 7 Bold" pitchFamily="2" charset="-127"/>
                <a:ea typeface="프리젠테이션 7 Bold" pitchFamily="2" charset="-127"/>
              </a:rPr>
              <a:t>SOLUTION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4" y="3275388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AWS MSK 완전 관리형 Kafka 클러스터 도입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초당 수십만 건 메시지 실시간 처리 · 분산 스트리밍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VPC 격리 + IAM 인증 + TLS 1.2 — 엔터프라이즈 보안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패치·스케일링·모니터링 자동화 → 운영 부담 제거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5454812" y="4987648"/>
            <a:ext cx="6461651" cy="1543780"/>
          </a:xfrm>
          <a:prstGeom prst="rect">
            <a:avLst/>
          </a:prstGeom>
          <a:solidFill>
            <a:srgbClr val="EE815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8" y="4987648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EE8150"/>
                </a:solidFill>
                <a:latin typeface="프리젠테이션 7 Bold" pitchFamily="2" charset="-127"/>
                <a:ea typeface="프리젠테이션 7 Bold" pitchFamily="2" charset="-127"/>
              </a:rPr>
              <a:t>RESULT</a:t>
            </a:r>
            <a:endParaRPr kumimoji="1" lang="ko-KR" altLang="en-US" sz="1200" b="1" dirty="0">
              <a:solidFill>
                <a:srgbClr val="EE8150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3" y="4987647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실시간 처리 지연: 30분 → 500ms 이하 단축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운영 비용 40% 절감 (관리형 서비스 전환)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서비스 간 느슨한 결합 — 독립 배포·확장 가능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장애 감지·대응 시간 90% 단축</a:t>
            </a:r>
          </a:p>
        </p:txBody>
      </p:sp>
      <p:cxnSp>
        <p:nvCxnSpPr>
          <p:cNvPr id="34" name="직선 연결선 33"/>
          <p:cNvCxnSpPr/>
          <p:nvPr/>
        </p:nvCxnSpPr>
        <p:spPr>
          <a:xfrm flipV="1">
            <a:off x="5454815" y="3249791"/>
            <a:ext cx="6461650" cy="21252"/>
          </a:xfrm>
          <a:prstGeom prst="line">
            <a:avLst/>
          </a:prstGeom>
          <a:ln w="12700">
            <a:solidFill>
              <a:srgbClr val="4CB8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 flipV="1">
            <a:off x="5454815" y="4976991"/>
            <a:ext cx="6461650" cy="21252"/>
          </a:xfrm>
          <a:prstGeom prst="line">
            <a:avLst/>
          </a:prstGeom>
          <a:ln w="12700">
            <a:solidFill>
              <a:srgbClr val="EE81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5545A5-8B1D-F9BC-90E3-B32618A37DC8}"/>
              </a:ext>
            </a:extLst>
          </p:cNvPr>
          <p:cNvSpPr txBox="1"/>
          <p:nvPr/>
        </p:nvSpPr>
        <p:spPr>
          <a:xfrm>
            <a:off x="354288" y="557760"/>
            <a:ext cx="2719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0000"/>
                </a:solidFill>
                <a:latin typeface="Freesentation"/>
              </a:rPr>
              <a:t>L17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r>
              <a:rPr sz="2000" b="1" dirty="0">
                <a:solidFill>
                  <a:srgbClr val="000000"/>
                </a:solidFill>
                <a:latin typeface="Freesentation"/>
              </a:rPr>
              <a:t>. Image Left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endParaRPr sz="2000" b="1" dirty="0">
              <a:solidFill>
                <a:srgbClr val="000000"/>
              </a:solidFill>
              <a:latin typeface="Freesentati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A7F15-4806-D4C2-0C08-573E8EE768E6}"/>
              </a:ext>
            </a:extLst>
          </p:cNvPr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7171A-1A94-A6F8-A062-8850F6BC18B4}"/>
              </a:ext>
            </a:extLst>
          </p:cNvPr>
          <p:cNvSpPr/>
          <p:nvPr/>
        </p:nvSpPr>
        <p:spPr>
          <a:xfrm>
            <a:off x="354288" y="1581943"/>
            <a:ext cx="4933838" cy="4949484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6466F-8EB5-A257-60CE-0DE7A243E6D7}"/>
              </a:ext>
            </a:extLst>
          </p:cNvPr>
          <p:cNvSpPr txBox="1"/>
          <p:nvPr/>
        </p:nvSpPr>
        <p:spPr>
          <a:xfrm>
            <a:off x="354287" y="3910491"/>
            <a:ext cx="493383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16297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6831</TotalTime>
  <Words>2900</Words>
  <Application>Microsoft Macintosh PowerPoint</Application>
  <PresentationFormat>Widescreen</PresentationFormat>
  <Paragraphs>507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Freesentation</vt:lpstr>
      <vt:lpstr>Freesentation 7 Bold</vt:lpstr>
      <vt:lpstr>맑은 고딕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Courier New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777</cp:revision>
  <dcterms:created xsi:type="dcterms:W3CDTF">2022-03-02T05:40:55Z</dcterms:created>
  <dcterms:modified xsi:type="dcterms:W3CDTF">2026-04-20T07:04:56Z</dcterms:modified>
</cp:coreProperties>
</file>