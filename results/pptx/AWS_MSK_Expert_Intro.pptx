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58" r:id="rId2"/>
    <p:sldId id="304" r:id="rId3"/>
    <p:sldId id="363" r:id="rId4"/>
    <p:sldId id="364" r:id="rId5"/>
    <p:sldId id="365" r:id="rId6"/>
    <p:sldId id="366" r:id="rId7"/>
    <p:sldId id="367" r:id="rId8"/>
    <p:sldId id="374" r:id="rId20"/>
    <p:sldId id="369" r:id="rId16"/>
    <p:sldId id="371" r:id="rId18"/>
    <p:sldId id="372" r:id="rId17"/>
    <p:sldId id="373" r:id="rId19"/>
    <p:sldId id="356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07F8F92-E977-4AF4-A17B-064B3F7C6292}">
          <p14:sldIdLst>
            <p14:sldId id="358"/>
          </p14:sldIdLst>
        </p14:section>
        <p14:section name="목차" id="{274BBB5B-E2ED-467F-AF7A-784F9A4055E0}">
          <p14:sldIdLst>
            <p14:sldId id="304"/>
          </p14:sldIdLst>
        </p14:section>
        <p14:section name="본문" id="{2BBFEB54-47FC-4EC8-AE18-073925A68771}">
          <p14:sldIdLst>
            <p14:sldId id="363"/>
            <p14:sldId id="364"/>
            <p14:sldId id="365"/>
            <p14:sldId id="366"/>
            <p14:sldId id="367"/>
          </p14:sldIdLst>
        </p14:section>
        <p14:section name="끝맺음" id="{C9A1EC51-E183-4528-B5C9-C551F42A7D16}">
          <p14:sldIdLst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DA"/>
    <a:srgbClr val="D9E5FF"/>
    <a:srgbClr val="B7CDFF"/>
    <a:srgbClr val="F2F5FD"/>
    <a:srgbClr val="F8FAFE"/>
    <a:srgbClr val="FBFBFB"/>
    <a:srgbClr val="89AEFF"/>
    <a:srgbClr val="3372FF"/>
    <a:srgbClr val="D1DFFF"/>
    <a:srgbClr val="EE8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19" autoAdjust="0"/>
    <p:restoredTop sz="94660"/>
  </p:normalViewPr>
  <p:slideViewPr>
    <p:cSldViewPr snapToGrid="0">
      <p:cViewPr varScale="1">
        <p:scale>
          <a:sx n="69" d="100"/>
          <a:sy n="69" d="100"/>
        </p:scale>
        <p:origin x="216" y="1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Relationship Id="rId17" Type="http://schemas.openxmlformats.org/officeDocument/2006/relationships/slide" Target="slides/slide10.xml"/><Relationship Id="rId18" Type="http://schemas.openxmlformats.org/officeDocument/2006/relationships/slide" Target="slides/slide9.xml"/><Relationship Id="rId19" Type="http://schemas.openxmlformats.org/officeDocument/2006/relationships/slide" Target="slides/slide11.xml"/><Relationship Id="rId20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0D723-4A74-427C-8704-F358CE22FDDC}" type="datetimeFigureOut">
              <a:rPr lang="ko-KR" altLang="en-US" smtClean="0"/>
              <a:t>2026. 4. 16.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1117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78F70-37B2-44B5-9F4B-14A4EA9C44E7}" type="datetimeFigureOut">
              <a:rPr lang="ko-KR" altLang="en-US" smtClean="0"/>
              <a:t>2026. 4. 16.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36B27-1065-44B6-A758-016B3436B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0647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78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36000" y="1496718"/>
            <a:ext cx="11520000" cy="0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81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496718"/>
            <a:ext cx="12192001" cy="5361282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93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10800000">
            <a:off x="0" y="1496718"/>
            <a:ext cx="12192001" cy="5361282"/>
          </a:xfrm>
          <a:prstGeom prst="rect">
            <a:avLst/>
          </a:prstGeom>
          <a:gradFill>
            <a:gsLst>
              <a:gs pos="100000">
                <a:srgbClr val="0043DA">
                  <a:alpha val="4000"/>
                </a:srgb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52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3367314" y="397805"/>
            <a:ext cx="0" cy="646019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359076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구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3367314" y="397805"/>
            <a:ext cx="8817263" cy="6460195"/>
          </a:xfrm>
          <a:prstGeom prst="rect">
            <a:avLst/>
          </a:prstGeom>
          <a:solidFill>
            <a:schemeClr val="accent5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17" name="직선 연결선 16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16560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강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58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523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9537-3B6C-4308-9077-364C9BAEFA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3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9" r:id="rId2"/>
    <p:sldLayoutId id="2147483674" r:id="rId3"/>
    <p:sldLayoutId id="2147483676" r:id="rId4"/>
    <p:sldLayoutId id="2147483670" r:id="rId5"/>
    <p:sldLayoutId id="2147483671" r:id="rId6"/>
    <p:sldLayoutId id="2147483673" r:id="rId7"/>
    <p:sldLayoutId id="2147483675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10">
          <p15:clr>
            <a:srgbClr val="F26B43"/>
          </p15:clr>
        </p15:guide>
        <p15:guide id="4" pos="234">
          <p15:clr>
            <a:srgbClr val="F26B43"/>
          </p15:clr>
        </p15:guide>
        <p15:guide id="5" orient="horz" pos="4110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1" y="5948604"/>
            <a:ext cx="1329872" cy="33054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26616" y="1490472"/>
            <a:ext cx="9144000" cy="25603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Amazon Managed Streaming</a:t>
            </a:r>
          </a:p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for Apache Kafka</a:t>
            </a:r>
          </a:p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(MSK)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8715" y="5760410"/>
            <a:ext cx="1940700" cy="9231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고객의 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Digitalization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을 선도하는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</a:t>
            </a:r>
          </a:p>
          <a:p>
            <a:pPr latinLnBrk="0">
              <a:lnSpc>
                <a:spcPct val="150000"/>
              </a:lnSpc>
            </a:pP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DX 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전문기업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alpha val="80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88000" y="5760410"/>
            <a:ext cx="5965370" cy="9231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AI, Cloud, </a:t>
            </a:r>
            <a:r>
              <a:rPr lang="en-US" altLang="ko-KR" sz="11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BigData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CDN, Contact Center,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스마트 물류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스마트 인프라 등 다양한 영역에서 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alpha val="80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고객의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Business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를 선도하는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Digital Innovator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입니다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6616" y="4187952"/>
            <a:ext cx="9144000" cy="5436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Expert Introduction — 아키텍처 · 핵심 기능 · 운영 전략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355601" y="5759125"/>
            <a:ext cx="11444514" cy="0"/>
          </a:xfrm>
          <a:prstGeom prst="line">
            <a:avLst/>
          </a:prstGeom>
          <a:ln w="3175">
            <a:solidFill>
              <a:schemeClr val="bg1">
                <a:lumMod val="75000"/>
                <a:alpha val="3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7415" y="29028"/>
            <a:ext cx="1940700" cy="397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8715" y="29028"/>
            <a:ext cx="1940700" cy="397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04/16</a:t>
            </a:r>
          </a:p>
        </p:txBody>
      </p:sp>
    </p:spTree>
    <p:extLst>
      <p:ext uri="{BB962C8B-B14F-4D97-AF65-F5344CB8AC3E}">
        <p14:creationId xmlns:p14="http://schemas.microsoft.com/office/powerpoint/2010/main" val="127938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54805" y="545902"/>
            <a:ext cx="3112294" cy="5107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dirty="0"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CONTENTS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7314" y="1715534"/>
            <a:ext cx="1161474" cy="46166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1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3</a:t>
            </a:r>
          </a:p>
          <a:p>
            <a:pPr algn="ctr" latinLnBrk="0">
              <a:lnSpc>
                <a:spcPct val="250000"/>
              </a:lnSpc>
            </a:pP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algn="ctr" latinLnBrk="0">
              <a:lnSpc>
                <a:spcPct val="250000"/>
              </a:lnSpc>
            </a:pP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43668" y="1715534"/>
            <a:ext cx="5129783" cy="46166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MSK 아키텍처 및 핵심 개념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MSK 클러스터 구성과 핵심 기능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MSK 운영 전략 및 Best Practices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3806048" y="2760055"/>
            <a:ext cx="8385952" cy="2761457"/>
            <a:chOff x="3764222" y="1060078"/>
            <a:chExt cx="5147549" cy="1685118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3764222" y="1060078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>
              <a:off x="3764222" y="1621784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764222" y="2183490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764222" y="2745196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55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628900"/>
            <a:ext cx="5394960" cy="38404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81308" y="2628900"/>
            <a:ext cx="5650992" cy="2057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81308" y="4960620"/>
            <a:ext cx="5650992" cy="15087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4979662"/>
            <a:ext cx="4663440" cy="1256546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34440" y="5242175"/>
            <a:ext cx="1097280" cy="457200"/>
          </a:xfrm>
          <a:prstGeom prst="roundRect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06040" y="5242175"/>
            <a:ext cx="1097280" cy="45720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77640" y="5242175"/>
            <a:ext cx="1097280" cy="457200"/>
          </a:xfrm>
          <a:prstGeom prst="roundRect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2331720" y="5356475"/>
            <a:ext cx="274320" cy="228600"/>
          </a:xfrm>
          <a:prstGeom prst="rightArrow">
            <a:avLst/>
          </a:prstGeom>
          <a:solidFill>
            <a:srgbClr val="969696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703320" y="5356475"/>
            <a:ext cx="274320" cy="228600"/>
          </a:xfrm>
          <a:prstGeom prst="rightArrow">
            <a:avLst/>
          </a:prstGeom>
          <a:solidFill>
            <a:srgbClr val="969696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anchor="t" lIns="0" tIns="0" rIns="0" bIns="0"/>
          <a:lstStyle/>
          <a:p>
            <a:r>
              <a:rPr sz="2000" b="1" dirty="0">
                <a:latin typeface="프리젠테이션 7 Bold"/>
              </a:rPr>
              <a:t>L01. Bento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dirty="0">
                <a:latin typeface="프리젠테이션 5 Medium"/>
                <a:solidFill>
                  <a:schemeClr val="tx1">
                    <a:lumMod val="75000"/>
                    <a:lumOff val="25000"/>
                  </a:schemeClr>
                </a:solidFill>
              </a:rPr>
              <a:t>좌 50% + 우 2분할 레이아웃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핵심 아키텍처와 클러스터 유형별 특성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아키텍처 개요, 클러스터 유형(Provisioned/Serverless/Express), 보안 체계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0" y="2859982"/>
            <a:ext cx="50349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MSK 아키텍처 개요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00" y="3288022"/>
            <a:ext cx="5034960" cy="1554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완전관리형 Apache Kafka 서비스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Multi-AZ 자동 복제 및 고가용성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브로커/파티션 자동 스케일링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AWS 서비스 네이티브 통합 (Lambda, Kinesis, Glue, S3)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오픈소스 호환 — 코드 변경 불필요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1308" y="2706067"/>
            <a:ext cx="529099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클러스터 유형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1308" y="3134107"/>
            <a:ext cx="5290992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Provisioned: 직접 지정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Serverless: 자동 스케일링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Express: 고성능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1308" y="5006988"/>
            <a:ext cx="529099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보안 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1308" y="5435028"/>
            <a:ext cx="5290992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IAM / SASL-SCRAM / mTLS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TLS + KMS 암호화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Security Group 접근 제어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42175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Producer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5242175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MSK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5242175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Consumer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45095"/>
            <a:ext cx="1098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A4A4A"/>
                </a:solidFill>
                <a:latin typeface="Freesentation"/>
              </a:rPr>
              <a:t>App / 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745095"/>
            <a:ext cx="1098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A4A4A"/>
                </a:solidFill>
                <a:latin typeface="Freesentation"/>
              </a:rPr>
              <a:t>Topic/Part.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5745095"/>
            <a:ext cx="1098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A4A4A"/>
                </a:solidFill>
                <a:latin typeface="Freesentation"/>
              </a:rPr>
              <a:t>Consumer Grp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4133" y="2674620"/>
            <a:ext cx="1828800" cy="1188720"/>
          </a:xfrm>
          <a:prstGeom prst="roundRect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Producer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95630" y="3086374"/>
            <a:ext cx="457200" cy="365760"/>
          </a:xfrm>
          <a:prstGeom prst="rightArrow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35710" y="2674620"/>
            <a:ext cx="5120640" cy="1188720"/>
          </a:xfrm>
          <a:prstGeom prst="roundRect">
            <a:avLst/>
          </a:prstGeom>
          <a:solidFill>
            <a:srgbClr val="E6F0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15710" y="2711450"/>
            <a:ext cx="47606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latin typeface="Freesentation"/>
                <a:solidFill>
                  <a:srgbClr val="1B3A5C"/>
                </a:solidFill>
              </a:rPr>
              <a:t>MSK Cluster (Multi-AZ Brokers)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8590" y="3268980"/>
            <a:ext cx="1494129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Broker (AZ-a)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880" y="3268980"/>
            <a:ext cx="1494129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Broker (AZ-b)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81169" y="3268980"/>
            <a:ext cx="1494129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Broker (AZ-c)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9230" y="3086374"/>
            <a:ext cx="457200" cy="365760"/>
          </a:xfrm>
          <a:prstGeom prst="rightArrow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79310" y="2674620"/>
            <a:ext cx="1828800" cy="1188720"/>
          </a:xfrm>
          <a:prstGeom prst="roundRect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Consumer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37660"/>
            <a:ext cx="3605479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3108" y="4137660"/>
            <a:ext cx="3605479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29016" y="4137660"/>
            <a:ext cx="3605479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200" y="4230996"/>
            <a:ext cx="3245479" cy="3044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핵심 구성요소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0" y="4643491"/>
            <a:ext cx="3245479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Broker: 메시지 저장/전달 노드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Topic: 메시지 카테고리 단위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Partition: 병렬 처리 단위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Replication Factor: 데이터 복제 수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ZooKeeper / KRaft: 메타데이터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3108" y="4230996"/>
            <a:ext cx="3245479" cy="3044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네트워크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3108" y="4643491"/>
            <a:ext cx="3245479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VPC 내 Private Subnet 배치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Security Group 기반 접근 제어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ENI: 브로커별 네트워크 인터페이스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PrivateLink: Cross-VPC 연결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Multi-AZ 자동 분산 배치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9016" y="4230996"/>
            <a:ext cx="3245479" cy="3044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스토리지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9016" y="4643491"/>
            <a:ext cx="3245479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EBS gp3: 기본 브로커 스토리지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Provisioned IOPS: 고성능 워크로드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Tiered Storage: S3 기반 장기 보관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자동 확장: 디스크 용량 자동 증설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보존 기간별 계층화 전략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anchor="t" lIns="0" tIns="0" rIns="0" bIns="0"/>
          <a:lstStyle/>
          <a:p>
            <a:r>
              <a:rPr sz="2000" b="1" dirty="0">
                <a:latin typeface="프리젠테이션 7 Bold"/>
              </a:rPr>
              <a:t>L02. Three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dirty="0">
                <a:latin typeface="프리젠테이션 5 Medium"/>
                <a:solidFill>
                  <a:schemeClr val="tx1">
                    <a:lumMod val="75000"/>
                    <a:lumOff val="25000"/>
                  </a:schemeClr>
                </a:solidFill>
              </a:rPr>
              <a:t>3열 카드 레이아웃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Producer → MSK Cluster → Consumer 데이터 흐름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메시지 생산부터 소비까지의 전체 아키텍처 구성도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4093" y="262890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33190" y="262890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4093" y="4732020"/>
            <a:ext cx="5394960" cy="17373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3190" y="4732020"/>
            <a:ext cx="5394960" cy="17373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4093" y="2691622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브로커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3190" y="2691622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스토리지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093" y="4789548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모니터링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190" y="4789548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MSK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093" y="3165382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Multi-AZ 자동 분산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장애 시 자동 복구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인스턴스 타입 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3190" y="3165382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EBS gp3 기본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Tiered Storage (S3)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자동 디스크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093" y="5263308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CloudWatch 3단계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Prometheus 호환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Broker 로그 전송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190" y="5263308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Kafka Connect 관리형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Source/Sink 플러그인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Auto Scaling</a:t>
            </a:r>
          </a:p>
        </p:txBody>
      </p:sp>
      <p:pic>
        <p:nvPicPr>
          <p:cNvPr id="15" name="Picture 14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784" y="2766060"/>
            <a:ext cx="411480" cy="411480"/>
          </a:xfrm>
          <a:prstGeom prst="rect">
            <a:avLst/>
          </a:prstGeom>
        </p:spPr>
      </p:pic>
      <p:pic>
        <p:nvPicPr>
          <p:cNvPr id="16" name="Picture 15" descr="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064" y="2766060"/>
            <a:ext cx="411480" cy="411480"/>
          </a:xfrm>
          <a:prstGeom prst="rect">
            <a:avLst/>
          </a:prstGeom>
        </p:spPr>
      </p:pic>
      <p:pic>
        <p:nvPicPr>
          <p:cNvPr id="17" name="Picture 16" descr="monit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784" y="4869180"/>
            <a:ext cx="411480" cy="411480"/>
          </a:xfrm>
          <a:prstGeom prst="rect">
            <a:avLst/>
          </a:prstGeom>
        </p:spPr>
      </p:pic>
      <p:pic>
        <p:nvPicPr>
          <p:cNvPr id="18" name="Picture 17" descr="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064" y="4869180"/>
            <a:ext cx="41148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anchor="t" lIns="0" tIns="0" rIns="0" bIns="0"/>
          <a:lstStyle/>
          <a:p>
            <a:r>
              <a:rPr sz="2000" b="1" dirty="0">
                <a:latin typeface="프리젠테이션 7 Bold"/>
              </a:rPr>
              <a:t>L03. Grid 2x2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dirty="0">
                <a:latin typeface="프리젠테이션 5 Medium"/>
                <a:solidFill>
                  <a:schemeClr val="tx1">
                    <a:lumMod val="75000"/>
                    <a:lumOff val="25000"/>
                  </a:schemeClr>
                </a:solidFill>
              </a:rPr>
              <a:t>2x2 카드 그리드 레이아웃 테스트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클러스터 운영 핵심 요소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브로커 관리, 스토리지, 모니터링, MSK Connect 통합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1.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2988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2. 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3.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3649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4. 운영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2988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08776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3649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200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VPC/Subnet 설계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브로커 수 결정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보안 그룹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2988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클러스터 생성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인증 방식 설정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암호화 활성화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776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Producer 연결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MSK Connect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PrivateLink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3649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모니터링 구성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파티션 리밸런싱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비용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anchor="t" lIns="0" tIns="0" rIns="0" bIns="0"/>
          <a:lstStyle/>
          <a:p>
            <a:r>
              <a:rPr sz="2000" b="1" dirty="0">
                <a:latin typeface="프리젠테이션 7 Bold"/>
              </a:rPr>
              <a:t>L04. Process Arrow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dirty="0">
                <a:latin typeface="프리젠테이션 5 Medium"/>
                <a:solidFill>
                  <a:schemeClr val="tx1">
                    <a:lumMod val="75000"/>
                    <a:lumOff val="25000"/>
                  </a:schemeClr>
                </a:solidFill>
              </a:rPr>
              <a:t>4단계 프로세스 화살표 레이아웃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도입 4단계 프로세스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설계 → 생성 → 연결 → 운영 단계별 핵심 작업 및 체크포인트</a:t>
            </a:r>
          </a:p>
        </p:txBody>
      </p:sp>
      <p:pic>
        <p:nvPicPr>
          <p:cNvPr id="20" name="Picture 19" descr="L04_rId2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875020"/>
            <a:ext cx="411480" cy="411480"/>
          </a:xfrm>
          <a:prstGeom prst="rect">
            <a:avLst/>
          </a:prstGeom>
        </p:spPr>
      </p:pic>
      <p:pic>
        <p:nvPicPr>
          <p:cNvPr id="21" name="Picture 20" descr="L04_rId3_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5875020"/>
            <a:ext cx="411480" cy="41148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5" y="5875020"/>
            <a:ext cx="411480" cy="41148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6536" y="58750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628900"/>
            <a:ext cx="2646273" cy="457200"/>
          </a:xfrm>
          <a:prstGeom prst="roundRect">
            <a:avLst/>
          </a:prstGeom>
          <a:solidFill>
            <a:srgbClr val="001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Phase 1: 평가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2988" y="2628900"/>
            <a:ext cx="2646273" cy="45720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Phase 2: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2628900"/>
            <a:ext cx="2646273" cy="457200"/>
          </a:xfrm>
          <a:prstGeom prst="roundRect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Phase 3: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3649" y="2628900"/>
            <a:ext cx="2646273" cy="457200"/>
          </a:xfrm>
          <a:prstGeom prst="roundRect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Phase 4: 운영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68980"/>
            <a:ext cx="2646273" cy="3200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2988" y="3268980"/>
            <a:ext cx="2646273" cy="3200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08776" y="3268980"/>
            <a:ext cx="2646273" cy="3200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3649" y="3268980"/>
            <a:ext cx="2646273" cy="3200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200" y="3390535"/>
            <a:ext cx="2286273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현재 환경 분석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워크로드 파악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비용/성능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2988" y="3390535"/>
            <a:ext cx="2286273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클러스터 유형 선택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네트워크 설계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보안 아키텍처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776" y="3390535"/>
            <a:ext cx="2286273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클러스터 프로비저닝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MirrorMaker 설정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데이터 동기화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3649" y="3390535"/>
            <a:ext cx="2286273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모니터링 대시보드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알림 정책 설정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성능 튜닝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anchor="t" lIns="0" tIns="0" rIns="0" bIns="0"/>
          <a:lstStyle/>
          <a:p>
            <a:r>
              <a:rPr sz="2000" b="1" dirty="0">
                <a:latin typeface="프리젠테이션 7 Bold"/>
              </a:rPr>
              <a:t>L05. Phased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dirty="0">
                <a:latin typeface="프리젠테이션 5 Medium"/>
                <a:solidFill>
                  <a:schemeClr val="tx1">
                    <a:lumMod val="75000"/>
                    <a:lumOff val="25000"/>
                  </a:schemeClr>
                </a:solidFill>
              </a:rPr>
              <a:t>단계별 그라데이션 컬럼 레이아웃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전환 4단계 로드맵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평가 → 설계 → 구축 → 운영 단계별 주요 액션과 산출물</a:t>
            </a:r>
          </a:p>
        </p:txBody>
      </p:sp>
      <p:pic>
        <p:nvPicPr>
          <p:cNvPr id="20" name="Picture 19" descr="L05_rId2_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942" y="5875934"/>
            <a:ext cx="411480" cy="411480"/>
          </a:xfrm>
          <a:prstGeom prst="rect">
            <a:avLst/>
          </a:prstGeom>
        </p:spPr>
      </p:pic>
      <p:pic>
        <p:nvPicPr>
          <p:cNvPr id="21" name="Picture 20" descr="L04_rId2_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644" y="5875934"/>
            <a:ext cx="411480" cy="411480"/>
          </a:xfrm>
          <a:prstGeom prst="rect">
            <a:avLst/>
          </a:prstGeom>
        </p:spPr>
      </p:pic>
      <p:pic>
        <p:nvPicPr>
          <p:cNvPr id="22" name="Picture 21" descr="L05_rId4_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432" y="5875934"/>
            <a:ext cx="411480" cy="41148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0135" y="5875934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55610" y="557509"/>
            <a:ext cx="32918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43DA"/>
                </a:solidFill>
                <a:latin typeface="프리젠테이션 7 Bold"/>
              </a:rPr>
              <a:t>L07. Roadmap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0927" y="557509"/>
            <a:ext cx="843076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121"/>
                </a:solidFill>
                <a:latin typeface="프리젠테이션 5 Medium"/>
              </a:rPr>
              <a:t>수영장 레인 구조 — 복수 워크스트림 병렬 진행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355610" y="1496689"/>
            <a:ext cx="11480292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20240" y="1984157"/>
            <a:ext cx="2453335" cy="36576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0043DA"/>
                </a:solidFill>
              </a:rPr>
              <a:t>Q1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575" y="1984157"/>
            <a:ext cx="2453335" cy="36576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0043DA"/>
                </a:solidFill>
              </a:rPr>
              <a:t>Q2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26910" y="1984157"/>
            <a:ext cx="2453335" cy="36576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0043DA"/>
                </a:solidFill>
              </a:rPr>
              <a:t>Q3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0245" y="1984157"/>
            <a:ext cx="2453335" cy="36576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0043DA"/>
                </a:solidFill>
              </a:rPr>
              <a:t>Q4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40442"/>
            <a:ext cx="1371600" cy="914400"/>
          </a:xfrm>
          <a:prstGeom prst="roundRect">
            <a:avLst/>
          </a:prstGeom>
          <a:solidFill>
            <a:srgbClr val="DCDCDC"/>
          </a:solidFill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404040"/>
                </a:solidFill>
              </a:rPr>
              <a:t>인프라 구축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45368"/>
            <a:ext cx="1371600" cy="914400"/>
          </a:xfrm>
          <a:prstGeom prst="roundRect">
            <a:avLst/>
          </a:prstGeom>
          <a:solidFill>
            <a:srgbClr val="DCDCDC"/>
          </a:solidFill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404040"/>
                </a:solidFill>
              </a:rPr>
              <a:t>마이그레이션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50293"/>
            <a:ext cx="1371600" cy="914400"/>
          </a:xfrm>
          <a:prstGeom prst="roundRect">
            <a:avLst/>
          </a:prstGeom>
          <a:solidFill>
            <a:srgbClr val="DCDCDC"/>
          </a:solidFill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404040"/>
                </a:solidFill>
              </a:rPr>
              <a:t>운영 준비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56133"/>
            <a:ext cx="1371600" cy="914400"/>
          </a:xfrm>
          <a:prstGeom prst="roundRect">
            <a:avLst/>
          </a:prstGeom>
          <a:solidFill>
            <a:srgbClr val="DCDCDC"/>
          </a:solidFill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404040"/>
                </a:solidFill>
              </a:rPr>
              <a:t>보안/컴플라이언스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623322"/>
            <a:ext cx="2453335" cy="54864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VPC/네트워크 설계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3575" y="2623322"/>
            <a:ext cx="4906670" cy="54864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MSK 클러스터 구성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99785" y="3628248"/>
            <a:ext cx="2453335" cy="548640"/>
          </a:xfrm>
          <a:prstGeom prst="roundRect">
            <a:avLst/>
          </a:prstGeom>
          <a:solidFill>
            <a:srgbClr val="3A7BD5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파일럿 테스트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3120" y="3628248"/>
            <a:ext cx="3680460" cy="548640"/>
          </a:xfrm>
          <a:prstGeom prst="roundRect">
            <a:avLst/>
          </a:prstGeom>
          <a:solidFill>
            <a:srgbClr val="3A7BD5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데이터 이전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3120" y="4633173"/>
            <a:ext cx="1839772" cy="548640"/>
          </a:xfrm>
          <a:prstGeom prst="roundRect">
            <a:avLst/>
          </a:prstGeom>
          <a:solidFill>
            <a:srgbClr val="6B9FFF"/>
          </a:solidFill>
          <a:ln>
            <a:solidFill>
              <a:srgbClr val="6B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모니터링 구성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0245" y="4633173"/>
            <a:ext cx="2453335" cy="548640"/>
          </a:xfrm>
          <a:prstGeom prst="roundRect">
            <a:avLst/>
          </a:prstGeom>
          <a:solidFill>
            <a:srgbClr val="6B9FFF"/>
          </a:solidFill>
          <a:ln>
            <a:solidFill>
              <a:srgbClr val="6B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운영팀 이관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5639013"/>
            <a:ext cx="9813340" cy="548640"/>
          </a:xfrm>
          <a:prstGeom prst="roundRect">
            <a:avLst/>
          </a:prstGeom>
          <a:solidFill>
            <a:srgbClr val="8AB4F8"/>
          </a:solidFill>
          <a:ln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IAM/암호화/VPC 검증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55701" y="557784"/>
            <a:ext cx="32918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43DA"/>
                </a:solidFill>
                <a:latin typeface="프리젠테이션 7"/>
              </a:rPr>
              <a:t>L08.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0927" y="557784"/>
            <a:ext cx="843104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프리젠테이션 5"/>
              </a:rPr>
              <a:t>깔때기 다이어그램 — 단계별 필터링으로 최적 기술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프리젠테이션 7"/>
              </a:rPr>
              <a:t>MSK 도입 의사결정 깔때기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6874"/>
            <a:ext cx="11734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프리젠테이션 5"/>
              </a:rPr>
              <a:t>후보 기술부터 최종 선택까지 4가지 평가 기준으로 필터링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02052"/>
            <a:ext cx="7315200" cy="694944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3451860"/>
            <a:ext cx="6217920" cy="694944"/>
          </a:xfrm>
          <a:prstGeom prst="round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54480" y="4200753"/>
            <a:ext cx="5120640" cy="694944"/>
          </a:xfrm>
          <a:prstGeom prst="roundRect">
            <a:avLst/>
          </a:prstGeom>
          <a:solidFill>
            <a:srgbClr val="8AB4F8"/>
          </a:solidFill>
          <a:ln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4950561"/>
            <a:ext cx="4023360" cy="694944"/>
          </a:xfrm>
          <a:prstGeom prst="roundRect">
            <a:avLst/>
          </a:prstGeom>
          <a:solidFill>
            <a:srgbClr val="3571F5"/>
          </a:solidFill>
          <a:ln>
            <a:solidFill>
              <a:srgbClr val="357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5700369"/>
            <a:ext cx="2926080" cy="694944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02052"/>
            <a:ext cx="7315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3DA"/>
                </a:solidFill>
                <a:latin typeface="프리젠테이션 7"/>
              </a:rPr>
              <a:t>후보 기술 평가</a:t>
            </a:r>
          </a:p>
          <a:p>
            <a:pPr algn="ctr"/>
            <a:r>
              <a:rPr sz="1300" b="1">
                <a:solidFill>
                  <a:srgbClr val="0043DA"/>
                </a:solidFill>
                <a:latin typeface="프리젠테이션 7"/>
              </a:rPr>
              <a:t>Kafka · Kinesis · RabbitMQ · Pulsar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51860"/>
            <a:ext cx="6217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3DA"/>
                </a:solidFill>
                <a:latin typeface="프리젠테이션 7"/>
              </a:rPr>
              <a:t>기술 적합성</a:t>
            </a:r>
          </a:p>
          <a:p>
            <a:pPr algn="ctr"/>
            <a:r>
              <a:rPr sz="1300" b="1">
                <a:solidFill>
                  <a:srgbClr val="0043DA"/>
                </a:solidFill>
                <a:latin typeface="프리젠테이션 7"/>
              </a:rPr>
              <a:t>처리량 100MB/s · 지연 10ms · 내구성 99.99%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00753"/>
            <a:ext cx="5120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운영 효율성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관리형 서비스 · AWS 통합 · 비용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950561"/>
            <a:ext cx="4023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보안/컴플라이언스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IAM · TLS 암호화 · VPC 격리 · FIPS 140-2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5700369"/>
            <a:ext cx="2926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Amazon MSK 선택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완전관리형 Kafka · 멀티AZ · AWS 네이티브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02052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4개 기술 초기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451860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Kafka · Kinesis 통과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00753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Amazon MSK · Kinesis 잔류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950561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MSK 단독 충족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700369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43DA"/>
                </a:solidFill>
                <a:latin typeface="프리젠테이션 7"/>
              </a:rPr>
              <a:t>최종 채택 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5303520" cy="4023360"/>
          </a:xfrm>
          <a:prstGeom prst="round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31280" y="2560320"/>
            <a:ext cx="5303520" cy="402336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5944440" y="4480680"/>
            <a:ext cx="411480" cy="274320"/>
          </a:xfrm>
          <a:prstGeom prst="rightArrow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7160" y="2651760"/>
            <a:ext cx="1371600" cy="274320"/>
          </a:xfrm>
          <a:prstGeom prst="round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11040" y="2651760"/>
            <a:ext cx="1371600" cy="27432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806" y="557906"/>
            <a:ext cx="2719850" cy="932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Freesentation"/>
              </a:rPr>
              <a:t>1-1. As-Is / To-Be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121"/>
                </a:solidFill>
                <a:latin typeface="Freesentation"/>
              </a:rPr>
              <a:t>온프레미스 Kafka에서 AWS MSK로의 전환 근거를 현황과 개선안으로 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온프레미스 Kafka의 운영 한계와 MSK 전환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관리 복잡도·확장성·비용 3가지 핵심 문제를 AWS MSK 완전 관리형으로 해소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16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⚠ As-Is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04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✓ To-Be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160" y="3017520"/>
            <a:ext cx="494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온프레미스 Kafka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040" y="3017520"/>
            <a:ext cx="494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AWS MSK 도입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160" y="3474720"/>
            <a:ext cx="4484640" cy="292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브로커 패치·업그레이드 전담 인력 2~3명 상시 필요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피크 트래픽 대비 서버 과잉 프로비저닝 — 비용 비효율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ZooKeeper 의존성으로 운영 복잡도 가중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장애 복구 수동 처리 — MTTR 평균 4시간 이상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040" y="3474720"/>
            <a:ext cx="4484640" cy="292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AWS 완전 관리형 — 패치·모니터링 자동화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Serverless 옵션으로 수분 내 자동 스케일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KRaft 모드 지원 — ZooKeeper 의존성 제거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Multi-AZ 자동 복구 — MTTR 99% 단축</a:t>
            </a:r>
          </a:p>
        </p:txBody>
      </p:sp>
      <p:pic>
        <p:nvPicPr>
          <p:cNvPr id="19" name="Picture 18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720" y="6172200"/>
            <a:ext cx="411480" cy="411480"/>
          </a:xfrm>
          <a:prstGeom prst="rect">
            <a:avLst/>
          </a:prstGeom>
        </p:spPr>
      </p:pic>
      <p:pic>
        <p:nvPicPr>
          <p:cNvPr id="20" name="Picture 19" descr="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800" y="61722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 altLang="en-US" dirty="0" b="1"/>
              <a:t>1-2. 비용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254" y="1524304"/>
            <a:ext cx="10742371" cy="30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On-Premises Kafka vs AWS MSK — TCO 직접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254" y="1872691"/>
            <a:ext cx="10742371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비용·관리·가용성·확장성 4개 항목 기준 직접 비교 (2026년 4월 기준)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5577840" cy="402336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6960" y="2560320"/>
            <a:ext cx="5577840" cy="402336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17680" y="2651760"/>
            <a:ext cx="9144" cy="3840480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160" y="2651760"/>
            <a:ext cx="1554480" cy="27432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212121"/>
                </a:solidFill>
              </a:rPr>
              <a:t>On-Premises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7720" y="2651760"/>
            <a:ext cx="1554480" cy="27432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FFFFFF"/>
                </a:solidFill>
              </a:rPr>
              <a:t>✓ AWS MSK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161" y="2873959"/>
            <a:ext cx="49670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초기 비용</a:t>
            </a:r>
            <a:defRPr sz="1100" b="0"/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서버 구매 ₩5억+</a:t>
            </a:r>
            <a:defRPr sz="1400" b="1"/>
          </a:p>
          <a:p>
            <a:pPr algn="l"/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운영 관리</a:t>
            </a:r>
            <a:defRPr sz="1100" b="0"/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전담 인력 2~3명 필요</a:t>
            </a:r>
            <a:defRPr sz="1400" b="1"/>
          </a:p>
          <a:p>
            <a:pPr algn="l"/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가용성</a:t>
            </a:r>
            <a:defRPr sz="1100" b="0"/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자체 HA 구성 필요</a:t>
            </a:r>
            <a:defRPr sz="1400" b="1"/>
          </a:p>
          <a:p>
            <a:pPr algn="l"/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확장성</a:t>
            </a:r>
            <a:defRPr sz="1100" b="0"/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용량 증설에 수 주 소요</a:t>
            </a:r>
            <a:defRPr sz="1400" b="1"/>
          </a:p>
        </p:txBody>
      </p:sp>
      <p:sp>
        <p:nvSpPr>
          <p:cNvPr id="11" name="TextBox 10"/>
          <p:cNvSpPr txBox="1"/>
          <p:nvPr/>
        </p:nvSpPr>
        <p:spPr>
          <a:xfrm>
            <a:off x="6035954" y="2873959"/>
            <a:ext cx="49670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초기 비용</a:t>
            </a:r>
            <a:defRPr sz="1100" b="0"/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초기 투자 0원</a:t>
            </a:r>
            <a:defRPr sz="1400" b="1"/>
          </a:p>
          <a:p>
            <a:pPr algn="l"/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운영 관리</a:t>
            </a:r>
            <a:defRPr sz="1100" b="0"/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AWS 완전 관리형</a:t>
            </a:r>
            <a:defRPr sz="1400" b="1"/>
          </a:p>
          <a:p>
            <a:pPr algn="l"/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가용성</a:t>
            </a:r>
            <a:defRPr sz="1100" b="0"/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99.9% SLA 보장</a:t>
            </a:r>
            <a:defRPr sz="1400" b="1"/>
          </a:p>
          <a:p>
            <a:pPr algn="l"/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확장성</a:t>
            </a:r>
            <a:defRPr sz="1100" b="0"/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수분 내 스케일 아웃</a:t>
            </a:r>
            <a:defRPr sz="1400" b="1"/>
          </a:p>
        </p:txBody>
      </p:sp>
      <p:pic>
        <p:nvPicPr>
          <p:cNvPr id="12" name="Picture 11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904" y="5878677"/>
            <a:ext cx="411480" cy="411480"/>
          </a:xfrm>
          <a:prstGeom prst="rect">
            <a:avLst/>
          </a:prstGeom>
        </p:spPr>
      </p:pic>
      <p:pic>
        <p:nvPicPr>
          <p:cNvPr id="13" name="Picture 12" descr="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612" y="5878677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9;p32"/>
          <p:cNvSpPr txBox="1">
            <a:spLocks/>
          </p:cNvSpPr>
          <p:nvPr/>
        </p:nvSpPr>
        <p:spPr>
          <a:xfrm>
            <a:off x="0" y="2699114"/>
            <a:ext cx="1219200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lt1"/>
              </a:buClr>
              <a:buSzPts val="4000"/>
              <a:buNone/>
            </a:pPr>
            <a:r>
              <a:rPr lang="en-US" altLang="ko-KR" sz="6000" dirty="0"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</a:rPr>
              <a:t>Thank You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036" y="378400"/>
            <a:ext cx="1329872" cy="33054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398157" y="3870726"/>
            <a:ext cx="5395685" cy="5436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GS</a:t>
            </a:r>
            <a:r>
              <a:rPr lang="ko-KR" altLang="en-US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네오텍의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IT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서비스 브랜드 </a:t>
            </a:r>
            <a:r>
              <a:rPr lang="en-US" altLang="ko-KR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WiseN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으로 진정한 프리미엄을 경험하세요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36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5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0043DA"/>
      </a:accent1>
      <a:accent2>
        <a:srgbClr val="4CB88F"/>
      </a:accent2>
      <a:accent3>
        <a:srgbClr val="EE8150"/>
      </a:accent3>
      <a:accent4>
        <a:srgbClr val="2A6FDE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GS네오텍">
      <a:majorFont>
        <a:latin typeface="프리젠테이션 7 Bold"/>
        <a:ea typeface="프리젠테이션 7 Bold"/>
        <a:cs typeface=""/>
      </a:majorFont>
      <a:minorFont>
        <a:latin typeface="프리젠테이션 4 Regular"/>
        <a:ea typeface="프리젠테이션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6792</TotalTime>
  <Words>594</Words>
  <Application>Microsoft Macintosh PowerPoint</Application>
  <PresentationFormat>Widescreen</PresentationFormat>
  <Paragraphs>135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Freesentation</vt:lpstr>
      <vt:lpstr>맑은 고딕</vt:lpstr>
      <vt:lpstr>Pretendard</vt:lpstr>
      <vt:lpstr>Pretendard ExtraBold</vt:lpstr>
      <vt:lpstr>프리젠테이션 4 Regular</vt:lpstr>
      <vt:lpstr>프리젠테이션 6 SemiBold</vt:lpstr>
      <vt:lpstr>프리젠테이션 7 Bold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디자이너</dc:creator>
  <cp:lastModifiedBy>이 홍섭</cp:lastModifiedBy>
  <cp:revision>774</cp:revision>
  <dcterms:created xsi:type="dcterms:W3CDTF">2022-03-02T05:40:55Z</dcterms:created>
  <dcterms:modified xsi:type="dcterms:W3CDTF">2026-04-15T17:20:02Z</dcterms:modified>
</cp:coreProperties>
</file>