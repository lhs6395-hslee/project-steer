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74" r:id="rId9"/>
    <p:sldId id="369" r:id="rId10"/>
    <p:sldId id="371" r:id="rId11"/>
    <p:sldId id="372" r:id="rId12"/>
    <p:sldId id="373" r:id="rId13"/>
    <p:sldId id="375" r:id="rId14"/>
    <p:sldId id="376" r:id="rId15"/>
    <p:sldId id="377" r:id="rId23"/>
    <p:sldId id="378" r:id="rId24"/>
    <p:sldId id="379" r:id="rId25"/>
    <p:sldId id="380" r:id="rId26"/>
    <p:sldId id="381" r:id="rId27"/>
    <p:sldId id="382" r:id="rId28"/>
    <p:sldId id="383" r:id="rId29"/>
    <p:sldId id="384" r:id="rId30"/>
    <p:sldId id="385" r:id="rId31"/>
    <p:sldId id="386" r:id="rId32"/>
    <p:sldId id="387" r:id="rId33"/>
    <p:sldId id="356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  <p14:sldId id="374"/>
            <p14:sldId id="369"/>
            <p14:sldId id="371"/>
            <p14:sldId id="372"/>
            <p14:sldId id="373"/>
            <p14:sldId id="375"/>
            <p14:sldId id="376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19" autoAdjust="0"/>
    <p:restoredTop sz="94660"/>
  </p:normalViewPr>
  <p:slideViewPr>
    <p:cSldViewPr snapToGrid="0">
      <p:cViewPr varScale="1">
        <p:scale>
          <a:sx n="69" d="100"/>
          <a:sy n="69" d="100"/>
        </p:scale>
        <p:origin x="216" y="1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26.xml"/><Relationship Id="rId17" Type="http://schemas.openxmlformats.org/officeDocument/2006/relationships/notesMaster" Target="notesMasters/notesMaster1.xml"/><Relationship Id="rId18" Type="http://schemas.openxmlformats.org/officeDocument/2006/relationships/handoutMaster" Target="handoutMasters/handout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2026. 4. 20.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2026. 4. 20.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19.png"/><Relationship Id="rId6" Type="http://schemas.openxmlformats.org/officeDocument/2006/relationships/image" Target="../media/image16.png"/><Relationship Id="rId7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5394960" cy="38404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62890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960620"/>
            <a:ext cx="5650992" cy="1508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979662"/>
            <a:ext cx="4663440" cy="1256546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34440" y="5242175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606040" y="5242175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77640" y="5242175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3317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7033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L01. Bento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2859982"/>
            <a:ext cx="5034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" y="3288022"/>
            <a:ext cx="503496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1308" y="2706067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1308" y="3134107"/>
            <a:ext cx="5290992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308" y="5006988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1308" y="5435028"/>
            <a:ext cx="5290992" cy="10058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6746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3086374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674620"/>
            <a:ext cx="5120640" cy="1188720"/>
          </a:xfrm>
          <a:prstGeom prst="round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15710" y="2711450"/>
            <a:ext cx="4760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A5C"/>
                </a:solidFill>
                <a:latin typeface="Freesentation"/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3086374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6746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200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3108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3108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9016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9016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L02. 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4093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4093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4093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190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3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190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093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190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093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190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76606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4064" y="276606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6918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4064" y="486918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L04. Process 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7502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7502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7502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750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6273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6273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6273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6273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L05. Phased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7593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7593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7593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7593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>
              <a:lnSpc>
                <a:spcPct val="120000"/>
              </a:lnSpc>
            </a:pPr>
            <a:r>
              <a:rPr sz="2000" b="1" dirty="0">
                <a:solidFill>
                  <a:srgbClr val="000000"/>
                </a:solidFill>
                <a:latin typeface="Freesentation"/>
              </a:rPr>
              <a:t>L06. Zigzag Timeline</a:t>
            </a:r>
            <a:endParaRPr lang="ko-KR" alt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>
              <a:lnSpc>
                <a:spcPct val="120000"/>
              </a:lnSpc>
            </a:pP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S자 지그재그 타임라인 — MSK 도입 4단계 로드맵</a:t>
            </a:r>
            <a:endParaRPr lang="ko-KR" altLang="en-US" dirty="0"/>
          </a:p>
        </p:txBody>
      </p:sp>
      <p:sp>
        <p:nvSpPr>
          <p:cNvPr id="190" name="TextBox 19"/>
          <p:cNvSpPr txBox="1">
            <a:spLocks noGrp="1"/>
          </p:cNvSpPr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 → AWS MSK 전환 4단계</a:t>
            </a:r>
          </a:p>
        </p:txBody>
      </p:sp>
      <p:sp>
        <p:nvSpPr>
          <p:cNvPr id="200" name="TextBox 20"/>
          <p:cNvSpPr txBox="1">
            <a:spLocks noGrp="1"/>
          </p:cNvSpPr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환경 설계부터 운영 안정화까지 2024년 로드맵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48780"/>
            <a:ext cx="11277295" cy="18288"/>
          </a:xfrm>
          <a:prstGeom prst="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798625" y="253746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053535" y="541782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309360" y="253746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564270" y="541782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890065" y="26289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환경 설계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44975" y="550926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클러스터 구축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6289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검증 및 최적화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55710" y="550926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운영 안정화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90065" y="29946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VPC/서브넷 설계</a:t>
            </a:r>
          </a:p>
          <a:p>
            <a:r>
              <a:rPr sz="1000">
                <a:solidFill>
                  <a:srgbClr val="4A4A4A"/>
                </a:solidFill>
              </a:rPr>
              <a:t>• 브로커 수 산정</a:t>
            </a:r>
          </a:p>
          <a:p>
            <a:r>
              <a:rPr sz="1000">
                <a:solidFill>
                  <a:srgbClr val="4A4A4A"/>
                </a:solidFill>
              </a:rPr>
              <a:t>• 인증 방식 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44975" y="58750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MSK 클러스터 프로비저닝</a:t>
            </a:r>
          </a:p>
          <a:p>
            <a:r>
              <a:rPr sz="1000">
                <a:solidFill>
                  <a:srgbClr val="4A4A4A"/>
                </a:solidFill>
              </a:rPr>
              <a:t>• IAM 정책 설정</a:t>
            </a:r>
          </a:p>
          <a:p>
            <a:r>
              <a:rPr sz="1000">
                <a:solidFill>
                  <a:srgbClr val="4A4A4A"/>
                </a:solidFill>
              </a:rPr>
              <a:t>• 모니터링 에이전트 배포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9946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성능 벤치마크</a:t>
            </a:r>
          </a:p>
          <a:p>
            <a:r>
              <a:rPr sz="1000">
                <a:solidFill>
                  <a:srgbClr val="9E9E9E"/>
                </a:solidFill>
              </a:rPr>
              <a:t>• 장애 복구 테스트</a:t>
            </a:r>
          </a:p>
          <a:p>
            <a:r>
              <a:rPr sz="1000">
                <a:solidFill>
                  <a:srgbClr val="9E9E9E"/>
                </a:solidFill>
              </a:rPr>
              <a:t>• 파티션 최적화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55710" y="58750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24/7 모니터링 구성</a:t>
            </a:r>
          </a:p>
          <a:p>
            <a:r>
              <a:rPr sz="1000">
                <a:solidFill>
                  <a:srgbClr val="9E9E9E"/>
                </a:solidFill>
              </a:rPr>
              <a:t>• 알람 임계값 튜닝</a:t>
            </a:r>
          </a:p>
          <a:p>
            <a:r>
              <a:rPr sz="1000">
                <a:solidFill>
                  <a:srgbClr val="9E9E9E"/>
                </a:solidFill>
              </a:rPr>
              <a:t>• 스케일링 정책 수립</a:t>
            </a:r>
          </a:p>
        </p:txBody>
      </p:sp>
      <p:pic>
        <p:nvPicPr>
          <p:cNvPr id="43" name="Picture 42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0225" y="2628900"/>
            <a:ext cx="365760" cy="365760"/>
          </a:xfrm>
          <a:prstGeom prst="rect">
            <a:avLst/>
          </a:prstGeom>
        </p:spPr>
      </p:pic>
      <p:pic>
        <p:nvPicPr>
          <p:cNvPr id="44" name="Picture 43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5135" y="5509260"/>
            <a:ext cx="365760" cy="365760"/>
          </a:xfrm>
          <a:prstGeom prst="rect">
            <a:avLst/>
          </a:prstGeom>
        </p:spPr>
      </p:pic>
      <p:pic>
        <p:nvPicPr>
          <p:cNvPr id="45" name="Picture 44" descr="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628900"/>
            <a:ext cx="365760" cy="365760"/>
          </a:xfrm>
          <a:prstGeom prst="rect">
            <a:avLst/>
          </a:prstGeom>
        </p:spPr>
      </p:pic>
      <p:pic>
        <p:nvPicPr>
          <p:cNvPr id="46" name="Picture 45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5870" y="5509260"/>
            <a:ext cx="365760" cy="365760"/>
          </a:xfrm>
          <a:prstGeom prst="rect">
            <a:avLst/>
          </a:prstGeom>
        </p:spPr>
      </p:pic>
      <p:sp>
        <p:nvSpPr>
          <p:cNvPr id="97" name="Badge Node2"/>
          <p:cNvSpPr/>
          <p:nvPr/>
        </p:nvSpPr>
        <p:spPr>
          <a:xfrm>
            <a:off x="4510918" y="496062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2024.04</a:t>
            </a:r>
          </a:p>
        </p:txBody>
      </p:sp>
      <p:sp>
        <p:nvSpPr>
          <p:cNvPr id="98" name="Badge Node4"/>
          <p:cNvSpPr/>
          <p:nvPr/>
        </p:nvSpPr>
        <p:spPr>
          <a:xfrm>
            <a:off x="9021836" y="496062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2024.10</a:t>
            </a:r>
          </a:p>
        </p:txBody>
      </p:sp>
      <p:sp>
        <p:nvSpPr>
          <p:cNvPr id="95" name="Badge Node1"/>
          <p:cNvSpPr/>
          <p:nvPr/>
        </p:nvSpPr>
        <p:spPr>
          <a:xfrm>
            <a:off x="2255459" y="381762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2024.01</a:t>
            </a:r>
          </a:p>
        </p:txBody>
      </p:sp>
      <p:sp>
        <p:nvSpPr>
          <p:cNvPr id="96" name="Badge Node3"/>
          <p:cNvSpPr/>
          <p:nvPr/>
        </p:nvSpPr>
        <p:spPr>
          <a:xfrm>
            <a:off x="6766377" y="381762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2024.07</a:t>
            </a:r>
          </a:p>
        </p:txBody>
      </p:sp>
      <p:sp>
        <p:nvSpPr>
          <p:cNvPr id="23" name="Oval 22"/>
          <p:cNvSpPr/>
          <p:nvPr/>
        </p:nvSpPr>
        <p:spPr>
          <a:xfrm>
            <a:off x="2438705" y="4274820"/>
            <a:ext cx="548640" cy="548640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4693615" y="4274820"/>
            <a:ext cx="548640" cy="548640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6949440" y="4274820"/>
            <a:ext cx="548640" cy="548640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9204350" y="4274820"/>
            <a:ext cx="548640" cy="548640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610" y="557509"/>
            <a:ext cx="32918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L07. Roadmap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509"/>
            <a:ext cx="8430768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수영장 레인 구조 — 복수 워크스트림 병렬 진행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Q1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57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Q2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2691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Q3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024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Q4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40442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인프라 구축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45368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마이그레이션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45029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운영 준비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45613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보안/컴플라이언스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2623322"/>
            <a:ext cx="245333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VPC/네트워크 설계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575" y="2623322"/>
            <a:ext cx="4906670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MSK 클러스터 구성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99785" y="3628248"/>
            <a:ext cx="2453335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파일럿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3120" y="3628248"/>
            <a:ext cx="3680460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데이터 이전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3120" y="4633173"/>
            <a:ext cx="1839772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모니터링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0245" y="4633173"/>
            <a:ext cx="2453335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운영팀 이관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5639013"/>
            <a:ext cx="9813340" cy="548640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IAM/암호화/VPC 검증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701" y="557784"/>
            <a:ext cx="32918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L08.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784"/>
            <a:ext cx="8431042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깔때기 다이어그램 — 단계별 필터링으로 최적 기술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734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도입 의사결정 깔때기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6874"/>
            <a:ext cx="11734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04040"/>
                </a:solidFill>
                <a:latin typeface="Freesentation"/>
              </a:rPr>
              <a:t>후보 기술부터 최종 선택까지 4가지 평가 기준으로 필터링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02052"/>
            <a:ext cx="7315200" cy="694944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3451860"/>
            <a:ext cx="6217920" cy="694944"/>
          </a:xfrm>
          <a:prstGeom prst="roundRect">
            <a:avLst/>
          </a:prstGeom>
          <a:solidFill>
            <a:srgbClr val="C8DCFF"/>
          </a:solidFill>
          <a:ln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554480" y="4200753"/>
            <a:ext cx="5120640" cy="694944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103120" y="4950561"/>
            <a:ext cx="4023360" cy="694944"/>
          </a:xfrm>
          <a:prstGeom prst="roundRect">
            <a:avLst/>
          </a:prstGeom>
          <a:solidFill>
            <a:srgbClr val="3571F5"/>
          </a:solidFill>
          <a:ln>
            <a:solidFill>
              <a:srgbClr val="357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651760" y="5700369"/>
            <a:ext cx="2926080" cy="694944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702052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후보 기술 평가</a:t>
            </a:r>
          </a:p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Kafka · Kinesis · RabbitMQ · Pulsar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51860"/>
            <a:ext cx="6217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기술 적합성</a:t>
            </a:r>
          </a:p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처리량 100MB/s · 지연 10ms · 내구성 99.99%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00753"/>
            <a:ext cx="5120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운영 효율성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관리형 서비스 · AWS 통합 ·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50561"/>
            <a:ext cx="40233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보안/컴플라이언스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IAM · TLS 암호화 · VPC 격리 · FIPS 140-2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5700369"/>
            <a:ext cx="29260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Amazon MSK 선택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완전관리형 Kafka · 멀티AZ · AWS 네이티브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02052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4개 기술 초기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451860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Kafka · Kinesis 통과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200753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Amazon MSK · Kinesis 잔류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50561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MSK 단독 충족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700369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43DA"/>
                </a:solidFill>
                <a:latin typeface="프리젠테이션 7"/>
              </a:rPr>
              <a:t>최종 채택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788920"/>
            <a:ext cx="5303520" cy="388620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31280" y="2788920"/>
            <a:ext cx="5303520" cy="388620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ight Arrow 5"/>
          <p:cNvSpPr/>
          <p:nvPr/>
        </p:nvSpPr>
        <p:spPr>
          <a:xfrm>
            <a:off x="5944440" y="4594859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7160" y="2423160"/>
            <a:ext cx="1371600" cy="274320"/>
          </a:xfrm>
          <a:prstGeom prst="round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611040" y="2423160"/>
            <a:ext cx="137160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4806" y="557906"/>
            <a:ext cx="2719850" cy="932614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L09. As-Is / To-Be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현황/문제 → 개선/해결 대비 레이아웃 — 2컬럼 챌린지·솔루션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Freesentation"/>
              </a:rPr>
              <a:t>⚠ As-Is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Freesentation"/>
              </a:rPr>
              <a:t>✓ To-Be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6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온프레미스 Kafka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04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AWS MSK 도입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 패치·업그레이드 전담 인력 2~3명 상시 필요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피크 트래픽 대비 서버 과잉 프로비저닝 — 비용 비효율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ZooKeeper 의존성으로 운영 복잡도 가중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장애 복구 수동 처리 — MTTR 평균 4시간 이상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04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완전 관리형 — 패치·모니터링 자동화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Serverless 옵션으로 수분 내 자동 스케일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KRaft 모드 지원 — ZooKeeper 의존성 제거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복구 — MTTR 99% 단축</a:t>
            </a:r>
          </a:p>
        </p:txBody>
      </p:sp>
      <p:pic>
        <p:nvPicPr>
          <p:cNvPr id="19" name="Picture 18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</p:spPr>
      </p:pic>
      <p:pic>
        <p:nvPicPr>
          <p:cNvPr id="20" name="Picture 19" descr="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Kafka의 운영 한계와 MSK 전환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관리 복잡도·확장성·비용 3가지 핵심 문제를 AWS MSK 완전 관리형으로 해소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2788920"/>
            <a:ext cx="5577840" cy="388620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156960" y="2788920"/>
            <a:ext cx="5577840" cy="388620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7160" y="2423160"/>
            <a:ext cx="1554480" cy="274320"/>
          </a:xfrm>
          <a:prstGeom prst="roundRect">
            <a:avLst/>
          </a:prstGeom>
          <a:solidFill>
            <a:srgbClr val="212121"/>
          </a:solidFill>
          <a:ln w="9525"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FFFFFF"/>
                </a:solidFill>
              </a:rPr>
              <a:t>On-Premises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7720" y="2423160"/>
            <a:ext cx="155448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FFFFFF"/>
                </a:solidFill>
              </a:rPr>
              <a:t>✓ AWS MSK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서버 구매 ₩5억+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전담 인력 2~3명 필요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자체 HA 구성 필요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용량 증설에 수 주 소요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7720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초기 투자 0원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AWS 완전 관리형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99.9% SLA 보장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수분 내 스케일 아웃</a:t>
            </a:r>
          </a:p>
        </p:txBody>
      </p:sp>
      <p:pic>
        <p:nvPicPr>
          <p:cNvPr id="12" name="Picture 11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600" y="5605200"/>
            <a:ext cx="849600" cy="849600"/>
          </a:xfrm>
          <a:prstGeom prst="rect">
            <a:avLst/>
          </a:prstGeom>
        </p:spPr>
      </p:pic>
      <p:pic>
        <p:nvPicPr>
          <p:cNvPr id="13" name="Picture 12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360" y="5605200"/>
            <a:ext cx="849600" cy="849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L10. Comparison 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0927" y="558698"/>
            <a:ext cx="7550200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2컬럼 병렬 비교 레이아웃 — 옵션A vs 옵션B 항목별 대비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On-Premises Kafka vs AWS MSK — TCO 직접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비용·관리·가용성·확장성 4개 항목 기준 직접 비교 (2026년 4월 기준)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10" name="TextBox L11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클라우드 메시징 솔루션 비교</a:t>
            </a:r>
          </a:p>
        </p:txBody>
      </p:sp>
      <p:sp>
        <p:nvSpPr>
          <p:cNvPr id="11" name="TextBox L11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AWS MSK · Confluent Cloud · 자체 구축 Kafka 3개 옵션 비교 (2026년 4월 기준)</a:t>
            </a:r>
          </a:p>
        </p:txBody>
      </p:sp>
      <p:graphicFrame>
        <p:nvGraphicFramePr>
          <p:cNvPr id="20" name="Table L11"/>
          <p:cNvGraphicFramePr>
            <a:graphicFrameLocks noGrp="1"/>
          </p:cNvGraphicFramePr>
          <p:nvPr/>
        </p:nvGraphicFramePr>
        <p:xfrm>
          <a:off x="457200" y="2423160"/>
          <a:ext cx="11277600" cy="425232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항목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자체 구축 Kafka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✓ AWS MSK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Confluent Cloud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초기 비용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₩5억+ 서버 구매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운영 인력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전담 2~3명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0.5명 (모니터링)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0명 (완전 관리)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가용성 SLA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자체 HA 구성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99.9%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99.95%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확장 소요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2~4주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월 운영비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₩3,000만+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₩800만~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₩1,200만~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000" b="1">
                <a:latin typeface="Freesentation"/>
              </a:rPr>
              <a:t>L11. Comparison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>
                <a:latin typeface="Freesentation"/>
              </a:rPr>
              <a:t>3+ 옵션 비교 테이블 — 항목별 교차 평가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10" name="TextBox L12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600" b="1">
                <a:solidFill>
                  <a:srgbClr val="0043DA"/>
                </a:solidFill>
                <a:latin typeface="Freesentation"/>
              </a:rPr>
              <a:t>API 응답 시간 개선 — MSK 이벤트 기반 아키텍처 전환 효과</a:t>
            </a:r>
          </a:p>
        </p:txBody>
      </p:sp>
      <p:sp>
        <p:nvSpPr>
          <p:cNvPr id="11" name="TextBox L12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2026년 1분기 실측 기준. 동일 트래픽(10K RPS) 조건 A/B 테스트 결과</a:t>
            </a:r>
          </a:p>
        </p:txBody>
      </p:sp>
      <p:sp>
        <p:nvSpPr>
          <p:cNvPr id="12" name="RRect L12 Badge Before"/>
          <p:cNvSpPr/>
          <p:nvPr/>
        </p:nvSpPr>
        <p:spPr>
          <a:xfrm>
            <a:off x="63716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212121"/>
          </a:solidFill>
          <a:ln>
            <a:solidFill>
              <a:srgbClr val="212121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" name="RRect L12 Badge After"/>
          <p:cNvSpPr/>
          <p:nvPr/>
        </p:nvSpPr>
        <p:spPr>
          <a:xfrm>
            <a:off x="661104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" name="TextBox L12 Badge Before Text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300" b="1">
                <a:solidFill>
                  <a:srgbClr val="FFFFFF"/>
                </a:solidFill>
                <a:latin typeface="Freesentation"/>
              </a:rPr>
              <a:t>BEFORE</a:t>
            </a:r>
          </a:p>
        </p:txBody>
      </p:sp>
      <p:sp>
        <p:nvSpPr>
          <p:cNvPr id="15" name="TextBox L12 Badge After Text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300" b="1">
                <a:solidFill>
                  <a:srgbClr val="FFFFFF"/>
                </a:solidFill>
                <a:latin typeface="Freesentation"/>
              </a:rPr>
              <a:t>AFTER</a:t>
            </a:r>
          </a:p>
        </p:txBody>
      </p:sp>
      <p:sp>
        <p:nvSpPr>
          <p:cNvPr id="16" name="RRect L12 Panel Before"/>
          <p:cNvSpPr/>
          <p:nvPr/>
        </p:nvSpPr>
        <p:spPr>
          <a:xfrm>
            <a:off x="45720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9525">
            <a:solidFill>
              <a:srgbClr val="DCDCDC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" name="RRect L12 Panel After"/>
          <p:cNvSpPr/>
          <p:nvPr/>
        </p:nvSpPr>
        <p:spPr>
          <a:xfrm>
            <a:off x="643128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E6F0FF"/>
          </a:solidFill>
          <a:ln w="9525"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" name="Arrow L12 Transition"/>
          <p:cNvSpPr/>
          <p:nvPr/>
        </p:nvSpPr>
        <p:spPr>
          <a:xfrm>
            <a:off x="5944440" y="4594980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9" name="TextBox L12 KPI Before Value"/>
          <p:cNvSpPr txBox="1"/>
          <p:nvPr/>
        </p:nvSpPr>
        <p:spPr>
          <a:xfrm>
            <a:off x="63716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212121"/>
                </a:solidFill>
                <a:latin typeface="프리젠테이션 7 Bold"/>
              </a:rPr>
              <a:t>3.2초</a:t>
            </a:r>
          </a:p>
        </p:txBody>
      </p:sp>
      <p:sp>
        <p:nvSpPr>
          <p:cNvPr id="20" name="TextBox L12 KPI After Value"/>
          <p:cNvSpPr txBox="1"/>
          <p:nvPr/>
        </p:nvSpPr>
        <p:spPr>
          <a:xfrm>
            <a:off x="661104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0043DA"/>
                </a:solidFill>
                <a:latin typeface="프리젠테이션 7 Bold"/>
              </a:rPr>
              <a:t>0.8초</a:t>
            </a:r>
          </a:p>
        </p:txBody>
      </p:sp>
      <p:sp>
        <p:nvSpPr>
          <p:cNvPr id="21" name="TextBox L12 KPI Before Label"/>
          <p:cNvSpPr txBox="1"/>
          <p:nvPr/>
        </p:nvSpPr>
        <p:spPr>
          <a:xfrm>
            <a:off x="63716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2" name="TextBox L12 KPI After Label"/>
          <p:cNvSpPr txBox="1"/>
          <p:nvPr/>
        </p:nvSpPr>
        <p:spPr>
          <a:xfrm>
            <a:off x="661104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3" name="Line L12 Divider Before"/>
          <p:cNvSpPr/>
          <p:nvPr/>
        </p:nvSpPr>
        <p:spPr>
          <a:xfrm>
            <a:off x="63716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Line L12 Divider After"/>
          <p:cNvSpPr/>
          <p:nvPr/>
        </p:nvSpPr>
        <p:spPr>
          <a:xfrm>
            <a:off x="661104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5" name="TextBox L12 Content Before"/>
          <p:cNvSpPr txBox="1"/>
          <p:nvPr/>
        </p:nvSpPr>
        <p:spPr>
          <a:xfrm>
            <a:off x="63716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단일 서버 동기 처리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REST API 직접 호출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무중단 배포 미지원</a:t>
            </a:r>
          </a:p>
        </p:txBody>
      </p:sp>
      <p:sp>
        <p:nvSpPr>
          <p:cNvPr id="26" name="TextBox L12 Content After"/>
          <p:cNvSpPr txBox="1"/>
          <p:nvPr/>
        </p:nvSpPr>
        <p:spPr>
          <a:xfrm>
            <a:off x="661104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Redis 캐시 + CDN 적용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MSK 비동기 이벤트 기반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Blue/Green 무중단 배포</a:t>
            </a:r>
          </a:p>
        </p:txBody>
      </p:sp>
      <p:sp>
        <p:nvSpPr>
          <p:cNvPr id="27" name="RRect L12 Change Badge"/>
          <p:cNvSpPr/>
          <p:nvPr/>
        </p:nvSpPr>
        <p:spPr>
          <a:xfrm>
            <a:off x="5318760" y="5029200"/>
            <a:ext cx="155448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" name="TextBox L12 Change Badge Text"/>
          <p:cNvSpPr txBox="1"/>
          <p:nvPr/>
        </p:nvSpPr>
        <p:spPr>
          <a:xfrm>
            <a:off x="5318760" y="5029200"/>
            <a:ext cx="1554480" cy="45720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ko-KR" sz="2000" b="1">
                <a:solidFill>
                  <a:srgbClr val="FFFFFF"/>
                </a:solidFill>
                <a:latin typeface="프리젠테이션 7 Bold"/>
              </a:rPr>
              <a:t>▼ 75% 개선</a:t>
            </a:r>
          </a:p>
        </p:txBody>
      </p:sp>
      <p:pic>
        <p:nvPicPr>
          <p:cNvPr id="29" name="Icon L12 Befo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  <a:ln>
            <a:noFill/>
          </a:ln>
        </p:spPr>
      </p:pic>
      <p:pic>
        <p:nvPicPr>
          <p:cNvPr id="30" name="Icon L12 Af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  <a:ln>
            <a:noFill/>
          </a:ln>
        </p:spPr>
      </p:pic>
      <p:sp>
        <p:nvSpPr>
          <p:cNvPr id="31" name="TextBox 3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000" b="1">
                <a:latin typeface="Freesentation"/>
              </a:rPr>
              <a:t>L12. Before/After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>
                <a:latin typeface="Freesentation"/>
              </a:rPr>
              <a:t>KPI 수치 중심 시간 비교 — 변화량 강조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L13.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AWS MSK 도입 검토 — 장단점 분석 및 종합 판단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도입 검토 — 장단점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클라우드 메시징 솔루션 전환 시 고려사항 (2026-Q1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996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✅  Pros (장점)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6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43DA"/>
                </a:solidFill>
                <a:latin typeface="Freesentation"/>
              </a:rPr>
              <a:t/>
            </a:r>
            <a:r>
              <a:rPr sz="1300" b="1">
                <a:solidFill>
                  <a:srgbClr val="0043DA"/>
                </a:solidFill>
                <a:latin typeface="Freesentation"/>
              </a:rPr>
              <a:t>★ 관리 부담 80% 감소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Kafka 클러스터 운영 자동화 (AWS 실측)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고가용성 99.9% SLA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Multi-AZ 자동 복제, 장애 복구 &lt; 5분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ROI 240% (12개월)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인력 비용 ₩1.8억/년 절감 vs 서비스 비용 ₩0.75억/년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F6C0A8"/>
          </a:solidFill>
          <a:ln w="6350">
            <a:solidFill>
              <a:srgbClr val="EE8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412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⚠️  Cons (단점)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132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초기 마이그레이션 비용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데이터 전환 + 검증 ₩5,000만 (1회)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단계별 이관으로 리스크 분산 (3개월)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벤더 종속성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AWS 서비스에 강하게 결합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Kafka 표준 API 유지로 이식성 확보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on-premises 대비 15% 높은 월 비용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₩750만/월 vs 자체 운영 ₩650만/월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운영 인력 포함 TCO 기준 35% 절감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4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160" y="6217920"/>
            <a:ext cx="10960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/>
            </a:r>
            <a:r>
              <a:rPr sz="1400" b="1">
                <a:solidFill>
                  <a:srgbClr val="FFFFFF"/>
                </a:solidFill>
                <a:latin typeface="Freesentation"/>
              </a:rPr>
              <a:t>📋 종합 판단: 도입 권장 — Pros ROI 240%가 Cons를 상회, 모든 단점 완화 가능</a:t>
            </a:r>
          </a:p>
          <a:p>
            <a:pPr/>
            <a:r>
              <a:rPr sz="1300" b="0">
                <a:solidFill>
                  <a:srgbClr val="FFFFFF"/>
                </a:solidFill>
                <a:latin typeface="Freesentation"/>
              </a:rPr>
              <a:t>Action: 2026-Q2 PoC 착수 승인 요청 (예산 ₩5,000만, 기간 3개월)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L14. Do / Don't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MSK 아키텍처 설계 가이드라인 — 프로덕션 환경 필수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아키텍처 설계 가이드라인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프로덕션 환경 구성 시 필수 체크리스트 (2026-Q1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996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✅  DO (권장)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6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Multi-AZ 배포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가용성 99.9% 보장, 장애 시 자동 failover &lt; 5분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VPC Endpoint 사용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인터넷 경유 금지 → 네트워크 지연 70% 감소 (실측)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CloudWatch 알람 설정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CPU &gt; 70%, Disk &gt; 80% 임계치 모니터링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C62828"/>
          </a:solidFill>
          <a:ln w="9525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412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>❌  DON'T (비권장)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132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Freesentation"/>
              </a:rPr>
              <a:t/>
            </a:r>
            <a:r>
              <a:rPr sz="1300" b="1">
                <a:solidFill>
                  <a:srgbClr val="FFFFFF"/>
                </a:solidFill>
                <a:latin typeface="Freesentation"/>
              </a:rPr>
              <a:t>🔴 Single-AZ 배포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AZ 장애 시 서비스 전체 중단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⚡ 2025-Q4 서울 AZ-A 장애 — 3시간 다운타임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Multi-AZ 배포 (99.9% SLA)</a:t>
            </a:r>
          </a:p>
          <a:p>
            <a:pPr algn="l"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  <a:latin typeface="Freesentation"/>
              </a:rPr>
              <a:t>🔴 Public Subnet 배치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외부 공격 노출, 데이터 유출 위험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⚡ 보안 감사 지적 사항 1순위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Private Subnet + VPC Endpoint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  <a:latin typeface="Freesentation"/>
              </a:rPr>
              <a:t>⚠️ default 보안그룹 사용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0.0.0.0/0 허용 → 무단 접근 가능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최소 권한 보안그룹 (필요 포트만)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4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160" y="6217920"/>
            <a:ext cx="10960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/>
            </a:r>
            <a:r>
              <a:rPr sz="1400" b="1">
                <a:solidFill>
                  <a:srgbClr val="212121"/>
                </a:solidFill>
                <a:latin typeface="Freesentation"/>
              </a:rPr>
              <a:t>📋 준수 현황: 3/6 항목 준수 (50%) — 미준수 항목 (Single-AZ, Public Subnet, default SG) 즉시 조치 필요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L15. SWOT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AWS MSK 사업 진출 SWOT 분석 — SO전략 집중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사업 진출 SWOT 분석 — SO전략 집중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클라우드 메시징 서비스 시장 진입 타당성 검토 (2026-Q1)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5669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  <a:latin typeface="Freesentation"/>
              </a:rPr>
              <a:t>내부 요인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31720"/>
            <a:ext cx="5516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  <a:latin typeface="Freesentation"/>
              </a:rPr>
              <a:t>외부 요인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14600"/>
            <a:ext cx="5669280" cy="1737360"/>
          </a:xfrm>
          <a:prstGeom prst="roundRect">
            <a:avLst>
              <a:gd name="adj" fmla="val 4000"/>
            </a:avLst>
          </a:prstGeom>
          <a:solidFill>
            <a:srgbClr val="DBF1E9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160" y="25722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💪  강점 (Strengths)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160" y="2846520"/>
            <a:ext cx="5124480" cy="131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AWS Premier 파트너십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기술 지원 우선 + 공동 마케팅 기회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Kafka 10년 운영 경험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국내 금융권 구축 실적 15건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24/7 전담 엔지니어 12명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평균 경력 7년, SLA 99.9% 실적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514600"/>
            <a:ext cx="5516880" cy="1737360"/>
          </a:xfrm>
          <a:prstGeom prst="roundRect">
            <a:avLst>
              <a:gd name="adj" fmla="val 4000"/>
            </a:avLst>
          </a:prstGeom>
          <a:solidFill>
            <a:srgbClr val="E6EDFA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880" y="25722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🎯  기회 (Opportunities)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880" y="2846520"/>
            <a:ext cx="5124480" cy="131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1">
                <a:solidFill>
                  <a:srgbClr val="0043DA"/>
                </a:solidFill>
                <a:latin typeface="Freesentation"/>
              </a:rPr>
              <a:t>• 시장 CAGR 28%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2026~2028 IDC 전망, ₩3,200억 규모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금융권 클라우드 전환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2025년 규제 완화, 수요 급증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레거시 MQ 대체 수요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WebSphere MQ EOL 2027, 전환 시급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669280" cy="1828800"/>
          </a:xfrm>
          <a:prstGeom prst="roundRect">
            <a:avLst>
              <a:gd name="adj" fmla="val 4000"/>
            </a:avLst>
          </a:prstGeom>
          <a:solidFill>
            <a:srgbClr val="FBD9CC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160" y="44010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⚠️  약점 (Weaknesses)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4675320"/>
            <a:ext cx="5124480" cy="14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초기 투자 ₩8억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인프라 + 인력 + 마케팅 비용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단계별 투자 12개월 계획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ISO 27001 미취득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금융권 필수 인증, 6개월 소요 예정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Q2 완료 목표, 임시 파트너 인증 활용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343400"/>
            <a:ext cx="5516880" cy="1828800"/>
          </a:xfrm>
          <a:prstGeom prst="roundRect">
            <a:avLst>
              <a:gd name="adj" fmla="val 4000"/>
            </a:avLst>
          </a:prstGeom>
          <a:solidFill>
            <a:srgbClr val="F5CCCC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880" y="44010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⛔  위협 (Threats)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7880" y="4675320"/>
            <a:ext cx="5124480" cy="14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Confluent 국내 점유 22%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2025년 서울 리전 오픈, 점유 확대 중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AWS 네이티브 통합 + 가격 경쟁력 강조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IT 예산 감축 -5%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2026 Gartner 전망, 신규 도입 보수화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ROI 마케팅 — TCO 35% 절감 실증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263640"/>
            <a:ext cx="11277600" cy="457200"/>
          </a:xfrm>
          <a:prstGeom prst="roundRect">
            <a:avLst>
              <a:gd name="adj" fmla="val 4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160" y="6309360"/>
            <a:ext cx="11069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/>
            </a:r>
            <a:r>
              <a:rPr sz="1400" b="1">
                <a:solidFill>
                  <a:srgbClr val="FFFFFF"/>
                </a:solidFill>
                <a:latin typeface="Freesentation"/>
              </a:rPr>
              <a:t>📋 전략 방향: SO전략 집중 — AWS 파트너십(S) × 금융권 클라우드 수요(O)로 MSK 시장 선점</a:t>
            </a:r>
          </a:p>
          <a:p>
            <a:pPr/>
            <a:r>
              <a:rPr sz="1300" b="0">
                <a:solidFill>
                  <a:srgbClr val="FFFFFF"/>
                </a:solidFill>
                <a:latin typeface="Freesentation"/>
              </a:rPr>
              <a:t>WO: ISO 27001 Q2 인증 완료 → 금융권 진입 장벽 해소 | 초기 투자 단계별 분산으로 리스크 최소화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L16. Detail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이미지+설명 레이아웃 — 스크린샷·다이어그램 + 상세 해설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콘솔 — 클러스터 모니터링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CloudWatch 지표 기반 실시간 모니터링 (2026년 4월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7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① CloudWatch 콘솔 → MSK 클러스터 선택 → 모니터링 탭 확인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② BytesInPerSec / BytesOutPerSec 지표로 처리량 실시간 모니터링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③ UnderReplicatedPartitions &gt; 0 시 즉시 알람 — 복제 장애 자동 감지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657360"/>
            <a:ext cx="11277600" cy="292608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846080"/>
            <a:ext cx="1127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  <a:latin typeface="Freesentation"/>
              </a:rPr>
              <a:t>[CloudWatch MSK 모니터링 화면]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L17. Image Left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이미지+불릿 2컬럼 레이아웃 — 좌 시각자료 + 우 설명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VPC 네트워크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Private Subnet 격리 구성 — 3-Tier 보안 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5486400" cy="411480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2519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  <a:latin typeface="Freesentation"/>
              </a:rPr>
              <a:t>[VPC 네트워크 구성도]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000" y="2468880"/>
            <a:ext cx="5608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• Public Subnet (10.0.1.0/24)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ALB, NAT Gateway 배치 — 외부 트래픽 수신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Private Subnet (10.0.10.0/24)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MSK 브로커 배치 (포트 9092/9094)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DB Subnet (10.0.20.0/24)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S3/RDS 오프로드 — 앱서버에서만 접근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보안그룹 규칙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App→MSK(9092), MSK→S3(443) 허용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1600200"/>
            <a:ext cx="12192000" cy="52578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L18. Full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풀와이드 이미지 레이아웃 — 배경 + 캡션 오버레이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5486400" cy="1371600"/>
          </a:xfrm>
          <a:prstGeom prst="roundRect">
            <a:avLst>
              <a:gd name="adj" fmla="val 16667"/>
            </a:avLst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Freesentation"/>
              </a:rPr>
              <a:t>AWS MSK 클라우드 전환 전략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Freesentation"/>
              </a:rPr>
              <a:t>금융·공공 분야 실시간 이벤트 스트리밍 선도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L19. Icon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아이콘 그리드 레이아웃 — 3×2 기술 스택 시각화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통합 기술 스택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메시징 플랫폼 핵심 구성요소 (2026년 4월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9748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716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Apache Kafka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분산 스트리밍 플랫폼 — 메시지 브로커 코어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8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120" y="2697480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272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Zookeeper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1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클러스터 메타데이터 관리 (KRaft 전환 가능)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84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2720" y="26974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828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Kafka Connect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27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Source/Sink 커넥터 — 외부 시스템 통합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709160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716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Schema Registry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Avro/Protobuf 스키마 중앙 관리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28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7120" y="4709160"/>
            <a:ext cx="548640" cy="5486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2272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CloudWatch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71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브로커·토픽 메트릭 실시간 모니터링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684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ecur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2720" y="4709160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828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IAM/mTLS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27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인증·암호화 — 보안 통신 계층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L20. Numbered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번호 리스트 레이아웃 — 순서 강조 단계별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클러스터 구축 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프로덕션 환경 배포 절차 (2026년 4월 기준)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43459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0317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VPC 및 Subnet 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6893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Private Subnet 3개(AZ-a/b/c) 생성, CIDR 대역 분리, 라우팅 테이블 설정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53187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0045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클러스터 프로비저닝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6621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kafka.m5.large 3 브로커, EBS gp3 100GB, Multi-AZ 배치 설정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62915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69773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그룹 및 IAM 정책 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6349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포트 9092/9094 허용, IAM 정책으로 Topic 권한 제어, TLS 암호화 활성화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572643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79501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모니터링 및 알람 설정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616077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CloudWatch 지표 활성화, CPU/Disk 임계치 알람, SNS 통보 설정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L21. Quote 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05050"/>
                </a:solidFill>
                <a:latin typeface="Freesentatio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클라우드 전환 리더십 메시지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클라우드 전환 추진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CTO 메시지 (2026년 1분기 전사 회의)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7315200" cy="3657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09560" y="2423160"/>
            <a:ext cx="3822191" cy="3657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172200"/>
            <a:ext cx="11277295" cy="45720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>
                <a:solidFill>
                  <a:srgbClr val="0043DA"/>
                </a:solidFill>
              </a:rPr>
              <a:t>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6949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212121"/>
                </a:solidFill>
                <a:latin typeface="Freesentation"/>
              </a:rPr>
              <a:t>우리는 2026년까지 레거시 시스템의 80%를 클라우드로 전환합니다. 이는 단순한 인프라 이전이 아닌, 비즈니스 민첩성 확보를 위한 전략적 투자입니다.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505050"/>
                </a:solidFill>
                <a:latin typeface="Freesentation"/>
              </a:rPr>
              <a:t>— 김철수, CTO  (GS네오텍)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6060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📊 컨텍스트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01752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₩3.2억/년 절감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인프라+인력 합산 (2025 실측)</a:t>
            </a:r>
          </a:p>
          <a:p/>
          <a:p>
            <a:r>
              <a:rPr sz="1300">
                <a:solidFill>
                  <a:srgbClr val="212121"/>
                </a:solidFill>
                <a:latin typeface="Freesentation"/>
              </a:rPr>
              <a:t>레거시 42개 시스템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전환 대상, 목표 전환율 80%</a:t>
            </a:r>
          </a:p>
          <a:p/>
          <a:p>
            <a:r>
              <a:rPr sz="1300">
                <a:solidFill>
                  <a:srgbClr val="212121"/>
                </a:solidFill>
                <a:latin typeface="Freesentation"/>
              </a:rPr>
              <a:t>2026-Q4 완료 기한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1차 마감 2026-Q2</a:t>
            </a:r>
          </a:p>
          <a:p/>
          <a:p>
            <a:r>
              <a:rPr sz="1300">
                <a:solidFill>
                  <a:srgbClr val="212121"/>
                </a:solidFill>
                <a:latin typeface="Freesentation"/>
              </a:rPr>
              <a:t>TTM -40%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클라우드 전환 후 제품 출시 단축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Freesentation"/>
              </a:rPr>
              <a:t>💡 핵심: 클라우드 전환은 비용 절감이 아닌 민첩성 확보 — 경쟁사 대비 TTM 40% 단축 목표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L22. Split Text+Code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05050"/>
                </a:solidFill>
                <a:latin typeface="Freesentatio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AWS CLI 기반 MSK 프로비저닝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CLI로 MSK 클러스터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명령줄 기반 프로비저닝 절차 (2026년 4월 기준)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① 클러스터 설정 JSON 작성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broker-node-group-info, kafka-version,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cluster-name 필수 항목</a:t>
            </a:r>
          </a:p>
          <a:p/>
          <a:p>
            <a:r>
              <a:rPr sz="1400" b="1">
                <a:solidFill>
                  <a:srgbClr val="212121"/>
                </a:solidFill>
                <a:latin typeface="Freesentation"/>
              </a:rPr>
              <a:t>② VPC Subnet ID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Private Subnet 3개 (AZ-a/b/c) ID 확보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aws ec2 describe-subnets 명령 활용</a:t>
            </a:r>
          </a:p>
          <a:p/>
          <a:p>
            <a:r>
              <a:rPr sz="1400" b="1">
                <a:solidFill>
                  <a:srgbClr val="212121"/>
                </a:solidFill>
                <a:latin typeface="Freesentation"/>
              </a:rPr>
              <a:t>③ 생성 명령 실행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create-cluster 명령어 + 설정 파일 참조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완료까지 5~10분 소요</a:t>
            </a:r>
          </a:p>
          <a:p/>
          <a:p>
            <a:r>
              <a:rPr sz="1400" b="1">
                <a:solidFill>
                  <a:srgbClr val="212121"/>
                </a:solidFill>
                <a:latin typeface="Freesentation"/>
              </a:rPr>
              <a:t>④ 생성 완료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describe-cluster 응답 State="ACTIVE"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CloudWatch 메트릭 수집 시작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423160"/>
            <a:ext cx="5608015" cy="3657600"/>
          </a:xfrm>
          <a:prstGeom prst="rect">
            <a:avLst/>
          </a:prstGeom>
          <a:solidFill>
            <a:srgbClr val="1E1E1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2423160"/>
            <a:ext cx="5608015" cy="274320"/>
          </a:xfrm>
          <a:prstGeom prst="rect">
            <a:avLst/>
          </a:prstGeom>
          <a:solidFill>
            <a:srgbClr val="2C001E"/>
          </a:solidFill>
          <a:ln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D0D0D0"/>
                </a:solidFill>
                <a:latin typeface="Courier New"/>
              </a:rPr>
              <a:t>ubuntu@msk-cluster: ~ — bash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solidFill>
            <a:srgbClr val="F8F9FA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74320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ourier New"/>
              </a:rPr>
              <a:t>ubuntu@msk-cluster:~$ aws kafka create-cluster \
  --cluster-name my-msk-cluster \
  --broker-node-group-info file://broker-info.json \
  --kafka-version 3.5.1 \
  --number-of-broker-nodes 3 \
  --region ap-northeast-2
# 응답 예시
{
  "ClusterArn": "arn:aws:kafka:ap-northeast-2:...",
  "ClusterName": "my-msk-cluster",
  "State": "CREATING"
}
ubuntu@msk-cluster:~$ aws kafka describe-cluster --cluster-arn &lt;ARN&gt;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12121"/>
                </a:solidFill>
                <a:latin typeface="Freesentation"/>
              </a:rPr>
              <a:t>✅ 확인: aws kafka describe-cluster 응답에서 State="ACTIVE" 확인   |   소요시간: 5~10분   |   실패 시: CloudWatch /aws/msk/ 로그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6263640" y="2514600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3660" y="2514600"/>
            <a:ext cx="91440" cy="9144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83680" y="2514600"/>
            <a:ext cx="91440" cy="9144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L23. Stats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05050"/>
                </a:solidFill>
                <a:latin typeface="Freesentatio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MSK 도입 성과 지표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도입 효과 — 핵심 성과 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2026년 1분기 실측 기준 (운영 6개월 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40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55279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5897880"/>
            <a:ext cx="1127729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43DA"/>
                </a:solidFill>
                <a:latin typeface="Freesentation"/>
              </a:rPr>
              <a:t>▼  ₩1.8억/년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비용 절감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운영 인력 2명 절감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+ 인프라 비용 감소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(MSK vs 자체 Kafka 운영)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2026-Q1 실측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4CB88F"/>
                </a:solidFill>
                <a:latin typeface="Freesentation"/>
              </a:rPr>
              <a:t>▲  +320%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처리량 증가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10K → 42K msg/s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Multi-AZ 자동 스케일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(피크 트래픽 실측)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피크 트래픽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43DA"/>
                </a:solidFill>
                <a:latin typeface="Freesentation"/>
              </a:rPr>
              <a:t>▼  -75%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지연시간 감소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200ms → 50ms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VPC Endpoint 적용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(평균 레이턴시 실측)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평균 레이턴시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71032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Freesentation"/>
              </a:rPr>
              <a:t>📊 종합: MSK 도입 6개월 만에 ROI 240% 달성 — 연간 순이익 ₩1.05억 (절감 ₩1.8억 - 서비스 비용 ₩0.75억)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6829</TotalTime>
  <Words>1261</Words>
  <Application>Microsoft Macintosh PowerPoint</Application>
  <PresentationFormat>Widescreen</PresentationFormat>
  <Paragraphs>284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6" baseType="lpstr">
      <vt:lpstr>Freesentation</vt:lpstr>
      <vt:lpstr>맑은 고딕</vt:lpstr>
      <vt:lpstr>Pretendard</vt:lpstr>
      <vt:lpstr>Pretendard ExtraBold</vt:lpstr>
      <vt:lpstr>프리젠테이션 4 Regular</vt:lpstr>
      <vt:lpstr>프리젠테이션 5</vt:lpstr>
      <vt:lpstr>프리젠테이션 6 SemiBold</vt:lpstr>
      <vt:lpstr>프리젠테이션 7</vt:lpstr>
      <vt:lpstr>프리젠테이션 7 Bold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 홍섭</cp:lastModifiedBy>
  <cp:revision>775</cp:revision>
  <dcterms:created xsi:type="dcterms:W3CDTF">2022-03-02T05:40:55Z</dcterms:created>
  <dcterms:modified xsi:type="dcterms:W3CDTF">2026-04-19T16:38:02Z</dcterms:modified>
</cp:coreProperties>
</file>