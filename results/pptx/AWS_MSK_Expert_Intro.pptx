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358" r:id="rId2"/>
    <p:sldId id="304" r:id="rId3"/>
    <p:sldId id="368" r:id="rId4"/>
    <p:sldId id="369" r:id="rId5"/>
    <p:sldId id="370" r:id="rId6"/>
    <p:sldId id="371" r:id="rId7"/>
    <p:sldId id="372" r:id="rId8"/>
    <p:sldId id="373" r:id="rId9"/>
    <p:sldId id="374" r:id="rId10"/>
    <p:sldId id="375" r:id="rId11"/>
    <p:sldId id="35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C584391-9A90-4C3D-BC4F-B1FBB8C44D9F}">
          <p14:sldIdLst>
            <p14:sldId id="358"/>
          </p14:sldIdLst>
        </p14:section>
        <p14:section name="목차" id="{920A679F-A144-4F43-AE97-A0E33ABAD423}">
          <p14:sldIdLst>
            <p14:sldId id="304"/>
          </p14:sldIdLst>
        </p14:section>
        <p14:section name="본문" id="{21264EAA-BFA0-4D88-B1A3-5C01B530CD81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</p14:sldIdLst>
        </p14:section>
        <p14:section name="끝맺음" id="{332F041B-66CB-4617-B3C5-6F18A7079F3A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53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936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6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60525" y="1490472"/>
            <a:ext cx="887095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5450" y="4187952"/>
            <a:ext cx="88011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04/13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5486400" cy="932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 eaLnBrk="0" latinLnBrk="0" hangingPunct="0"/>
            <a:r>
              <a:rPr sz="2800" b="1" dirty="0">
                <a:solidFill>
                  <a:srgbClr val="0043DA"/>
                </a:solidFill>
                <a:latin typeface="프리젠테이션 7 Bold"/>
              </a:rPr>
              <a:t>1-1. MSK</a:t>
            </a:r>
            <a:endParaRPr lang="ko-KR" altLang="en-US" sz="2800" b="1" dirty="0">
              <a:solidFill>
                <a:srgbClr val="0043DA"/>
              </a:solidFill>
              <a:latin typeface="프리젠테이션 7 Bold"/>
            </a:endParaRPr>
          </a:p>
          <a:p>
            <a:r>
              <a:rPr lang="ko-KR" altLang="en-US" sz="2800" b="1" dirty="0">
                <a:solidFill>
                  <a:srgbClr val="0043DA"/>
                </a:solidFill>
                <a:latin typeface="프리젠테이션 7 Bold"/>
              </a:rPr>
              <a:t>아키텍처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6766" y="558800"/>
            <a:ext cx="6708417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Apache Kafka 완전관리형 서비스의 구성 요소와 데이터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메시지 생산부터 소비까지의 전체 아키텍처 구성도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20" y="2560320"/>
            <a:ext cx="1828800" cy="118872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프리젠테이션 7 Bold"/>
              </a:rPr>
              <a:t>Producer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95600" y="2971800"/>
            <a:ext cx="457200" cy="365760"/>
          </a:xfrm>
          <a:prstGeom prst="rightArrow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5680" y="2560320"/>
            <a:ext cx="5120640" cy="11887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56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프리젠테이션 7 Bold"/>
              </a:rPr>
              <a:t>MSK Cluster (Multi-AZ Brokers)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56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프리젠테이션 7 Bold"/>
              </a:rPr>
              <a:t>Broker (AZ-a)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프리젠테이션 7 Bold"/>
              </a:rPr>
              <a:t>Broker (AZ-b)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992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프리젠테이션 7 Bold"/>
              </a:rPr>
              <a:t>Broker (AZ-c)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9200" y="2971800"/>
            <a:ext cx="457200" cy="365760"/>
          </a:xfrm>
          <a:prstGeom prst="rightArrow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79280" y="2560320"/>
            <a:ext cx="1828800" cy="118872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프리젠테이션 7 Bold"/>
              </a:rPr>
              <a:t>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핵심 구성요소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Broker: 메시지 저장/전달 노드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Topic: 메시지 카테고리 단위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Partition: 병렬 처리 단위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Replication Factor: 데이터 복제 수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26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54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네트워크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4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내 Private Subnet 배치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Security Group 기반 접근 제어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ENI: 브로커별 네트워크 인터페이스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PrivateLink: Cross-VPC 연결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108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스토리지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08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EBS gp3: 기본 브로커 스토리지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Provisioned IOPS: 고성능 워크로드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Tiered Storage: S3 기반 장기 보관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자동 확장: 디스크 용량 자동 증설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보존 기간별 계층화 전략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2-1. 클러스터 구성과 핵심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Provisioned vs Serverless, 보안, 모니터링, Connect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기능 4가지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유형, 보안, 모니터링, Connect 통합 비교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8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69748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48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클러스터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Provisioned: 브로커 수/인스턴스 타입 직접 지정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Serverless: 자동 스케일링, 용량 관리 불필요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Express: 고성능 + 간소화된 운영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16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760" y="269748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176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보안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76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인증: IAM / SASL-SCRAM / mTLS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암호화: TLS in-transit, KMS at-rest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네트워크: VPC 내 배치, Private Link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880" y="466344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80" y="4800600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2480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모니터링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메트릭 (Basic/Enhanced/Topic)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Open Monitoring (Prometheus 호환)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Broker 로그 → CloudWatch/S3/Firehose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160" y="466344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760" y="4800600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61760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MSK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760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Connect 완전관리형 서비스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Source/Sink Connector 플러그인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Auto Scaling, 커스텀 플러그인 지원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6858000" cy="932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 eaLnBrk="0" latinLnBrk="0" hangingPunct="0"/>
            <a:r>
              <a:rPr sz="2800" b="1">
                <a:solidFill>
                  <a:srgbClr val="0043DA"/>
                </a:solidFill>
                <a:latin typeface="프리젠테이션 7 Bold"/>
              </a:rPr>
              <a:t>3-1. 운영 전략 및</a:t>
            </a:r>
          </a:p>
          <a:p>
            <a:r>
              <a:rPr sz="2800" b="1">
                <a:solidFill>
                  <a:srgbClr val="0043DA"/>
                </a:solidFill>
                <a:latin typeface="프리젠테이션 7 Bold"/>
              </a:rPr>
              <a:t>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6766" y="558800"/>
            <a:ext cx="6708417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클러스터 사이징, 파티션 설계, 장애 대응, 비용 최적화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운영 핵심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환경에서 반드시 확인해야 할 4가지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5440" y="251460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클러스터 사이징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브로커 수 = (피크 처리량 ÷ 브로커당 처리량) × RF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kafka.m5.large 이상 권장, EBS gp3 기본</a:t>
            </a:r>
          </a:p>
        </p:txBody>
      </p:sp>
      <p:sp>
        <p:nvSpPr>
          <p:cNvPr id="8" name="Oval 7"/>
          <p:cNvSpPr/>
          <p:nvPr/>
        </p:nvSpPr>
        <p:spPr>
          <a:xfrm>
            <a:off x="975360" y="272034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440" y="347472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파티션 설계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파티션 수 = max(Producer 처리량 ÷ 파티션당 쓰기, Consumer 처리량 ÷ 파티션당 읽기)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브로커당 4,000개 이하 권장</a:t>
            </a:r>
          </a:p>
        </p:txBody>
      </p:sp>
      <p:sp>
        <p:nvSpPr>
          <p:cNvPr id="10" name="Oval 9"/>
          <p:cNvSpPr/>
          <p:nvPr/>
        </p:nvSpPr>
        <p:spPr>
          <a:xfrm>
            <a:off x="975360" y="368046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15440" y="443484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장애 대응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Multi-AZ 배포 필수, min.insync.replicas=2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unclean.leader.election=false, 브로커 장애 시 자동 복구</a:t>
            </a:r>
          </a:p>
        </p:txBody>
      </p:sp>
      <p:sp>
        <p:nvSpPr>
          <p:cNvPr id="12" name="Oval 11"/>
          <p:cNvSpPr/>
          <p:nvPr/>
        </p:nvSpPr>
        <p:spPr>
          <a:xfrm>
            <a:off x="975360" y="464058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5440" y="539496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비용 최적화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Tiered Storage로 장기 보관 비용 절감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Serverless로 변동 워크로드 대응, 불필요 토픽/파티션 정리</a:t>
            </a:r>
          </a:p>
        </p:txBody>
      </p:sp>
      <p:sp>
        <p:nvSpPr>
          <p:cNvPr id="14" name="Oval 13"/>
          <p:cNvSpPr/>
          <p:nvPr/>
        </p:nvSpPr>
        <p:spPr>
          <a:xfrm>
            <a:off x="975360" y="560070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L01. Bento</a:t>
            </a:r>
          </a:p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좌 50% + 우 2분할 레이아웃 테스트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394960" cy="3840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2670048"/>
            <a:ext cx="5120640" cy="320040"/>
          </a:xfrm>
          <a:prstGeom prst="rect">
            <a:avLst/>
          </a:prstGeom>
          <a:noFill/>
        </p:spPr>
        <p:txBody>
          <a:bodyPr wrap="square" lIns="182880" rIns="182880" tIns="182880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63240"/>
            <a:ext cx="5120640" cy="1554480"/>
          </a:xfrm>
          <a:prstGeom prst="rect">
            <a:avLst/>
          </a:prstGeom>
          <a:noFill/>
        </p:spPr>
        <p:txBody>
          <a:bodyPr wrap="square" lIns="182880" rIns="182880" tIns="9144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완전관리형 Apache Kafka 서비스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복제 및 고가용성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브로커/파티션 자동 스케일링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서비스 네이티브 통합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(Lambda, Kinesis, Glue, S3)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56032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670048"/>
            <a:ext cx="5376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클러스터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63240"/>
            <a:ext cx="5376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4892040"/>
            <a:ext cx="5650992" cy="15092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5001768"/>
            <a:ext cx="5376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보안 체계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394960"/>
            <a:ext cx="5376672" cy="100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320" y="4796280"/>
            <a:ext cx="4846080" cy="1371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7640" y="5070600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640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9240" y="5070600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9240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840" y="5070600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840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3" name="Can 22"/>
          <p:cNvSpPr/>
          <p:nvPr/>
        </p:nvSpPr>
        <p:spPr>
          <a:xfrm>
            <a:off x="2194920" y="5184900"/>
            <a:ext cx="274320" cy="228600"/>
          </a:xfrm>
          <a:prstGeom prst="can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n 23"/>
          <p:cNvSpPr/>
          <p:nvPr/>
        </p:nvSpPr>
        <p:spPr>
          <a:xfrm>
            <a:off x="3566520" y="5184900"/>
            <a:ext cx="274320" cy="228600"/>
          </a:xfrm>
          <a:prstGeom prst="can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640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000" b="0">
                <a:solidFill>
                  <a:srgbClr val="EE8150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9240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000" b="0">
                <a:solidFill>
                  <a:srgbClr val="0043D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840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000" b="0">
                <a:solidFill>
                  <a:srgbClr val="4CB88F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43DA"/>
                </a:solidFill>
                <a:latin typeface="프리젠테이션 7 Bold"/>
              </a:rPr>
              <a:t>L02.</a:t>
            </a:r>
          </a:p>
          <a:p>
            <a:r>
              <a:rPr sz="2800" b="1">
                <a:solidFill>
                  <a:srgbClr val="0043DA"/>
                </a:solidFill>
                <a:latin typeface="프리젠테이션 7 Bold"/>
              </a:rPr>
              <a:t xml:space="preserve">Three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3열 카드 레이아웃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메시지 생산부터 소비까지의 전체 아키텍처 구성도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20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프리젠테이션 7 Bold"/>
              </a:rPr>
              <a:t>Producer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95600" y="2971800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5680" y="2560320"/>
            <a:ext cx="5120640" cy="11887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56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프리젠테이션 7 Bold"/>
              </a:rPr>
              <a:t>MSK Cluster (Multi-AZ Brokers)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56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프리젠테이션 7 Bold"/>
              </a:rPr>
              <a:t>Broker (AZ-a)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프리젠테이션 7 Bold"/>
              </a:rPr>
              <a:t>Broker (AZ-b)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992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프리젠테이션 7 Bold"/>
              </a:rPr>
              <a:t>Broker (AZ-c)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9200" y="2971800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7928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프리젠테이션 7 Bold"/>
              </a:rPr>
              <a:t>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Broker: 메시지 저장/전달 노드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Topic: 메시지 카테고리 단위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Partition: 병렬 처리 단위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Replication Factor: 데이터 복제 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26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40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40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VPC 내 Private Subnet 배치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Security Group 기반 접근 제어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ENI: 브로커별 네트워크 인터페이스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PrivateLink: Cross-VPC 연결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94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94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EBS gp3: 기본 브로커 스토리지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Provisioned IOPS: 고성능 워크로드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Tiered Storage: S3 기반 장기 보관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자동 확장: 디스크 용량 자동 증설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116195"/>
            <a:ext cx="11277295" cy="820582"/>
          </a:xfrm>
          <a:prstGeom prst="roundRect">
            <a:avLst/>
          </a:prstGeom>
          <a:solidFill>
            <a:srgbClr val="F8F9F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249984" y="2275027"/>
            <a:ext cx="2926080" cy="502920"/>
          </a:xfrm>
          <a:prstGeom prst="roundRect">
            <a:avLst/>
          </a:prstGeom>
          <a:solidFill>
            <a:srgbClr val="EE8150"/>
          </a:solidFill>
          <a:ln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Data Source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33264" y="2275027"/>
            <a:ext cx="2926080" cy="5029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Processing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6544" y="2275027"/>
            <a:ext cx="2926080" cy="502920"/>
          </a:xfrm>
          <a:prstGeom prst="roundRect">
            <a:avLst/>
          </a:prstGeom>
          <a:solidFill>
            <a:srgbClr val="4CB88F"/>
          </a:solidFill>
          <a:ln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6064" y="2435047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43DA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9344" y="2435047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43DA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L03. Grid 2x2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2x2 카드 그리드 레이아웃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 관리, 스토리지, 모니터링, MSK Connect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80" y="25603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33160" y="25603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63880" y="4663440"/>
            <a:ext cx="5394960" cy="173784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33160" y="4663440"/>
            <a:ext cx="5394960" cy="173784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2480" y="269748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브로커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760" y="269748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스토리지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480060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모니터링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760" y="480060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프리젠테이션 7 Bold"/>
              </a:rPr>
              <a:t>MSK 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80" y="310896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장애 시 자동 복구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760" y="310896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EBS gp3 기본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Tiered Storage (S3)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521208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CloudWatch 3단계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Prometheus 호환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760" y="521208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Kafka Connect 관리형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Source/Sink 플러그인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697480"/>
            <a:ext cx="411480" cy="4114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760" y="2697480"/>
            <a:ext cx="411480" cy="4114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80" y="480060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760" y="48006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L04.</a:t>
            </a:r>
          </a:p>
          <a:p>
            <a:r>
              <a:rPr sz="2800" b="1">
                <a:solidFill>
                  <a:srgbClr val="0043DA"/>
                </a:solidFill>
                <a:latin typeface="프리젠테이션 7 Bold"/>
              </a:rPr>
              <a:t>Process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4단계 프로세스 화살표 레이아웃 테스트</a:t>
            </a:r>
          </a:p>
        </p:txBody>
      </p:sp>
      <p:sp>
        <p:nvSpPr>
          <p:cNvPr id="5" name="Chevron 4"/>
          <p:cNvSpPr/>
          <p:nvPr/>
        </p:nvSpPr>
        <p:spPr>
          <a:xfrm>
            <a:off x="45720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1.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2647950" cy="3018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520440"/>
            <a:ext cx="2373630" cy="2880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VPC/Subnet 설계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브로커 수 결정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9" name="Chevron 8"/>
          <p:cNvSpPr/>
          <p:nvPr/>
        </p:nvSpPr>
        <p:spPr>
          <a:xfrm>
            <a:off x="333375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375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2. 생성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3750" y="3383280"/>
            <a:ext cx="2647950" cy="3018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0910" y="3520440"/>
            <a:ext cx="2373630" cy="2880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생성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인증 방식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Chevron 12"/>
          <p:cNvSpPr/>
          <p:nvPr/>
        </p:nvSpPr>
        <p:spPr>
          <a:xfrm>
            <a:off x="621030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030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3. 연결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300" y="3383280"/>
            <a:ext cx="2647950" cy="3018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7460" y="3520440"/>
            <a:ext cx="2373630" cy="2880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Producer 연결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MSK Connect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PrivateLink</a:t>
            </a:r>
          </a:p>
        </p:txBody>
      </p:sp>
      <p:sp>
        <p:nvSpPr>
          <p:cNvPr id="17" name="Chevron 16"/>
          <p:cNvSpPr/>
          <p:nvPr/>
        </p:nvSpPr>
        <p:spPr>
          <a:xfrm>
            <a:off x="908685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685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프리젠테이션 7 Bold"/>
              </a:rPr>
              <a:t>4. 운영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850" y="3383280"/>
            <a:ext cx="2647950" cy="3018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24010" y="3520440"/>
            <a:ext cx="2373630" cy="2880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모니터링 구성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파티션 리밸런싱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5806440"/>
            <a:ext cx="411480" cy="4114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59" y="5806440"/>
            <a:ext cx="411480" cy="41148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06440"/>
            <a:ext cx="411480" cy="41148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L05.</a:t>
            </a:r>
          </a:p>
          <a:p>
            <a:r>
              <a:rPr sz="2800" b="1">
                <a:solidFill>
                  <a:srgbClr val="0043DA"/>
                </a:solidFill>
                <a:latin typeface="프리젠테이션 7 Bold"/>
              </a:rPr>
              <a:t>Phased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단계별 그라데이션 컬럼 레이아웃 테스트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647950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647950" cy="457200"/>
          </a:xfrm>
          <a:prstGeom prst="rect">
            <a:avLst/>
          </a:prstGeom>
          <a:solidFill>
            <a:srgbClr val="001B5E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 Bold"/>
              </a:rPr>
              <a:t>Phase 1: 평가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647950" cy="32008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73630" cy="30637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현재 환경 분석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워크로드 파악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2560320"/>
            <a:ext cx="264795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3750" y="2560320"/>
            <a:ext cx="2647950" cy="457200"/>
          </a:xfrm>
          <a:prstGeom prst="rect">
            <a:avLst/>
          </a:prstGeom>
          <a:solidFill>
            <a:srgbClr val="0043DA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 Bold"/>
              </a:rPr>
              <a:t>Phase 2: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3750" y="3200400"/>
            <a:ext cx="2647950" cy="32008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0910" y="3337560"/>
            <a:ext cx="2373630" cy="30637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유형 선택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네트워크 설계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560320"/>
            <a:ext cx="264795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0300" y="2560320"/>
            <a:ext cx="2647950" cy="457200"/>
          </a:xfrm>
          <a:prstGeom prst="rect">
            <a:avLst/>
          </a:prstGeom>
          <a:solidFill>
            <a:srgbClr val="EE8150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프리젠테이션 7 Bold"/>
              </a:rPr>
              <a:t>Phase 3: 구축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300" y="3200400"/>
            <a:ext cx="2647950" cy="32008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7460" y="3337560"/>
            <a:ext cx="2373630" cy="30637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프로비저닝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MirrorMaker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6850" y="2560320"/>
            <a:ext cx="264795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6850" y="2560320"/>
            <a:ext cx="2647950" cy="457200"/>
          </a:xfrm>
          <a:prstGeom prst="rect">
            <a:avLst/>
          </a:prstGeom>
          <a:solidFill>
            <a:srgbClr val="4CB88F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프리젠테이션 7 Bold"/>
              </a:rPr>
              <a:t>Phase 4: 운영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850" y="3200400"/>
            <a:ext cx="2647950" cy="32008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24010" y="3337560"/>
            <a:ext cx="2373630" cy="30637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모니터링 대시보드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알림 정책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성능 튜닝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600" cy="274320"/>
          </a:xfr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790" y="5806920"/>
            <a:ext cx="411480" cy="4114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340" y="5806920"/>
            <a:ext cx="411480" cy="41148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890" y="5806920"/>
            <a:ext cx="411480" cy="41148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440" y="58069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6794</TotalTime>
  <Words>1011</Words>
  <Application>Microsoft Macintosh PowerPoint</Application>
  <PresentationFormat>Widescreen</PresentationFormat>
  <Paragraphs>199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Freesentation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774</cp:revision>
  <dcterms:created xsi:type="dcterms:W3CDTF">2022-03-02T05:40:55Z</dcterms:created>
  <dcterms:modified xsi:type="dcterms:W3CDTF">2026-04-14T08:07:59Z</dcterms:modified>
</cp:coreProperties>
</file>