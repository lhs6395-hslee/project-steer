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wdp" ContentType="image/vnd.ms-photo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handoutMasterIdLst>
    <p:handoutMasterId r:id="rId11"/>
  </p:handoutMasterIdLst>
  <p:sldIdLst>
    <p:sldId id="358" r:id="rId2"/>
    <p:sldId id="304" r:id="rId3"/>
    <p:sldId id="363" r:id="rId4"/>
    <p:sldId id="364" r:id="rId5"/>
    <p:sldId id="365" r:id="rId6"/>
    <p:sldId id="366" r:id="rId7"/>
    <p:sldId id="367" r:id="rId8"/>
    <p:sldId id="356" r:id="rId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" id="{707F8F92-E977-4AF4-A17B-064B3F7C6292}">
          <p14:sldIdLst>
            <p14:sldId id="358"/>
          </p14:sldIdLst>
        </p14:section>
        <p14:section name="목차" id="{274BBB5B-E2ED-467F-AF7A-784F9A4055E0}">
          <p14:sldIdLst>
            <p14:sldId id="304"/>
          </p14:sldIdLst>
        </p14:section>
        <p14:section name="본문" id="{2BBFEB54-47FC-4EC8-AE18-073925A68771}">
          <p14:sldIdLst>
            <p14:sldId id="363"/>
            <p14:sldId id="364"/>
            <p14:sldId id="365"/>
            <p14:sldId id="366"/>
            <p14:sldId id="367"/>
          </p14:sldIdLst>
        </p14:section>
        <p14:section name="끝맺음" id="{C9A1EC51-E183-4528-B5C9-C551F42A7D16}">
          <p14:sldIdLst>
            <p14:sldId id="356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43DA"/>
    <a:srgbClr val="D9E5FF"/>
    <a:srgbClr val="B7CDFF"/>
    <a:srgbClr val="F2F5FD"/>
    <a:srgbClr val="F8FAFE"/>
    <a:srgbClr val="FBFBFB"/>
    <a:srgbClr val="89AEFF"/>
    <a:srgbClr val="3372FF"/>
    <a:srgbClr val="D1DFFF"/>
    <a:srgbClr val="EE815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619" autoAdjust="0"/>
    <p:restoredTop sz="94660"/>
  </p:normalViewPr>
  <p:slideViewPr>
    <p:cSldViewPr snapToGrid="0">
      <p:cViewPr varScale="1">
        <p:scale>
          <a:sx n="69" d="100"/>
          <a:sy n="69" d="100"/>
        </p:scale>
        <p:origin x="216" y="112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786" y="72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130D723-4A74-427C-8704-F358CE22FDDC}" type="datetimeFigureOut">
              <a:rPr lang="ko-KR" altLang="en-US" smtClean="0"/>
              <a:t>2026. 4. 16.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711178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3378F70-37B2-44B5-9F4B-14A4EA9C44E7}" type="datetimeFigureOut">
              <a:rPr lang="ko-KR" altLang="en-US" smtClean="0"/>
              <a:t>2026. 4. 16.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1836B27-1065-44B6-A758-016B3436B22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906472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657881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직선 연결선 5"/>
          <p:cNvCxnSpPr/>
          <p:nvPr userDrawn="1"/>
        </p:nvCxnSpPr>
        <p:spPr>
          <a:xfrm>
            <a:off x="336000" y="1496718"/>
            <a:ext cx="11520000" cy="0"/>
          </a:xfrm>
          <a:prstGeom prst="line">
            <a:avLst/>
          </a:prstGeom>
          <a:ln w="3175">
            <a:solidFill>
              <a:schemeClr val="tx1">
                <a:lumMod val="10000"/>
                <a:lumOff val="90000"/>
                <a:alpha val="68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cxnSp>
        <p:nvCxnSpPr>
          <p:cNvPr id="9" name="직선 연결선 8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 userDrawn="1"/>
        </p:nvSpPr>
        <p:spPr>
          <a:xfrm>
            <a:off x="3754192" y="140144"/>
            <a:ext cx="1620993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fld id="{D4D3CB94-2040-454F-8FC0-96221EAF3B89}" type="slidenum"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‹#›</a:t>
            </a:fld>
            <a:r>
              <a:rPr lang="en-US" altLang="ko-KR" sz="1000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4 Regular" pitchFamily="2" charset="-127"/>
              <a:ea typeface="프리젠테이션 4 Regular" pitchFamily="2" charset="-127"/>
              <a:cs typeface="Pretendard" panose="02000503000000020004" pitchFamily="2" charset="-127"/>
            </a:endParaRPr>
          </a:p>
        </p:txBody>
      </p:sp>
      <p:sp>
        <p:nvSpPr>
          <p:cNvPr id="27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ko-KR" altLang="en-US" dirty="0" err="1"/>
              <a:t>대제목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748184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_강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0" y="1496718"/>
            <a:ext cx="12192001" cy="5361282"/>
          </a:xfrm>
          <a:prstGeom prst="rect">
            <a:avLst/>
          </a:prstGeom>
          <a:solidFill>
            <a:schemeClr val="bg1">
              <a:lumMod val="95000"/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/>
          <p:cNvSpPr txBox="1"/>
          <p:nvPr userDrawn="1"/>
        </p:nvSpPr>
        <p:spPr>
          <a:xfrm>
            <a:off x="3754192" y="140144"/>
            <a:ext cx="1620993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fld id="{D4D3CB94-2040-454F-8FC0-96221EAF3B89}" type="slidenum"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‹#›</a:t>
            </a:fld>
            <a:r>
              <a:rPr lang="en-US" altLang="ko-KR" sz="1000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프리젠테이션 4 Regular" pitchFamily="2" charset="-127"/>
              <a:ea typeface="프리젠테이션 4 Regular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13" name="직선 연결선 12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sp>
        <p:nvSpPr>
          <p:cNvPr id="11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ko-KR" altLang="en-US" dirty="0" err="1"/>
              <a:t>대제목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739352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_프로세스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 rot="10800000">
            <a:off x="0" y="1496718"/>
            <a:ext cx="12192001" cy="5361282"/>
          </a:xfrm>
          <a:prstGeom prst="rect">
            <a:avLst/>
          </a:prstGeom>
          <a:gradFill>
            <a:gsLst>
              <a:gs pos="100000">
                <a:srgbClr val="0043DA">
                  <a:alpha val="4000"/>
                </a:srgbClr>
              </a:gs>
              <a:gs pos="0">
                <a:schemeClr val="bg1">
                  <a:alpha val="0"/>
                </a:scheme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/>
          <p:cNvSpPr txBox="1"/>
          <p:nvPr userDrawn="1"/>
        </p:nvSpPr>
        <p:spPr>
          <a:xfrm>
            <a:off x="3754192" y="140144"/>
            <a:ext cx="1620993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fld id="{D4D3CB94-2040-454F-8FC0-96221EAF3B89}" type="slidenum"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‹#›</a:t>
            </a:fld>
            <a:r>
              <a:rPr lang="en-US" altLang="ko-KR" sz="1000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프리젠테이션 4 Regular" pitchFamily="2" charset="-127"/>
              <a:ea typeface="프리젠테이션 4 Regular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13" name="직선 연결선 12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sp>
        <p:nvSpPr>
          <p:cNvPr id="11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ko-KR" altLang="en-US" dirty="0" err="1"/>
              <a:t>대제목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195206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/>
          <p:cNvPicPr>
            <a:picLocks noChangeAspect="1"/>
          </p:cNvPicPr>
          <p:nvPr userDrawn="1"/>
        </p:nvPicPr>
        <p:blipFill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cxnSp>
        <p:nvCxnSpPr>
          <p:cNvPr id="8" name="직선 연결선 7"/>
          <p:cNvCxnSpPr/>
          <p:nvPr userDrawn="1"/>
        </p:nvCxnSpPr>
        <p:spPr>
          <a:xfrm>
            <a:off x="3367314" y="397805"/>
            <a:ext cx="0" cy="6460195"/>
          </a:xfrm>
          <a:prstGeom prst="line">
            <a:avLst/>
          </a:prstGeom>
          <a:ln w="3175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그림 6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sp>
        <p:nvSpPr>
          <p:cNvPr id="11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ko-KR" altLang="en-US" dirty="0"/>
              <a:t>제목</a:t>
            </a:r>
          </a:p>
        </p:txBody>
      </p:sp>
    </p:spTree>
    <p:extLst>
      <p:ext uri="{BB962C8B-B14F-4D97-AF65-F5344CB8AC3E}">
        <p14:creationId xmlns:p14="http://schemas.microsoft.com/office/powerpoint/2010/main" val="35907607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섹션구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3619"/>
            <a:ext cx="12192000" cy="6857195"/>
          </a:xfrm>
          <a:prstGeom prst="rect">
            <a:avLst/>
          </a:prstGeom>
        </p:spPr>
      </p:pic>
      <p:sp>
        <p:nvSpPr>
          <p:cNvPr id="8" name="직사각형 7"/>
          <p:cNvSpPr/>
          <p:nvPr userDrawn="1"/>
        </p:nvSpPr>
        <p:spPr>
          <a:xfrm>
            <a:off x="3367314" y="397805"/>
            <a:ext cx="8817263" cy="6460195"/>
          </a:xfrm>
          <a:prstGeom prst="rect">
            <a:avLst/>
          </a:prstGeom>
          <a:solidFill>
            <a:schemeClr val="accent5">
              <a:alpha val="2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연결선 10"/>
          <p:cNvCxnSpPr/>
          <p:nvPr userDrawn="1"/>
        </p:nvCxnSpPr>
        <p:spPr>
          <a:xfrm>
            <a:off x="13675460" y="1539854"/>
            <a:ext cx="0" cy="4421134"/>
          </a:xfrm>
          <a:prstGeom prst="line">
            <a:avLst/>
          </a:prstGeom>
          <a:ln w="3175">
            <a:solidFill>
              <a:schemeClr val="tx1">
                <a:lumMod val="10000"/>
                <a:lumOff val="90000"/>
                <a:alpha val="68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그림 11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cxnSp>
        <p:nvCxnSpPr>
          <p:cNvPr id="17" name="직선 연결선 16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lvl="0"/>
            <a:r>
              <a:rPr lang="ko-KR" altLang="en-US" dirty="0"/>
              <a:t>제목</a:t>
            </a:r>
          </a:p>
        </p:txBody>
      </p:sp>
    </p:spTree>
    <p:extLst>
      <p:ext uri="{BB962C8B-B14F-4D97-AF65-F5344CB8AC3E}">
        <p14:creationId xmlns:p14="http://schemas.microsoft.com/office/powerpoint/2010/main" val="21656056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이미지강조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sp>
        <p:nvSpPr>
          <p:cNvPr id="7" name="TextBox 6"/>
          <p:cNvSpPr txBox="1"/>
          <p:nvPr userDrawn="1"/>
        </p:nvSpPr>
        <p:spPr>
          <a:xfrm>
            <a:off x="3754192" y="140144"/>
            <a:ext cx="1620993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fld id="{D4D3CB94-2040-454F-8FC0-96221EAF3B89}" type="slidenum"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‹#›</a:t>
            </a:fld>
            <a:r>
              <a:rPr lang="en-US" altLang="ko-KR" sz="1000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bg1"/>
              </a:solidFill>
              <a:latin typeface="프리젠테이션 4 Regular" pitchFamily="2" charset="-127"/>
              <a:ea typeface="프리젠테이션 4 Regular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8" name="직선 연결선 7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lvl="0"/>
            <a:r>
              <a:rPr lang="ko-KR" altLang="en-US" dirty="0" err="1"/>
              <a:t>대제목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575880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끝맺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직선 연결선 10"/>
          <p:cNvCxnSpPr/>
          <p:nvPr userDrawn="1"/>
        </p:nvCxnSpPr>
        <p:spPr>
          <a:xfrm>
            <a:off x="13675460" y="1539854"/>
            <a:ext cx="0" cy="4421134"/>
          </a:xfrm>
          <a:prstGeom prst="line">
            <a:avLst/>
          </a:prstGeom>
          <a:ln w="3175">
            <a:solidFill>
              <a:schemeClr val="tx1">
                <a:lumMod val="10000"/>
                <a:lumOff val="90000"/>
                <a:alpha val="68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그림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3619"/>
            <a:ext cx="12192000" cy="68571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79523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0A09537-3B6C-4308-9077-364C9BAEFA1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26324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69" r:id="rId2"/>
    <p:sldLayoutId id="2147483674" r:id="rId3"/>
    <p:sldLayoutId id="2147483676" r:id="rId4"/>
    <p:sldLayoutId id="2147483670" r:id="rId5"/>
    <p:sldLayoutId id="2147483671" r:id="rId6"/>
    <p:sldLayoutId id="2147483673" r:id="rId7"/>
    <p:sldLayoutId id="2147483675" r:id="rId8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  <p15:guide id="3" orient="horz" pos="210">
          <p15:clr>
            <a:srgbClr val="F26B43"/>
          </p15:clr>
        </p15:guide>
        <p15:guide id="4" pos="234">
          <p15:clr>
            <a:srgbClr val="F26B43"/>
          </p15:clr>
        </p15:guide>
        <p15:guide id="5" orient="horz" pos="4110">
          <p15:clr>
            <a:srgbClr val="F26B43"/>
          </p15:clr>
        </p15:guide>
        <p15:guide id="6" pos="7446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3619"/>
            <a:ext cx="12192000" cy="6857195"/>
          </a:xfrm>
          <a:prstGeom prst="rect">
            <a:avLst/>
          </a:prstGeom>
        </p:spPr>
      </p:pic>
      <p:pic>
        <p:nvPicPr>
          <p:cNvPr id="18" name="그림 1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5601" y="5948604"/>
            <a:ext cx="1329872" cy="33054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526616" y="1490472"/>
            <a:ext cx="9144000" cy="2560320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/>
            <a:r>
              <a:rPr lang="en-US" altLang="ko-KR" sz="50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Amazon Managed Streaming</a:t>
            </a:r>
          </a:p>
          <a:p>
            <a:pPr latinLnBrk="0"/>
            <a:r>
              <a:rPr lang="en-US" altLang="ko-KR" sz="50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for Apache Kafka</a:t>
            </a:r>
          </a:p>
          <a:p>
            <a:pPr latinLnBrk="0"/>
            <a:r>
              <a:rPr lang="en-US" altLang="ko-KR" sz="50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(MSK)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38715" y="5760410"/>
            <a:ext cx="1940700" cy="923183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>
              <a:lnSpc>
                <a:spcPct val="150000"/>
              </a:lnSpc>
            </a:pPr>
            <a:r>
              <a:rPr lang="ko-KR" altLang="en-US" sz="11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고객의 </a:t>
            </a:r>
            <a:r>
              <a:rPr lang="en-US" altLang="ko-KR" sz="11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Digitalization</a:t>
            </a:r>
            <a:r>
              <a:rPr lang="ko-KR" altLang="en-US" sz="11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을 선도하는</a:t>
            </a:r>
            <a:r>
              <a:rPr lang="en-US" altLang="ko-KR" sz="11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, </a:t>
            </a:r>
          </a:p>
          <a:p>
            <a:pPr latinLnBrk="0">
              <a:lnSpc>
                <a:spcPct val="150000"/>
              </a:lnSpc>
            </a:pPr>
            <a:r>
              <a:rPr lang="en-US" altLang="ko-KR" sz="11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DX </a:t>
            </a:r>
            <a:r>
              <a:rPr lang="ko-KR" altLang="en-US" sz="11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전문기업</a:t>
            </a:r>
            <a:endParaRPr lang="en-US" altLang="ko-KR" sz="1100" b="1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1">
                  <a:alpha val="80000"/>
                </a:schemeClr>
              </a:solidFill>
              <a:latin typeface="프리젠테이션 6 SemiBold" pitchFamily="2" charset="-127"/>
              <a:ea typeface="프리젠테이션 6 SemiBold" pitchFamily="2" charset="-127"/>
              <a:cs typeface="Pretendard" panose="02000503000000020004" pitchFamily="2" charset="-127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5588000" y="5760410"/>
            <a:ext cx="5965370" cy="923183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>
              <a:lnSpc>
                <a:spcPct val="150000"/>
              </a:lnSpc>
            </a:pPr>
            <a:r>
              <a:rPr lang="en-US" altLang="ko-KR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AI, Cloud, </a:t>
            </a:r>
            <a:r>
              <a:rPr lang="en-US" altLang="ko-KR" sz="1100" b="1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BigData</a:t>
            </a:r>
            <a:r>
              <a:rPr lang="en-US" altLang="ko-KR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, CDN, Contact Center, </a:t>
            </a:r>
            <a:r>
              <a:rPr lang="ko-KR" altLang="en-US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스마트 물류</a:t>
            </a:r>
            <a:r>
              <a:rPr lang="en-US" altLang="ko-KR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, </a:t>
            </a:r>
            <a:r>
              <a:rPr lang="ko-KR" altLang="en-US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스마트 인프라 등 다양한 영역에서 </a:t>
            </a:r>
            <a:endParaRPr lang="en-US" altLang="ko-KR" sz="1100" b="1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1">
                  <a:alpha val="80000"/>
                </a:schemeClr>
              </a:solidFill>
              <a:latin typeface="프리젠테이션 6 SemiBold" pitchFamily="2" charset="-127"/>
              <a:ea typeface="프리젠테이션 6 SemiBold" pitchFamily="2" charset="-127"/>
              <a:cs typeface="Pretendard" panose="02000503000000020004" pitchFamily="2" charset="-127"/>
            </a:endParaRPr>
          </a:p>
          <a:p>
            <a:pPr latinLnBrk="0">
              <a:lnSpc>
                <a:spcPct val="150000"/>
              </a:lnSpc>
            </a:pPr>
            <a:r>
              <a:rPr lang="ko-KR" altLang="en-US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고객의 </a:t>
            </a:r>
            <a:r>
              <a:rPr lang="en-US" altLang="ko-KR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Business</a:t>
            </a:r>
            <a:r>
              <a:rPr lang="ko-KR" altLang="en-US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를 선도하는 </a:t>
            </a:r>
            <a:r>
              <a:rPr lang="en-US" altLang="ko-KR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Digital Innovator</a:t>
            </a:r>
            <a:r>
              <a:rPr lang="ko-KR" altLang="en-US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입니다</a:t>
            </a:r>
            <a:r>
              <a:rPr lang="en-US" altLang="ko-KR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6616" y="4187952"/>
            <a:ext cx="9144000" cy="543635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/>
            <a:r>
              <a:rPr lang="ko-KR" altLang="en-US" sz="24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Expert Introduction — 아키텍처 · 핵심 기능 · 운영 전략</a:t>
            </a:r>
          </a:p>
        </p:txBody>
      </p:sp>
      <p:cxnSp>
        <p:nvCxnSpPr>
          <p:cNvPr id="28" name="직선 연결선 27"/>
          <p:cNvCxnSpPr/>
          <p:nvPr/>
        </p:nvCxnSpPr>
        <p:spPr>
          <a:xfrm>
            <a:off x="355601" y="5759125"/>
            <a:ext cx="11444514" cy="0"/>
          </a:xfrm>
          <a:prstGeom prst="line">
            <a:avLst/>
          </a:prstGeom>
          <a:ln w="3175">
            <a:solidFill>
              <a:schemeClr val="bg1">
                <a:lumMod val="75000"/>
                <a:alpha val="33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357415" y="29028"/>
            <a:ext cx="1940700" cy="397808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>
              <a:lnSpc>
                <a:spcPct val="150000"/>
              </a:lnSpc>
            </a:pPr>
            <a:r>
              <a:rPr lang="en-US" altLang="ko-KR" sz="12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8715" y="29028"/>
            <a:ext cx="1940700" cy="397808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>
              <a:lnSpc>
                <a:spcPct val="150000"/>
              </a:lnSpc>
            </a:pPr>
            <a:r>
              <a:rPr lang="en-US" altLang="ko-KR" sz="12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04/16</a:t>
            </a:r>
          </a:p>
        </p:txBody>
      </p:sp>
    </p:spTree>
    <p:extLst>
      <p:ext uri="{BB962C8B-B14F-4D97-AF65-F5344CB8AC3E}">
        <p14:creationId xmlns:p14="http://schemas.microsoft.com/office/powerpoint/2010/main" val="12793857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/>
          <p:cNvSpPr txBox="1"/>
          <p:nvPr/>
        </p:nvSpPr>
        <p:spPr>
          <a:xfrm>
            <a:off x="354805" y="545902"/>
            <a:ext cx="3112294" cy="51076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>
              <a:lnSpc>
                <a:spcPct val="120000"/>
              </a:lnSpc>
            </a:pPr>
            <a:r>
              <a:rPr lang="en-US" altLang="ko-KR" sz="2800" dirty="0"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 ExtraBold" panose="02000903000000020004" pitchFamily="2" charset="-127"/>
              </a:rPr>
              <a:t>CONTENTS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367314" y="1715534"/>
            <a:ext cx="1161474" cy="461664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spAutoFit/>
          </a:bodyPr>
          <a:lstStyle/>
          <a:p>
            <a:pPr algn="ctr" latinLnBrk="0">
              <a:lnSpc>
                <a:spcPct val="250000"/>
              </a:lnSpc>
            </a:pPr>
            <a:r>
              <a:rPr lang="en-US" altLang="ko-KR" sz="240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1</a:t>
            </a:r>
          </a:p>
          <a:p>
            <a:pPr algn="ctr" latinLnBrk="0">
              <a:lnSpc>
                <a:spcPct val="250000"/>
              </a:lnSpc>
            </a:pPr>
            <a:r>
              <a:rPr lang="en-US" altLang="ko-KR" sz="240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2</a:t>
            </a:r>
          </a:p>
          <a:p>
            <a:pPr algn="ctr" latinLnBrk="0">
              <a:lnSpc>
                <a:spcPct val="250000"/>
              </a:lnSpc>
            </a:pPr>
            <a:r>
              <a:rPr lang="en-US" altLang="ko-KR" sz="240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3</a:t>
            </a:r>
          </a:p>
          <a:p>
            <a:pPr algn="ctr" latinLnBrk="0">
              <a:lnSpc>
                <a:spcPct val="250000"/>
              </a:lnSpc>
            </a:pP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  <a:p>
            <a:pPr algn="ctr" latinLnBrk="0">
              <a:lnSpc>
                <a:spcPct val="250000"/>
              </a:lnSpc>
            </a:pP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4543668" y="1715534"/>
            <a:ext cx="5129783" cy="461664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spAutoFit/>
          </a:bodyPr>
          <a:lstStyle/>
          <a:p>
            <a:pPr latinLnBrk="0">
              <a:lnSpc>
                <a:spcPct val="250000"/>
              </a:lnSpc>
              <a:buClr>
                <a:srgbClr val="1F43F9"/>
              </a:buClr>
            </a:pPr>
            <a:r>
              <a:rPr lang="ko-KR" altLang="en-US" sz="24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MSK 아키텍처 및 핵심 개념</a:t>
            </a: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  <a:p>
            <a:pPr latinLnBrk="0">
              <a:lnSpc>
                <a:spcPct val="250000"/>
              </a:lnSpc>
              <a:buClr>
                <a:srgbClr val="1F43F9"/>
              </a:buClr>
            </a:pPr>
            <a:r>
              <a:rPr lang="ko-KR" altLang="en-US" sz="24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MSK 클러스터 구성과 핵심 기능</a:t>
            </a: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  <a:p>
            <a:pPr latinLnBrk="0">
              <a:lnSpc>
                <a:spcPct val="250000"/>
              </a:lnSpc>
              <a:buClr>
                <a:srgbClr val="1F43F9"/>
              </a:buClr>
            </a:pPr>
            <a:r>
              <a:rPr lang="ko-KR" altLang="en-US" sz="24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MSK 운영 전략 및 Best Practices</a:t>
            </a: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  <a:p>
            <a:pPr latinLnBrk="0">
              <a:lnSpc>
                <a:spcPct val="250000"/>
              </a:lnSpc>
              <a:buClr>
                <a:srgbClr val="1F43F9"/>
              </a:buClr>
            </a:pP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  <a:p>
            <a:pPr latinLnBrk="0">
              <a:lnSpc>
                <a:spcPct val="250000"/>
              </a:lnSpc>
              <a:buClr>
                <a:srgbClr val="1F43F9"/>
              </a:buClr>
            </a:pP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</p:txBody>
      </p:sp>
      <p:grpSp>
        <p:nvGrpSpPr>
          <p:cNvPr id="53" name="그룹 52"/>
          <p:cNvGrpSpPr/>
          <p:nvPr/>
        </p:nvGrpSpPr>
        <p:grpSpPr>
          <a:xfrm>
            <a:off x="3806048" y="2760055"/>
            <a:ext cx="8385952" cy="2761457"/>
            <a:chOff x="3764222" y="1060078"/>
            <a:chExt cx="5147549" cy="1685118"/>
          </a:xfrm>
        </p:grpSpPr>
        <p:cxnSp>
          <p:nvCxnSpPr>
            <p:cNvPr id="54" name="직선 연결선 53"/>
            <p:cNvCxnSpPr/>
            <p:nvPr/>
          </p:nvCxnSpPr>
          <p:spPr>
            <a:xfrm>
              <a:off x="3764222" y="1060078"/>
              <a:ext cx="5147549" cy="0"/>
            </a:xfrm>
            <a:prstGeom prst="line">
              <a:avLst/>
            </a:prstGeom>
            <a:ln w="3175">
              <a:solidFill>
                <a:schemeClr val="bg1">
                  <a:lumMod val="75000"/>
                  <a:alpha val="48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직선 연결선 54"/>
            <p:cNvCxnSpPr/>
            <p:nvPr/>
          </p:nvCxnSpPr>
          <p:spPr>
            <a:xfrm>
              <a:off x="3764222" y="1621784"/>
              <a:ext cx="5147549" cy="0"/>
            </a:xfrm>
            <a:prstGeom prst="line">
              <a:avLst/>
            </a:prstGeom>
            <a:ln w="3175">
              <a:solidFill>
                <a:schemeClr val="bg1">
                  <a:lumMod val="75000"/>
                  <a:alpha val="48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직선 연결선 55"/>
            <p:cNvCxnSpPr/>
            <p:nvPr/>
          </p:nvCxnSpPr>
          <p:spPr>
            <a:xfrm>
              <a:off x="3764222" y="2183490"/>
              <a:ext cx="5147549" cy="0"/>
            </a:xfrm>
            <a:prstGeom prst="line">
              <a:avLst/>
            </a:prstGeom>
            <a:ln w="3175">
              <a:solidFill>
                <a:schemeClr val="bg1">
                  <a:lumMod val="75000"/>
                  <a:alpha val="48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직선 연결선 56"/>
            <p:cNvCxnSpPr/>
            <p:nvPr/>
          </p:nvCxnSpPr>
          <p:spPr>
            <a:xfrm>
              <a:off x="3764222" y="2745196"/>
              <a:ext cx="5147549" cy="0"/>
            </a:xfrm>
            <a:prstGeom prst="line">
              <a:avLst/>
            </a:prstGeom>
            <a:ln w="3175">
              <a:solidFill>
                <a:schemeClr val="bg1">
                  <a:lumMod val="75000"/>
                  <a:alpha val="48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525502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57200" y="2560320"/>
            <a:ext cx="5394960" cy="384048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081308" y="2560320"/>
            <a:ext cx="5650992" cy="20574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081308" y="4892040"/>
            <a:ext cx="5650992" cy="150876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22960" y="4796028"/>
            <a:ext cx="4846320" cy="13716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097280" y="5070348"/>
            <a:ext cx="1097280" cy="457200"/>
          </a:xfrm>
          <a:prstGeom prst="roundRect">
            <a:avLst/>
          </a:prstGeom>
          <a:solidFill>
            <a:srgbClr val="EE81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2468880" y="5070348"/>
            <a:ext cx="1097280" cy="457200"/>
          </a:xfrm>
          <a:prstGeom prst="roundRect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3840480" y="5070348"/>
            <a:ext cx="1097280" cy="457200"/>
          </a:xfrm>
          <a:prstGeom prst="roundRect">
            <a:avLst/>
          </a:prstGeom>
          <a:solidFill>
            <a:srgbClr val="4CB8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ight Arrow 9"/>
          <p:cNvSpPr/>
          <p:nvPr/>
        </p:nvSpPr>
        <p:spPr>
          <a:xfrm>
            <a:off x="2194560" y="5185562"/>
            <a:ext cx="274320" cy="228600"/>
          </a:xfrm>
          <a:prstGeom prst="rightArrow">
            <a:avLst/>
          </a:prstGeom>
          <a:solidFill>
            <a:srgbClr val="969696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ight Arrow 10"/>
          <p:cNvSpPr/>
          <p:nvPr/>
        </p:nvSpPr>
        <p:spPr>
          <a:xfrm>
            <a:off x="3566160" y="5185562"/>
            <a:ext cx="274320" cy="228600"/>
          </a:xfrm>
          <a:prstGeom prst="rightArrow">
            <a:avLst/>
          </a:prstGeom>
          <a:solidFill>
            <a:srgbClr val="969696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54787" y="557784"/>
            <a:ext cx="2720340" cy="93268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43DA"/>
                </a:solidFill>
                <a:latin typeface="Freesentation"/>
              </a:rPr>
              <a:t>L01. Bento</a:t>
            </a:r>
          </a:p>
          <a:p>
            <a:pPr algn="l"/>
            <a:r>
              <a:rPr sz="2800" b="1">
                <a:solidFill>
                  <a:srgbClr val="0043DA"/>
                </a:solidFill>
                <a:latin typeface="Freesentation"/>
              </a:rPr>
              <a:t>Grid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62756" y="558698"/>
            <a:ext cx="7550200" cy="93817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400">
                <a:solidFill>
                  <a:srgbClr val="4A4A4A"/>
                </a:solidFill>
                <a:latin typeface="Freesentation"/>
              </a:rPr>
              <a:t>좌 50% + 우 2분할 레이아웃 테스트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600200"/>
            <a:ext cx="11277295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MSK 핵심 아키텍처와 클러스터 유형별 특성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965960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아키텍처 개요, 클러스터 유형(Provisioned/Serverless/Express), 보안 체계 비교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00" y="2791402"/>
            <a:ext cx="503496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MSK 아키텍처 개요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200" y="3219442"/>
            <a:ext cx="5034960" cy="15544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완전관리형 Apache Kafka 서비스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Multi-AZ 자동 복제 및 고가용성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브로커/파티션 자동 스케일링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AWS 서비스 네이티브 통합 (Lambda, Kinesis, Glue, S3)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오픈소스 호환 — 코드 변경 불필요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1308" y="2637487"/>
            <a:ext cx="5290992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클러스터 유형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1308" y="3065527"/>
            <a:ext cx="5290992" cy="13716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Provisioned: 직접 지정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Serverless: 자동 스케일링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Express: 고성능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1308" y="4938408"/>
            <a:ext cx="5290992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보안 체계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1308" y="5366448"/>
            <a:ext cx="5290992" cy="10058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IAM / SASL-SCRAM / mTLS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TLS + KMS 암호화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Security Group 접근 제어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5070348"/>
            <a:ext cx="109728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Freesentation"/>
              </a:rPr>
              <a:t>Producer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68880" y="5070348"/>
            <a:ext cx="109728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Freesentation"/>
              </a:rPr>
              <a:t>MSK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40480" y="5070348"/>
            <a:ext cx="109728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Freesentation"/>
              </a:rPr>
              <a:t>Consumer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8000" y="5619600"/>
            <a:ext cx="1098000" cy="2286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A4A4A"/>
                </a:solidFill>
                <a:latin typeface="Freesentation"/>
              </a:rPr>
              <a:t>App / SDK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9600" y="5619600"/>
            <a:ext cx="1098000" cy="2286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A4A4A"/>
                </a:solidFill>
                <a:latin typeface="Freesentation"/>
              </a:rPr>
              <a:t>Topic/Part.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1200" y="5619600"/>
            <a:ext cx="1098000" cy="2286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A4A4A"/>
                </a:solidFill>
                <a:latin typeface="Freesentation"/>
              </a:rPr>
              <a:t>Consumer Grp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884133" y="2560320"/>
            <a:ext cx="1828800" cy="1188720"/>
          </a:xfrm>
          <a:prstGeom prst="roundRect">
            <a:avLst/>
          </a:prstGeom>
          <a:solidFill>
            <a:srgbClr val="EE81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FFFFFF"/>
                </a:solidFill>
              </a:rPr>
              <a:t>Producer</a:t>
            </a:r>
          </a:p>
        </p:txBody>
      </p:sp>
      <p:sp>
        <p:nvSpPr>
          <p:cNvPr id="4" name="Right Arrow 3"/>
          <p:cNvSpPr/>
          <p:nvPr/>
        </p:nvSpPr>
        <p:spPr>
          <a:xfrm>
            <a:off x="2895630" y="2972074"/>
            <a:ext cx="457200" cy="365760"/>
          </a:xfrm>
          <a:prstGeom prst="rightArrow">
            <a:avLst/>
          </a:prstGeom>
          <a:solidFill>
            <a:srgbClr val="EE81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3535710" y="2560320"/>
            <a:ext cx="5120640" cy="1188720"/>
          </a:xfrm>
          <a:prstGeom prst="roundRect">
            <a:avLst/>
          </a:prstGeom>
          <a:solidFill>
            <a:srgbClr val="E6F0FF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715710" y="2597150"/>
            <a:ext cx="476064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300" b="1">
                <a:latin typeface="Freesentation"/>
                <a:solidFill>
                  <a:srgbClr val="1B3A5C"/>
                </a:solidFill>
              </a:rPr>
              <a:t>MSK Cluster (Multi-AZ Brokers)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18590" y="3154680"/>
            <a:ext cx="1494129" cy="411480"/>
          </a:xfrm>
          <a:prstGeom prst="roundRect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>
                <a:solidFill>
                  <a:srgbClr val="FFFFFF"/>
                </a:solidFill>
              </a:rPr>
              <a:t>Broker (AZ-a)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49880" y="3154680"/>
            <a:ext cx="1494129" cy="411480"/>
          </a:xfrm>
          <a:prstGeom prst="roundRect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>
                <a:solidFill>
                  <a:srgbClr val="FFFFFF"/>
                </a:solidFill>
              </a:rPr>
              <a:t>Broker (AZ-b)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81169" y="3154680"/>
            <a:ext cx="1494129" cy="411480"/>
          </a:xfrm>
          <a:prstGeom prst="roundRect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>
                <a:solidFill>
                  <a:srgbClr val="FFFFFF"/>
                </a:solidFill>
              </a:rPr>
              <a:t>Broker (AZ-c)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839230" y="2972074"/>
            <a:ext cx="457200" cy="365760"/>
          </a:xfrm>
          <a:prstGeom prst="rightArrow">
            <a:avLst/>
          </a:prstGeom>
          <a:solidFill>
            <a:srgbClr val="4CB8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9479310" y="2560320"/>
            <a:ext cx="1828800" cy="1188720"/>
          </a:xfrm>
          <a:prstGeom prst="roundRect">
            <a:avLst/>
          </a:prstGeom>
          <a:solidFill>
            <a:srgbClr val="4CB8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FFFFFF"/>
                </a:solidFill>
              </a:rPr>
              <a:t>Consumer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4023360"/>
            <a:ext cx="3605479" cy="22860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4293108" y="4023360"/>
            <a:ext cx="3605479" cy="22860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8129016" y="4023360"/>
            <a:ext cx="3605479" cy="22860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7200" y="4116696"/>
            <a:ext cx="3245479" cy="30449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핵심 구성요소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00" y="4529191"/>
            <a:ext cx="3245479" cy="16459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Broker: 메시지 저장/전달 노드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Topic: 메시지 카테고리 단위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Partition: 병렬 처리 단위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Replication Factor: 데이터 복제 수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ZooKeeper / KRaft: 메타데이터 관리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73108" y="4116696"/>
            <a:ext cx="3245479" cy="30449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네트워크 구성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73108" y="4529191"/>
            <a:ext cx="3245479" cy="16459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VPC 내 Private Subnet 배치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Security Group 기반 접근 제어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ENI: 브로커별 네트워크 인터페이스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PrivateLink: Cross-VPC 연결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Multi-AZ 자동 분산 배치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09016" y="4116696"/>
            <a:ext cx="3245479" cy="30449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스토리지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09016" y="4529191"/>
            <a:ext cx="3245479" cy="16459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EBS gp3: 기본 브로커 스토리지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Provisioned IOPS: 고성능 워크로드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Tiered Storage: S3 기반 장기 보관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자동 확장: 디스크 용량 자동 증설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보존 기간별 계층화 전략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4787" y="557784"/>
            <a:ext cx="2720340" cy="93268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043DA"/>
                </a:solidFill>
                <a:latin typeface="Freesentation"/>
              </a:rPr>
              <a:t>L02.</a:t>
            </a:r>
          </a:p>
          <a:p>
            <a:r>
              <a:rPr sz="2800" b="1">
                <a:solidFill>
                  <a:srgbClr val="0043DA"/>
                </a:solidFill>
                <a:latin typeface="Freesentation"/>
              </a:rPr>
              <a:t>Three Cards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62756" y="558698"/>
            <a:ext cx="7550200" cy="93817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400">
                <a:solidFill>
                  <a:srgbClr val="4A4A4A"/>
                </a:solidFill>
                <a:latin typeface="Freesentation"/>
              </a:rPr>
              <a:t>3열 카드 레이아웃 테스트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1600200"/>
            <a:ext cx="11277295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Producer → MSK Cluster → Consumer 데이터 흐름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1965960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메시지 생산부터 소비까지의 전체 아키텍처 구성도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64093" y="2560320"/>
            <a:ext cx="5394960" cy="18288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233190" y="2560320"/>
            <a:ext cx="5394960" cy="18288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64093" y="4663440"/>
            <a:ext cx="5394960" cy="173736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233190" y="4663440"/>
            <a:ext cx="5394960" cy="173736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44093" y="2623042"/>
            <a:ext cx="5034960" cy="3657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브로커 관리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13190" y="2623042"/>
            <a:ext cx="5034960" cy="3657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스토리지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4093" y="4720968"/>
            <a:ext cx="5034960" cy="3657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모니터링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13190" y="4720968"/>
            <a:ext cx="5034960" cy="3657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MSK Connect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4093" y="3096802"/>
            <a:ext cx="5034960" cy="10972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Multi-AZ 자동 분산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장애 시 자동 복구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인스턴스 타입 변경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3190" y="3096802"/>
            <a:ext cx="5034960" cy="10972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EBS gp3 기본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Tiered Storage (S3)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자동 디스크 확장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4093" y="5194728"/>
            <a:ext cx="5034960" cy="10972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CloudWatch 3단계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Prometheus 호환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Broker 로그 전송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13190" y="5194728"/>
            <a:ext cx="5034960" cy="10972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Kafka Connect 관리형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Source/Sink 플러그인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Auto Scaling</a:t>
            </a:r>
          </a:p>
        </p:txBody>
      </p:sp>
      <p:pic>
        <p:nvPicPr>
          <p:cNvPr id="15" name="Picture 14" descr="ser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4784" y="2697480"/>
            <a:ext cx="411480" cy="411480"/>
          </a:xfrm>
          <a:prstGeom prst="rect">
            <a:avLst/>
          </a:prstGeom>
        </p:spPr>
      </p:pic>
      <p:pic>
        <p:nvPicPr>
          <p:cNvPr id="16" name="Picture 15" descr="stor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34064" y="2697480"/>
            <a:ext cx="411480" cy="411480"/>
          </a:xfrm>
          <a:prstGeom prst="rect">
            <a:avLst/>
          </a:prstGeom>
        </p:spPr>
      </p:pic>
      <p:pic>
        <p:nvPicPr>
          <p:cNvPr id="17" name="Picture 16" descr="monitor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64784" y="4800600"/>
            <a:ext cx="411480" cy="411480"/>
          </a:xfrm>
          <a:prstGeom prst="rect">
            <a:avLst/>
          </a:prstGeom>
        </p:spPr>
      </p:pic>
      <p:pic>
        <p:nvPicPr>
          <p:cNvPr id="18" name="Picture 17" descr="connec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34064" y="4800600"/>
            <a:ext cx="411480" cy="4114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54787" y="557784"/>
            <a:ext cx="2720340" cy="93268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43DA"/>
                </a:solidFill>
                <a:latin typeface="Freesentation"/>
              </a:rPr>
              <a:t>L03. Grid 2x2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62756" y="558698"/>
            <a:ext cx="7550200" cy="93817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400">
                <a:solidFill>
                  <a:srgbClr val="4A4A4A"/>
                </a:solidFill>
                <a:latin typeface="Freesentation"/>
              </a:rPr>
              <a:t>2x2 카드 그리드 레이아웃 테스트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1600200"/>
            <a:ext cx="11277295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MSK 클러스터 운영 핵심 요소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1965960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브로커 관리, 스토리지, 모니터링, MSK Connect 통합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57200" y="2560320"/>
            <a:ext cx="2647950" cy="548640"/>
          </a:xfrm>
          <a:prstGeom prst="chevron">
            <a:avLst>
              <a:gd name="adj" fmla="val 50000"/>
            </a:avLst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FFFFFF"/>
                </a:solidFill>
              </a:rPr>
              <a:t>1. 설계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332988" y="2560320"/>
            <a:ext cx="2647950" cy="548640"/>
          </a:xfrm>
          <a:prstGeom prst="chevron">
            <a:avLst>
              <a:gd name="adj" fmla="val 50000"/>
            </a:avLst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FFFFFF"/>
                </a:solidFill>
              </a:rPr>
              <a:t>2. 생성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08776" y="2560320"/>
            <a:ext cx="2647950" cy="548640"/>
          </a:xfrm>
          <a:prstGeom prst="chevron">
            <a:avLst>
              <a:gd name="adj" fmla="val 50000"/>
            </a:avLst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FFFFFF"/>
                </a:solidFill>
              </a:rPr>
              <a:t>3. 연결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83649" y="2560320"/>
            <a:ext cx="2647950" cy="548640"/>
          </a:xfrm>
          <a:prstGeom prst="chevron">
            <a:avLst>
              <a:gd name="adj" fmla="val 50000"/>
            </a:avLst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FFFFFF"/>
                </a:solidFill>
              </a:rPr>
              <a:t>4. 운영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383280"/>
            <a:ext cx="2646273" cy="301752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3332988" y="3383280"/>
            <a:ext cx="2646273" cy="301752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208776" y="3383280"/>
            <a:ext cx="2646273" cy="301752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9083649" y="3383280"/>
            <a:ext cx="2646273" cy="301752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7200" y="3504835"/>
            <a:ext cx="2286273" cy="28803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VPC/Subnet 설계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브로커 수 결정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보안 그룹 설정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2988" y="3504835"/>
            <a:ext cx="2286273" cy="28803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클러스터 생성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인증 방식 설정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암호화 활성화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88776" y="3504835"/>
            <a:ext cx="2286273" cy="28803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Producer 연결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MSK Connect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PrivateLink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63649" y="3504835"/>
            <a:ext cx="2286273" cy="28803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모니터링 구성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파티션 리밸런싱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비용 최적화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4787" y="557784"/>
            <a:ext cx="2720340" cy="93268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43DA"/>
                </a:solidFill>
                <a:latin typeface="Freesentation"/>
              </a:rPr>
              <a:t>L04. Process</a:t>
            </a:r>
          </a:p>
          <a:p>
            <a:r>
              <a:rPr sz="2800" b="1">
                <a:solidFill>
                  <a:srgbClr val="0043DA"/>
                </a:solidFill>
                <a:latin typeface="Freesentation"/>
              </a:rPr>
              <a:t>Arrow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62756" y="558698"/>
            <a:ext cx="7550200" cy="93817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400">
                <a:solidFill>
                  <a:srgbClr val="4A4A4A"/>
                </a:solidFill>
                <a:latin typeface="Freesentation"/>
              </a:rPr>
              <a:t>4단계 프로세스 화살표 레이아웃 테스트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1600200"/>
            <a:ext cx="11277295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MSK 도입 4단계 프로세스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1965960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설계 → 생성 → 연결 → 운영 단계별 핵심 작업 및 체크포인트</a:t>
            </a:r>
          </a:p>
        </p:txBody>
      </p:sp>
      <p:pic>
        <p:nvPicPr>
          <p:cNvPr id="20" name="Picture 19" descr="L04_rId2_image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4600" y="5806440"/>
            <a:ext cx="411480" cy="411480"/>
          </a:xfrm>
          <a:prstGeom prst="rect">
            <a:avLst/>
          </a:prstGeom>
        </p:spPr>
      </p:pic>
      <p:pic>
        <p:nvPicPr>
          <p:cNvPr id="21" name="Picture 20" descr="L04_rId3_image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4960" y="5806440"/>
            <a:ext cx="411480" cy="411480"/>
          </a:xfrm>
          <a:prstGeom prst="rect">
            <a:avLst/>
          </a:prstGeom>
        </p:spPr>
      </p:pic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6175" y="5806440"/>
            <a:ext cx="411480" cy="411480"/>
          </a:xfrm>
          <a:prstGeom prst="rect">
            <a:avLst/>
          </a:prstGeom>
        </p:spPr>
      </p:pic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46536" y="5806440"/>
            <a:ext cx="411480" cy="4114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57200" y="2560320"/>
            <a:ext cx="2646273" cy="457200"/>
          </a:xfrm>
          <a:prstGeom prst="roundRect">
            <a:avLst/>
          </a:prstGeom>
          <a:solidFill>
            <a:srgbClr val="001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Phase 1: 평가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332988" y="2560320"/>
            <a:ext cx="2646273" cy="457200"/>
          </a:xfrm>
          <a:prstGeom prst="roundRect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Phase 2: 설계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08776" y="2560320"/>
            <a:ext cx="2646273" cy="457200"/>
          </a:xfrm>
          <a:prstGeom prst="roundRect">
            <a:avLst/>
          </a:prstGeom>
          <a:solidFill>
            <a:srgbClr val="EE81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Phase 3: 구축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83649" y="2560320"/>
            <a:ext cx="2646273" cy="457200"/>
          </a:xfrm>
          <a:prstGeom prst="roundRect">
            <a:avLst/>
          </a:prstGeom>
          <a:solidFill>
            <a:srgbClr val="4CB8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Phase 4: 운영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200400"/>
            <a:ext cx="2646273" cy="32004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3332988" y="3200400"/>
            <a:ext cx="2646273" cy="32004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208776" y="3200400"/>
            <a:ext cx="2646273" cy="32004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9083649" y="3200400"/>
            <a:ext cx="2646273" cy="32004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7200" y="3321955"/>
            <a:ext cx="2286273" cy="30632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현재 환경 분석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워크로드 파악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비용/성능 비교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2988" y="3321955"/>
            <a:ext cx="2286273" cy="30632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클러스터 유형 선택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네트워크 설계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보안 아키텍처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88776" y="3321955"/>
            <a:ext cx="2286273" cy="30632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클러스터 프로비저닝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MirrorMaker 설정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데이터 동기화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63649" y="3321955"/>
            <a:ext cx="2286273" cy="30632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모니터링 대시보드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알림 정책 설정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성능 튜닝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4787" y="557784"/>
            <a:ext cx="2720340" cy="93268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43DA"/>
                </a:solidFill>
                <a:latin typeface="Freesentation"/>
              </a:rPr>
              <a:t>L05. Phased</a:t>
            </a:r>
          </a:p>
          <a:p>
            <a:r>
              <a:rPr sz="2800" b="1">
                <a:solidFill>
                  <a:srgbClr val="0043DA"/>
                </a:solidFill>
                <a:latin typeface="Freesentation"/>
              </a:rPr>
              <a:t>Columns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62756" y="558698"/>
            <a:ext cx="7550200" cy="93817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400">
                <a:solidFill>
                  <a:srgbClr val="4A4A4A"/>
                </a:solidFill>
                <a:latin typeface="Freesentation"/>
              </a:rPr>
              <a:t>단계별 그라데이션 컬럼 레이아웃 테스트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1600200"/>
            <a:ext cx="11277295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MSK 전환 4단계 로드맵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1965960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평가 → 설계 → 구축 → 운영 단계별 주요 액션과 산출물</a:t>
            </a:r>
          </a:p>
        </p:txBody>
      </p:sp>
      <p:pic>
        <p:nvPicPr>
          <p:cNvPr id="20" name="Picture 19" descr="L05_rId2_image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0942" y="5807354"/>
            <a:ext cx="411480" cy="411480"/>
          </a:xfrm>
          <a:prstGeom prst="rect">
            <a:avLst/>
          </a:prstGeom>
        </p:spPr>
      </p:pic>
      <p:pic>
        <p:nvPicPr>
          <p:cNvPr id="21" name="Picture 20" descr="L04_rId2_image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87644" y="5807354"/>
            <a:ext cx="411480" cy="411480"/>
          </a:xfrm>
          <a:prstGeom prst="rect">
            <a:avLst/>
          </a:prstGeom>
        </p:spPr>
      </p:pic>
      <p:pic>
        <p:nvPicPr>
          <p:cNvPr id="22" name="Picture 21" descr="L05_rId4_image1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3432" y="5807354"/>
            <a:ext cx="411480" cy="411480"/>
          </a:xfrm>
          <a:prstGeom prst="rect">
            <a:avLst/>
          </a:prstGeom>
        </p:spPr>
      </p:pic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40135" y="5807354"/>
            <a:ext cx="411480" cy="4114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679;p32"/>
          <p:cNvSpPr txBox="1">
            <a:spLocks/>
          </p:cNvSpPr>
          <p:nvPr/>
        </p:nvSpPr>
        <p:spPr>
          <a:xfrm>
            <a:off x="0" y="2699114"/>
            <a:ext cx="12192000" cy="1019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0"/>
              </a:spcBef>
              <a:buClr>
                <a:schemeClr val="lt1"/>
              </a:buClr>
              <a:buSzPts val="4000"/>
              <a:buNone/>
            </a:pPr>
            <a:r>
              <a:rPr lang="en-US" altLang="ko-KR" sz="6000" dirty="0">
                <a:solidFill>
                  <a:schemeClr val="bg1"/>
                </a:solidFill>
                <a:latin typeface="프리젠테이션 7 Bold" pitchFamily="2" charset="-127"/>
                <a:ea typeface="프리젠테이션 7 Bold" pitchFamily="2" charset="-127"/>
              </a:rPr>
              <a:t>Thank You</a:t>
            </a:r>
          </a:p>
        </p:txBody>
      </p:sp>
      <p:pic>
        <p:nvPicPr>
          <p:cNvPr id="28" name="그림 2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2036" y="378400"/>
            <a:ext cx="1329872" cy="330546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3398157" y="3870726"/>
            <a:ext cx="5395685" cy="543635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/>
            <a:r>
              <a:rPr lang="en-US" altLang="ko-KR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GS</a:t>
            </a:r>
            <a:r>
              <a:rPr lang="ko-KR" altLang="en-US" sz="16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네오텍의</a:t>
            </a:r>
            <a:r>
              <a:rPr lang="ko-KR" altLang="en-US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IT</a:t>
            </a:r>
            <a:r>
              <a:rPr lang="ko-KR" altLang="en-US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서비스 브랜드 </a:t>
            </a:r>
            <a:r>
              <a:rPr lang="en-US" altLang="ko-KR" sz="16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WiseN</a:t>
            </a:r>
            <a:r>
              <a:rPr lang="ko-KR" altLang="en-US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으로 진정한 프리미엄을 경험하세요</a:t>
            </a:r>
            <a:r>
              <a:rPr lang="en-US" altLang="ko-KR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7223604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5">
      <a:dk1>
        <a:sysClr val="windowText" lastClr="000000"/>
      </a:dk1>
      <a:lt1>
        <a:sysClr val="window" lastClr="FFFFFF"/>
      </a:lt1>
      <a:dk2>
        <a:srgbClr val="A5A5A5"/>
      </a:dk2>
      <a:lt2>
        <a:srgbClr val="E7E6E6"/>
      </a:lt2>
      <a:accent1>
        <a:srgbClr val="0043DA"/>
      </a:accent1>
      <a:accent2>
        <a:srgbClr val="4CB88F"/>
      </a:accent2>
      <a:accent3>
        <a:srgbClr val="EE8150"/>
      </a:accent3>
      <a:accent4>
        <a:srgbClr val="2A6FDE"/>
      </a:accent4>
      <a:accent5>
        <a:srgbClr val="000000"/>
      </a:accent5>
      <a:accent6>
        <a:srgbClr val="000000"/>
      </a:accent6>
      <a:hlink>
        <a:srgbClr val="0563C1"/>
      </a:hlink>
      <a:folHlink>
        <a:srgbClr val="954F72"/>
      </a:folHlink>
    </a:clrScheme>
    <a:fontScheme name="GS네오텍">
      <a:majorFont>
        <a:latin typeface="프리젠테이션 7 Bold"/>
        <a:ea typeface="프리젠테이션 7 Bold"/>
        <a:cs typeface=""/>
      </a:majorFont>
      <a:minorFont>
        <a:latin typeface="프리젠테이션 4 Regular"/>
        <a:ea typeface="프리젠테이션 4 Regular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6792</TotalTime>
  <Words>594</Words>
  <Application>Microsoft Macintosh PowerPoint</Application>
  <PresentationFormat>Widescreen</PresentationFormat>
  <Paragraphs>135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7" baseType="lpstr">
      <vt:lpstr>Freesentation</vt:lpstr>
      <vt:lpstr>맑은 고딕</vt:lpstr>
      <vt:lpstr>Pretendard</vt:lpstr>
      <vt:lpstr>Pretendard ExtraBold</vt:lpstr>
      <vt:lpstr>프리젠테이션 4 Regular</vt:lpstr>
      <vt:lpstr>프리젠테이션 6 SemiBold</vt:lpstr>
      <vt:lpstr>프리젠테이션 7 Bold</vt:lpstr>
      <vt:lpstr>Arial</vt:lpstr>
      <vt:lpstr>Office 테마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16.0016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디자이너</dc:creator>
  <cp:lastModifiedBy>이 홍섭</cp:lastModifiedBy>
  <cp:revision>774</cp:revision>
  <dcterms:created xsi:type="dcterms:W3CDTF">2022-03-02T05:40:55Z</dcterms:created>
  <dcterms:modified xsi:type="dcterms:W3CDTF">2026-04-15T17:20:02Z</dcterms:modified>
</cp:coreProperties>
</file>