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358" r:id="rId2"/>
    <p:sldId id="304" r:id="rId3"/>
    <p:sldId id="368" r:id="rId4"/>
    <p:sldId id="369" r:id="rId5"/>
    <p:sldId id="370" r:id="rId6"/>
    <p:sldId id="371" r:id="rId7"/>
    <p:sldId id="372" r:id="rId8"/>
    <p:sldId id="373" r:id="rId9"/>
    <p:sldId id="374" r:id="rId10"/>
    <p:sldId id="375" r:id="rId11"/>
    <p:sldId id="35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EC584391-9A90-4C3D-BC4F-B1FBB8C44D9F}">
          <p14:sldIdLst>
            <p14:sldId id="358"/>
          </p14:sldIdLst>
        </p14:section>
        <p14:section name="목차" id="{920A679F-A144-4F43-AE97-A0E33ABAD423}">
          <p14:sldIdLst>
            <p14:sldId id="304"/>
          </p14:sldIdLst>
        </p14:section>
        <p14:section name="본문" id="{21264EAA-BFA0-4D88-B1A3-5C01B530CD81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</p14:sldIdLst>
        </p14:section>
        <p14:section name="끝맺음" id="{332F041B-66CB-4617-B3C5-6F18A7079F3A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53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936" y="1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Relationship Id="rId5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7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60525" y="1490472"/>
            <a:ext cx="887095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 algn="ctr"/>
            <a:r>
              <a:rPr sz="5000" b="0">
                <a:latin typeface="Freesentation"/>
              </a:rPr>
              <a:t>Amazon Managed Streaming</a:t>
            </a:r>
            <a:br/>
            <a:r>
              <a:rPr sz="5000" b="0">
                <a:latin typeface="Freesentation"/>
              </a:rPr>
              <a:t>for Apache Kafka 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5450" y="4187952"/>
            <a:ext cx="88011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04/13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Freesentation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Freesentation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54864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>
                <a:latin typeface="Freesentation"/>
              </a:rPr>
              <a:t>1-1. MSK 아키텍처 개요</a:t>
            </a:r>
            <a:endParaRPr lang="ko-KR" altLang="en-US" sz="2800" b="1" dirty="0">
              <a:solidFill>
                <a:srgbClr val="0043DA"/>
              </a:solidFill>
              <a:latin typeface="프리젠테이션 7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Apache Kafka 완전관리형 서비스의 구성 요소와 데이터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EE8150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754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4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10880" y="4160520"/>
            <a:ext cx="324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0880" y="4526280"/>
            <a:ext cx="3241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40" y="4160520"/>
            <a:ext cx="411480" cy="411480"/>
          </a:xfrm>
          <a:prstGeom prst="rect">
            <a:avLst/>
          </a:prstGeom>
        </p:spPr>
      </p:pic>
      <p:pic>
        <p:nvPicPr>
          <p:cNvPr id="26" name="Picture 25" descr="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040" y="4160520"/>
            <a:ext cx="411480" cy="41148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0440" y="41605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2-1. 클러스터 구성과 핵심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Provisioned vs Serverless, 보안, 모니터링, Connect 통합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기능 4가지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클러스터 유형, 보안, 모니터링, Connect 통합 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clu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Provisioned: 브로커 수/인스턴스 타입 직접 지정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스케일링, 용량 관리 불필요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Express: 고성능 + 간소화된 운영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160" y="256032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보안 체계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인증: IAM / SASL-SCRAM / mTLS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암호화: TLS in-transit, KMS at-rest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네트워크: VPC 내 배치, Private Link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3880" y="4663440"/>
            <a:ext cx="5394960" cy="1691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모니터링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CloudWatch 메트릭 (Basic/Enhanced/Topic)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Open Monitoring (Prometheus 호환)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Broker 로그 → CloudWatch/S3/Firehose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160" y="4663440"/>
            <a:ext cx="5394960" cy="16916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MSK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Kafka Connect 완전관리형 서비스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Source/Sink Connector 플러그인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• Auto Scaling, 커스텀 플러그인 지원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6858000" cy="932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 eaLnBrk="0" latinLnBrk="0" hangingPunct="0"/>
            <a:r>
              <a:rPr sz="2800" b="1">
                <a:latin typeface="Freesentation"/>
              </a:rPr>
              <a:t>3-1. 운영 전략 및</a:t>
            </a:r>
            <a:br/>
            <a:r>
              <a:rPr sz="2800" b="1">
                <a:latin typeface="Freesentation"/>
              </a:rPr>
              <a:t>Best Practices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클러스터 사이징, 파티션 설계, 장애 대응, 비용 최적화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운영 핵심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프로덕션 환경에서 반드시 확인해야 할 4가지 항목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15440" y="251460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사이징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 수 = (피크 처리량 ÷ 브로커당 처리량) × RF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kafka.m5.large 이상 권장, EBS gp3 기본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440" y="347472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파티션 설계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파티션 수 = max(Producer 처리량 ÷ 파티션당 쓰기, Consumer 처리량 ÷ 파티션당 읽기)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브로커당 4,000개 이하 권장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15440" y="443484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장애 대응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Multi-AZ 배포 필수, min.insync.replicas=2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unclean.leader.election=false, 브로커 장애 시 자동 복구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15440" y="5394960"/>
            <a:ext cx="9601200" cy="868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비용 최적화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Tiered Storage로 장기 보관 비용 절감</a:t>
            </a:r>
          </a:p>
          <a:p>
            <a:pPr algn="l">
              <a:spcBef>
                <a:spcPts val="200"/>
              </a:spcBef>
            </a:pPr>
            <a:r>
              <a:rPr sz="1300">
                <a:solidFill>
                  <a:srgbClr val="212121"/>
                </a:solidFill>
                <a:latin typeface="Freesentation"/>
              </a:rPr>
              <a:t>Serverless로 변동 워크로드 대응, 불필요 토픽/파티션 정리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60" y="2720340"/>
            <a:ext cx="411480" cy="411480"/>
          </a:xfrm>
          <a:prstGeom prst="rect">
            <a:avLst/>
          </a:prstGeom>
        </p:spPr>
      </p:pic>
      <p:pic>
        <p:nvPicPr>
          <p:cNvPr id="15" name="Picture 14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3680460"/>
            <a:ext cx="411480" cy="41148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" y="4640580"/>
            <a:ext cx="411480" cy="411480"/>
          </a:xfrm>
          <a:prstGeom prst="rect">
            <a:avLst/>
          </a:prstGeom>
        </p:spPr>
      </p:pic>
      <p:pic>
        <p:nvPicPr>
          <p:cNvPr id="17" name="Picture 16" descr="co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360" y="56007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L01. Bento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좌 50% + 우 2분할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394960" cy="3794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2670048"/>
            <a:ext cx="5120640" cy="320040"/>
          </a:xfrm>
          <a:prstGeom prst="rect">
            <a:avLst/>
          </a:prstGeom>
          <a:noFill/>
        </p:spPr>
        <p:txBody>
          <a:bodyPr wrap="square" lIns="182880" rIns="182880" tIns="182880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63240"/>
            <a:ext cx="5120640" cy="1554480"/>
          </a:xfrm>
          <a:prstGeom prst="rect">
            <a:avLst/>
          </a:prstGeom>
          <a:noFill/>
        </p:spPr>
        <p:txBody>
          <a:bodyPr wrap="square" lIns="182880" rIns="182880" tIns="91440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완전관리형 Apache Kafka 서비스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복제 및 고가용성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브로커/파티션 자동 스케일링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서비스 네이티브 통합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  (Lambda, Kinesis, Glue, S3)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6032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67004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클러스터 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63240"/>
            <a:ext cx="53766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9072" y="4892040"/>
            <a:ext cx="5650992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6232" y="5001768"/>
            <a:ext cx="53766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보안 체계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7652" y="5394960"/>
            <a:ext cx="537667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1632" y="4796280"/>
            <a:ext cx="4846080" cy="1371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5952" y="5070600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9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Producer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7552" y="5070600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75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MSK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9152" y="5070600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9152" y="5070600"/>
            <a:ext cx="1097280" cy="457200"/>
          </a:xfrm>
          <a:prstGeom prst="rect">
            <a:avLst/>
          </a:prstGeom>
          <a:noFill/>
        </p:spPr>
        <p:txBody>
          <a:bodyPr wrap="square" anchor="ctr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Consumer</a:t>
            </a:r>
          </a:p>
        </p:txBody>
      </p:sp>
      <p:sp>
        <p:nvSpPr>
          <p:cNvPr id="23" name="Can 22"/>
          <p:cNvSpPr/>
          <p:nvPr/>
        </p:nvSpPr>
        <p:spPr>
          <a:xfrm>
            <a:off x="2013232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an 23"/>
          <p:cNvSpPr/>
          <p:nvPr/>
        </p:nvSpPr>
        <p:spPr>
          <a:xfrm>
            <a:off x="3384832" y="5184900"/>
            <a:ext cx="274320" cy="228600"/>
          </a:xfrm>
          <a:prstGeom prst="can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3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89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90572" y="5619240"/>
            <a:ext cx="1097280" cy="2286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L02. Three 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3열 카드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메시지 생산부터 소비까지의 전체 아키텍처 구성도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3920" y="25603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Producer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95600" y="2971800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535680" y="2560320"/>
            <a:ext cx="5120640" cy="1188720"/>
          </a:xfrm>
          <a:prstGeom prst="roundRect">
            <a:avLst/>
          </a:prstGeom>
          <a:solidFill>
            <a:srgbClr val="E6F0FF"/>
          </a:solidFill>
          <a:ln w="19050"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35680" y="26517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MSK Cluster (Multi-AZ Brokers)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856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(AZ-b)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79920" y="3154680"/>
            <a:ext cx="1493520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300" b="0">
                <a:solidFill>
                  <a:srgbClr val="212121"/>
                </a:solidFill>
                <a:latin typeface="Freesentation"/>
              </a:rPr>
              <a:t>Broker (AZ-c)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9200" y="2971800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79280" y="25603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0043DA"/>
                </a:solidFill>
                <a:latin typeface="Freesentation 7 Bold"/>
              </a:rPr>
              <a:t>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Broker: 메시지 저장/전달 노드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Topic: 메시지 카테고리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Partition: 병렬 처리 단위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Replication Factor: 데이터 복제 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26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40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40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 내 Private Subnet 배치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Security Group 기반 접근 제어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ENI: 브로커별 네트워크 인터페이스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PrivateLink: Cross-VPC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8000" y="4023360"/>
            <a:ext cx="3606800" cy="2286000"/>
          </a:xfrm>
          <a:prstGeom prst="roundRect">
            <a:avLst/>
          </a:prstGeom>
          <a:solidFill>
            <a:srgbClr val="F8F9F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9440" y="4160520"/>
            <a:ext cx="3424920" cy="30480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440" y="4526280"/>
            <a:ext cx="3424920" cy="1645920"/>
          </a:xfrm>
          <a:prstGeom prst="rect">
            <a:avLst/>
          </a:prstGeom>
          <a:noFill/>
        </p:spPr>
        <p:txBody>
          <a:bodyPr wrap="square" anchor="t" lIns="91440" rIns="91440" tIns="45720" bIns="45720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gp3: 기본 브로커 스토리지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Provisioned IOPS: 고성능 워크로드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Storage: S3 기반 장기 보관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확장: 디스크 용량 자동 증설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보존 기간별 계층화 전략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40" y="4160520"/>
            <a:ext cx="411480" cy="411480"/>
          </a:xfrm>
          <a:prstGeom prst="rect">
            <a:avLst/>
          </a:prstGeom>
        </p:spPr>
      </p:pic>
      <p:pic>
        <p:nvPicPr>
          <p:cNvPr id="26" name="Picture 25" descr="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040" y="4160520"/>
            <a:ext cx="411480" cy="41148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40440" y="41605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43DA"/>
                </a:solidFill>
                <a:latin typeface="프리젠테이션 7 Bold"/>
              </a:rPr>
              <a:t>L03. Grid 2x2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2x2 카드 그리드 레이아웃 테스트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브로커 관리, 스토리지, 모니터링, MSK Connect 통합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88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33160" y="25603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63880" y="4663440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33160" y="4663440"/>
            <a:ext cx="5394960" cy="169164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248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브로커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1760" y="269748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스토리지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8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모니터링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760" y="4800600"/>
            <a:ext cx="4480560" cy="36576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 7 Bold"/>
              </a:rPr>
              <a:t>MSK Connect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48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Multi-AZ 자동 분산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장애 시 자동 복구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760" y="310896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EBS gp3 기본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Tiered Storage (S3)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CloudWatch 3단계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Prometheus 호환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760" y="5212080"/>
            <a:ext cx="4937760" cy="1097280"/>
          </a:xfrm>
          <a:prstGeom prst="rect">
            <a:avLst/>
          </a:prstGeom>
          <a:noFill/>
        </p:spPr>
        <p:txBody>
          <a:bodyPr wrap="square" lIns="109728" tIns="109728" rIns="109728" bIns="109728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Kafka Connect 관리형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Source/Sink 플러그인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697480"/>
            <a:ext cx="411480" cy="4114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3760" y="2697480"/>
            <a:ext cx="411480" cy="4114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80" y="480060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3760" y="48006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L04. Process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4단계 프로세스 화살표 레이아웃 테스트</a:t>
            </a:r>
          </a:p>
        </p:txBody>
      </p:sp>
      <p:sp>
        <p:nvSpPr>
          <p:cNvPr id="5" name="Chevron 4"/>
          <p:cNvSpPr/>
          <p:nvPr/>
        </p:nvSpPr>
        <p:spPr>
          <a:xfrm>
            <a:off x="4572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1. 설계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VPC/Subnet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브로커 수 결정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9" name="Chevron 8"/>
          <p:cNvSpPr/>
          <p:nvPr/>
        </p:nvSpPr>
        <p:spPr>
          <a:xfrm>
            <a:off x="33337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2.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생성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인증 방식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Chevron 12"/>
          <p:cNvSpPr/>
          <p:nvPr/>
        </p:nvSpPr>
        <p:spPr>
          <a:xfrm>
            <a:off x="621030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3. 연결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Producer 연결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MSK Connect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PrivateLink</a:t>
            </a:r>
          </a:p>
        </p:txBody>
      </p:sp>
      <p:sp>
        <p:nvSpPr>
          <p:cNvPr id="17" name="Chevron 16"/>
          <p:cNvSpPr/>
          <p:nvPr/>
        </p:nvSpPr>
        <p:spPr>
          <a:xfrm>
            <a:off x="9086850" y="2560320"/>
            <a:ext cx="2647950" cy="548640"/>
          </a:xfrm>
          <a:prstGeom prst="chevron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043DA"/>
                </a:solidFill>
                <a:latin typeface="Freesentation 7 Bold"/>
              </a:rPr>
              <a:t>4.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383280"/>
            <a:ext cx="2647950" cy="2971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520440"/>
            <a:ext cx="237363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구성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파티션 리밸런싱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54806" y="557906"/>
            <a:ext cx="2720317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Freesentation"/>
              </a:rPr>
              <a:t>L05. Phased Columns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05050"/>
                </a:solidFill>
                <a:latin typeface="프리젠테이션 5 Medium"/>
              </a:rPr>
              <a:t>단계별 그라데이션 컬럼 레이아웃 테스트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2647950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560320"/>
            <a:ext cx="2647950" cy="457200"/>
          </a:xfrm>
          <a:prstGeom prst="rect">
            <a:avLst/>
          </a:prstGeom>
          <a:solidFill>
            <a:srgbClr val="001B5E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1: 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현재 환경 분석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워크로드 파악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2560320"/>
            <a:ext cx="264795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33750" y="2560320"/>
            <a:ext cx="2647950" cy="457200"/>
          </a:xfrm>
          <a:prstGeom prst="rect">
            <a:avLst/>
          </a:prstGeom>
          <a:solidFill>
            <a:srgbClr val="0043DA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2: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375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091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유형 선택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네트워크 설계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300" y="2560320"/>
            <a:ext cx="264795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0300" y="2560320"/>
            <a:ext cx="2647950" cy="457200"/>
          </a:xfrm>
          <a:prstGeom prst="rect">
            <a:avLst/>
          </a:prstGeom>
          <a:solidFill>
            <a:srgbClr val="EE8150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3: 구축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30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4746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클러스터 프로비저닝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MirrorMaker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6850" y="2560320"/>
            <a:ext cx="264795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86850" y="2560320"/>
            <a:ext cx="2647950" cy="457200"/>
          </a:xfrm>
          <a:prstGeom prst="rect">
            <a:avLst/>
          </a:prstGeom>
          <a:solidFill>
            <a:srgbClr val="4CB88F"/>
          </a:solidFill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Freesentation"/>
              </a:rPr>
              <a:t>Phase 4: 운영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6850" y="3200400"/>
            <a:ext cx="2647950" cy="3154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24010" y="3337560"/>
            <a:ext cx="2373630" cy="3017520"/>
          </a:xfr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모니터링 대시보드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알림 정책 설정</a:t>
            </a:r>
          </a:p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• 성능 튜닝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600" cy="274320"/>
          </a:xfr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66928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Freesentation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6794</TotalTime>
  <Words>1011</Words>
  <Application>Microsoft Macintosh PowerPoint</Application>
  <PresentationFormat>Widescreen</PresentationFormat>
  <Paragraphs>199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Freesentation</vt:lpstr>
      <vt:lpstr>맑은 고딕</vt:lpstr>
      <vt:lpstr>프리젠테이션 4 Regular</vt:lpstr>
      <vt:lpstr>프리젠테이션 5 Medium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이홍섭/GRM프로젝트</cp:lastModifiedBy>
  <cp:revision>774</cp:revision>
  <dcterms:created xsi:type="dcterms:W3CDTF">2022-03-02T05:40:55Z</dcterms:created>
  <dcterms:modified xsi:type="dcterms:W3CDTF">2026-04-14T08:07:59Z</dcterms:modified>
</cp:coreProperties>
</file>