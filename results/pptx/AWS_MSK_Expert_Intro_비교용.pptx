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58" r:id="rId2"/>
    <p:sldId id="304" r:id="rId3"/>
    <p:sldId id="368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5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C584391-9A90-4C3D-BC4F-B1FBB8C44D9F}">
          <p14:sldIdLst>
            <p14:sldId id="358"/>
          </p14:sldIdLst>
        </p14:section>
        <p14:section name="목차" id="{920A679F-A144-4F43-AE97-A0E33ABAD423}">
          <p14:sldIdLst>
            <p14:sldId id="304"/>
          </p14:sldIdLst>
        </p14:section>
        <p14:section name="본문" id="{21264EAA-BFA0-4D88-B1A3-5C01B530CD81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</p14:sldIdLst>
        </p14:section>
        <p14:section name="끝맺음" id="{332F041B-66CB-4617-B3C5-6F18A7079F3A}">
          <p14:sldIdLst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72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5948604"/>
            <a:ext cx="1329872" cy="3305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60525" y="1490472"/>
            <a:ext cx="8870950" cy="2560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Amazon Managed Streaming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for Apache Kafka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(MSK)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8715" y="5760410"/>
            <a:ext cx="194070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Digitalization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을 선도하는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DX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전문기업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8000" y="5760410"/>
            <a:ext cx="596537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AI, Cloud, </a:t>
            </a:r>
            <a:r>
              <a:rPr lang="en-US" altLang="ko-KR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BigData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CDN, Contact Center,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물류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인프라 등 다양한 영역에서 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Business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를 선도하는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 Innovator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5450" y="4187952"/>
            <a:ext cx="8801100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Expert Introduction — 아키텍처 · 핵심 기능 · 운영 전략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355601" y="5759125"/>
            <a:ext cx="11444514" cy="0"/>
          </a:xfrm>
          <a:prstGeom prst="line">
            <a:avLst/>
          </a:prstGeom>
          <a:ln w="3175">
            <a:solidFill>
              <a:schemeClr val="bg1">
                <a:lumMod val="7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74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87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04/13</a:t>
            </a:r>
          </a:p>
        </p:txBody>
      </p:sp>
    </p:spTree>
    <p:extLst>
      <p:ext uri="{BB962C8B-B14F-4D97-AF65-F5344CB8AC3E}">
        <p14:creationId xmlns:p14="http://schemas.microsoft.com/office/powerpoint/2010/main" val="127938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54805" y="545902"/>
            <a:ext cx="3112294" cy="5107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CONTENTS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314" y="1715534"/>
            <a:ext cx="1161474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algn="ctr" latinLnBrk="0">
              <a:lnSpc>
                <a:spcPct val="250000"/>
              </a:lnSpc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250000"/>
              </a:lnSpc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43668" y="1715534"/>
            <a:ext cx="5129783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아키텍처 및 핵심 개념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클러스터 구성과 핵심 기능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MSK 운영 전략 및 Best Practices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806048" y="2760055"/>
            <a:ext cx="8385952" cy="2761457"/>
            <a:chOff x="3764222" y="1060078"/>
            <a:chExt cx="5147549" cy="16851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764222" y="1060078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3764222" y="1621784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764222" y="2183490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764222" y="2745196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55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5486400" cy="93268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 eaLnBrk="0" latinLnBrk="0" hangingPunct="0"/>
            <a:r>
              <a:rPr sz="2800" b="1" dirty="0">
                <a:solidFill>
                  <a:srgbClr val="0043DA"/>
                </a:solidFill>
                <a:latin typeface="프리젠테이션 7 Bold"/>
              </a:rPr>
              <a:t>1-1. MSK</a:t>
            </a:r>
            <a:endParaRPr lang="ko-KR" altLang="en-US" sz="2800" b="1" dirty="0">
              <a:solidFill>
                <a:srgbClr val="0043DA"/>
              </a:solidFill>
              <a:latin typeface="프리젠테이션 7 Bold"/>
            </a:endParaRPr>
          </a:p>
          <a:p>
            <a:r>
              <a:rPr lang="ko-KR" altLang="en-US" sz="2800" b="1" dirty="0">
                <a:solidFill>
                  <a:srgbClr val="0043DA"/>
                </a:solidFill>
                <a:latin typeface="프리젠테이션 7 Bold"/>
              </a:rPr>
              <a:t>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6766" y="558800"/>
            <a:ext cx="6708417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Apache Kafka 완전관리형 서비스의 구성 요소와 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Producer → MSK Cluster → Consumer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메시지 생산부터 소비까지의 전체 아키텍처 구성도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920" y="2560320"/>
            <a:ext cx="1828800" cy="118872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프리젠테이션 7 Bold"/>
              </a:rPr>
              <a:t>Producer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95600" y="2971800"/>
            <a:ext cx="457200" cy="365760"/>
          </a:xfrm>
          <a:prstGeom prst="rightArrow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35680" y="2560320"/>
            <a:ext cx="5120640" cy="11887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56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43DA"/>
                </a:solidFill>
                <a:latin typeface="프리젠테이션 7 Bold"/>
              </a:rPr>
              <a:t>MSK Cluster (Multi-AZ Brokers)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56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992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9200" y="2971800"/>
            <a:ext cx="457200" cy="365760"/>
          </a:xfrm>
          <a:prstGeom prst="rightArrow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79280" y="2560320"/>
            <a:ext cx="1828800" cy="118872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프리젠테이션 7 Bold"/>
              </a:rPr>
              <a:t>Consumer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6068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4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핵심 구성요소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241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Broker: 메시지 저장/전달 노드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Topic: 메시지 카테고리 단위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Partition: 병렬 처리 단위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Replication Factor: 데이터 복제 수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ZooKeeper / KRaft: 메타데이터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2600" y="4023360"/>
            <a:ext cx="36068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5480" y="4160520"/>
            <a:ext cx="324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네트워크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480" y="4526280"/>
            <a:ext cx="3241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VPC 내 Private Subnet 배치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Security Group 기반 접근 제어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ENI: 브로커별 네트워크 인터페이스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PrivateLink: Cross-VPC 연결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Multi-AZ 자동 분산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8000" y="4023360"/>
            <a:ext cx="36068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0880" y="4160520"/>
            <a:ext cx="324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스토리지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80" y="4526280"/>
            <a:ext cx="3241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EBS gp3: 기본 브로커 스토리지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Provisioned IOPS: 고성능 워크로드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Tiered Storage: S3 기반 장기 보관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자동 확장: 디스크 용량 자동 증설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보존 기간별 계층화 전략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3DA"/>
                </a:solidFill>
                <a:latin typeface="프리젠테이션 7 Bold"/>
              </a:rPr>
              <a:t>2-1. 클러스터 구성과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Provisioned vs Serverless, 보안, 모니터링, Connect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핵심 기능 4가지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클러스터 유형, 보안, 모니터링, Connect 통합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80" y="256032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69748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48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클러스터 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3108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Provisioned: 브로커 수/인스턴스 타입 직접 지정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Serverless: 자동 스케일링, 용량 관리 불필요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Express: 고성능 + 간소화된 운영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256032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0" y="269748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176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보안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3108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인증: IAM / SASL-SCRAM / mTLS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암호화: TLS in-transit, KMS at-rest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네트워크: VPC 내 배치, Private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880" y="466344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80" y="480060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2480" y="4800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모니터링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" y="5212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CloudWatch 메트릭 (Basic/Enhanced/Topic)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Open Monitoring (Prometheus 호환)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Broker 로그 → CloudWatch/S3/Firehose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466344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760" y="480060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61760" y="4800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MSK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760" y="5212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Kafka Connect 완전관리형 서비스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Source/Sink Connector 플러그인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Auto Scaling, 커스텀 플러그인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6858000" cy="93268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 eaLnBrk="0" latinLnBrk="0" hangingPunct="0"/>
            <a:r>
              <a:rPr sz="2800" b="1">
                <a:solidFill>
                  <a:srgbClr val="0043DA"/>
                </a:solidFill>
                <a:latin typeface="프리젠테이션 7 Bold"/>
              </a:rPr>
              <a:t>3-1. 운영 전략 및</a:t>
            </a:r>
          </a:p>
          <a:p>
            <a:r>
              <a:rPr sz="2800" b="1">
                <a:solidFill>
                  <a:srgbClr val="0043DA"/>
                </a:solidFill>
                <a:latin typeface="프리젠테이션 7 Bold"/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6766" y="558800"/>
            <a:ext cx="6708417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클러스터 사이징, 파티션 설계, 장애 대응, 비용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운영 핵심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프로덕션 환경에서 반드시 확인해야 할 4가지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5440" y="2514600"/>
            <a:ext cx="9601200" cy="868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클러스터 사이징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브로커 수 = (피크 처리량 ÷ 브로커당 처리량) × RF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kafka.m5.large 이상 권장, EBS gp3 기본</a:t>
            </a:r>
          </a:p>
        </p:txBody>
      </p:sp>
      <p:sp>
        <p:nvSpPr>
          <p:cNvPr id="8" name="Oval 7"/>
          <p:cNvSpPr/>
          <p:nvPr/>
        </p:nvSpPr>
        <p:spPr>
          <a:xfrm>
            <a:off x="975360" y="272034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440" y="3474720"/>
            <a:ext cx="9601200" cy="868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파티션 설계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파티션 수 = max(Producer 처리량 ÷ 파티션당 쓰기, Consumer 처리량 ÷ 파티션당 읽기)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브로커당 4,000개 이하 권장</a:t>
            </a:r>
          </a:p>
        </p:txBody>
      </p:sp>
      <p:sp>
        <p:nvSpPr>
          <p:cNvPr id="10" name="Oval 9"/>
          <p:cNvSpPr/>
          <p:nvPr/>
        </p:nvSpPr>
        <p:spPr>
          <a:xfrm>
            <a:off x="975360" y="368046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5440" y="4434840"/>
            <a:ext cx="9601200" cy="868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장애 대응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Multi-AZ 배포 필수, min.insync.replicas=2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unclean.leader.election=false, 브로커 장애 시 자동 복구</a:t>
            </a:r>
          </a:p>
        </p:txBody>
      </p:sp>
      <p:sp>
        <p:nvSpPr>
          <p:cNvPr id="12" name="Oval 11"/>
          <p:cNvSpPr/>
          <p:nvPr/>
        </p:nvSpPr>
        <p:spPr>
          <a:xfrm>
            <a:off x="975360" y="464058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5440" y="5394960"/>
            <a:ext cx="9601200" cy="868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비용 최적화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Tiered Storage로 장기 보관 비용 절감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212121"/>
                </a:solidFill>
                <a:latin typeface="Freesentation"/>
              </a:rPr>
              <a:t>Serverless로 변동 워크로드 대응, 불필요 토픽/파티션 정리</a:t>
            </a:r>
          </a:p>
        </p:txBody>
      </p:sp>
      <p:sp>
        <p:nvSpPr>
          <p:cNvPr id="14" name="Oval 13"/>
          <p:cNvSpPr/>
          <p:nvPr/>
        </p:nvSpPr>
        <p:spPr>
          <a:xfrm>
            <a:off x="975360" y="560070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3DA"/>
                </a:solidFill>
                <a:latin typeface="프리젠테이션 7 Bold"/>
              </a:rPr>
              <a:t>L01. Bento</a:t>
            </a:r>
          </a:p>
          <a:p>
            <a:pPr algn="l"/>
            <a:r>
              <a:rPr sz="2800" b="1">
                <a:solidFill>
                  <a:srgbClr val="0043DA"/>
                </a:solidFill>
                <a:latin typeface="프리젠테이션 7 Bold"/>
              </a:rPr>
              <a:t>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좌 50% + 우 2분할 레이아웃 테스트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5394960" cy="3840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670048"/>
            <a:ext cx="5120640" cy="320040"/>
          </a:xfrm>
          <a:prstGeom prst="rect">
            <a:avLst/>
          </a:prstGeom>
          <a:noFill/>
        </p:spPr>
        <p:txBody>
          <a:bodyPr wrap="square" lIns="182880" tIns="182880" rIns="182880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MSK 아키텍처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120640" cy="1554480"/>
          </a:xfrm>
          <a:prstGeom prst="rect">
            <a:avLst/>
          </a:prstGeom>
          <a:noFill/>
        </p:spPr>
        <p:txBody>
          <a:bodyPr wrap="square" lIns="182880" tIns="91440" rIns="18288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완전관리형 Apache Kafka 서비스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Multi-AZ 자동 복제 및 고가용성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브로커/파티션 자동 스케일링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AWS 서비스 네이티브 통합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  (Lambda, Kinesis, Glue, S3)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오픈소스 호환 — 코드 변경 불필요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560320"/>
            <a:ext cx="5650992" cy="2057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670048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클러스터 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63240"/>
            <a:ext cx="5376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Provisioned: 직접 지정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Serverless: 자동 스케일링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Express: 고성능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892040"/>
            <a:ext cx="5650992" cy="15092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5001768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보안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94960"/>
            <a:ext cx="5376672" cy="100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IAM / SASL-SCRAM / mTLS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TLS + KMS 암호화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Security Group 접근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핵심 아키텍처와 클러스터 유형별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아키텍처 개요, 클러스터 유형(Provisioned/Serverless/Express), 보안 체계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320" y="4796280"/>
            <a:ext cx="484608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640" y="5070600"/>
            <a:ext cx="1097280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640" y="5070600"/>
            <a:ext cx="1097280" cy="457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Producer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9240" y="5070600"/>
            <a:ext cx="1097280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9240" y="5070600"/>
            <a:ext cx="1097280" cy="457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MSK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840" y="5070600"/>
            <a:ext cx="1097280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840" y="5070600"/>
            <a:ext cx="1097280" cy="457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Consumer</a:t>
            </a:r>
          </a:p>
        </p:txBody>
      </p:sp>
      <p:sp>
        <p:nvSpPr>
          <p:cNvPr id="23" name="Can 22"/>
          <p:cNvSpPr/>
          <p:nvPr/>
        </p:nvSpPr>
        <p:spPr>
          <a:xfrm>
            <a:off x="2194920" y="5184900"/>
            <a:ext cx="274320" cy="228600"/>
          </a:xfrm>
          <a:prstGeom prst="can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3566520" y="5184900"/>
            <a:ext cx="274320" cy="228600"/>
          </a:xfrm>
          <a:prstGeom prst="can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640" y="5619240"/>
            <a:ext cx="109728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00" b="0">
                <a:solidFill>
                  <a:srgbClr val="EE8150"/>
                </a:solidFill>
                <a:latin typeface="Freesentation"/>
              </a:rPr>
              <a:t>App /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9240" y="5619240"/>
            <a:ext cx="109728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00" b="0">
                <a:solidFill>
                  <a:srgbClr val="0043DA"/>
                </a:solidFill>
                <a:latin typeface="Freesentation"/>
              </a:rPr>
              <a:t>Topic/Part.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840" y="5619240"/>
            <a:ext cx="109728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00" b="0">
                <a:solidFill>
                  <a:srgbClr val="4CB88F"/>
                </a:solidFill>
                <a:latin typeface="Freesentation"/>
              </a:rPr>
              <a:t>Consumer Grp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43DA"/>
                </a:solidFill>
                <a:latin typeface="프리젠테이션 7 Bold"/>
              </a:rPr>
              <a:t>L02.</a:t>
            </a:r>
          </a:p>
          <a:p>
            <a:r>
              <a:rPr sz="2800" b="1">
                <a:solidFill>
                  <a:srgbClr val="0043DA"/>
                </a:solidFill>
                <a:latin typeface="프리젠테이션 7 Bold"/>
              </a:rPr>
              <a:t>Three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3열 카드 레이아웃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Producer → MSK Cluster → Consumer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212121"/>
                </a:solidFill>
                <a:latin typeface="Freesentation"/>
              </a:rPr>
              <a:t>메시지</a:t>
            </a:r>
            <a:r>
              <a:rPr sz="1300" b="0" dirty="0">
                <a:solidFill>
                  <a:srgbClr val="212121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Freesentation"/>
              </a:rPr>
              <a:t>생산부터</a:t>
            </a:r>
            <a:r>
              <a:rPr sz="1300" b="0" dirty="0">
                <a:solidFill>
                  <a:srgbClr val="212121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Freesentation"/>
              </a:rPr>
              <a:t>소비까지의</a:t>
            </a:r>
            <a:r>
              <a:rPr sz="1300" b="0" dirty="0">
                <a:solidFill>
                  <a:srgbClr val="212121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Freesentation"/>
              </a:rPr>
              <a:t>전체</a:t>
            </a:r>
            <a:r>
              <a:rPr sz="1300" b="0" dirty="0">
                <a:solidFill>
                  <a:srgbClr val="212121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Freesentation"/>
              </a:rPr>
              <a:t>아키텍처</a:t>
            </a:r>
            <a:r>
              <a:rPr sz="1300" b="0" dirty="0">
                <a:solidFill>
                  <a:srgbClr val="212121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Freesentation"/>
              </a:rPr>
              <a:t>구성도</a:t>
            </a:r>
            <a:endParaRPr sz="1300" b="0" dirty="0">
              <a:solidFill>
                <a:srgbClr val="212121"/>
              </a:solidFill>
              <a:latin typeface="Freesentatio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3920" y="2560320"/>
            <a:ext cx="1828800" cy="118872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프리젠테이션 7 Bold"/>
              </a:rPr>
              <a:t>Producer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95600" y="2971800"/>
            <a:ext cx="457200" cy="365760"/>
          </a:xfrm>
          <a:prstGeom prst="rightArrow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35680" y="2560320"/>
            <a:ext cx="5120640" cy="11887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56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43DA"/>
                </a:solidFill>
                <a:latin typeface="프리젠테이션 7 Bold"/>
              </a:rPr>
              <a:t>MSK Cluster (Multi-AZ Brokers)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56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9920" y="3154680"/>
            <a:ext cx="1493520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프리젠테이션 7 Bold"/>
              </a:rPr>
              <a:t>Broker (AZ-c)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9200" y="2971800"/>
            <a:ext cx="457200" cy="365760"/>
          </a:xfrm>
          <a:prstGeom prst="rightArrow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79280" y="2560320"/>
            <a:ext cx="1828800" cy="118872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프리젠테이션 7 Bold"/>
              </a:rPr>
              <a:t>Consumer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606800" cy="2286000"/>
          </a:xfrm>
          <a:prstGeom prst="roundRect">
            <a:avLst/>
          </a:prstGeom>
          <a:solidFill>
            <a:srgbClr val="F8F9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3424920" cy="304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핵심 구성요소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3424920" cy="1645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Broker: 메시지 저장/전달 노드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Topic: 메시지 카테고리 단위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Partition: 병렬 처리 단위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Replication Factor: 데이터 복제 수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ZooKeeper / KRaft: 메타데이터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2600" y="4023360"/>
            <a:ext cx="3606800" cy="2286000"/>
          </a:xfrm>
          <a:prstGeom prst="roundRect">
            <a:avLst/>
          </a:prstGeom>
          <a:solidFill>
            <a:srgbClr val="F8F9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4040" y="4160520"/>
            <a:ext cx="3424920" cy="304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네트워크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4040" y="4526280"/>
            <a:ext cx="3424920" cy="1645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VPC 내 Private Subnet 배치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Security Group 기반 접근 제어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ENI: 브로커별 네트워크 인터페이스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PrivateLink: Cross-VPC 연결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Multi-AZ 자동 분산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8000" y="4023360"/>
            <a:ext cx="3606800" cy="2286000"/>
          </a:xfrm>
          <a:prstGeom prst="roundRect">
            <a:avLst/>
          </a:prstGeom>
          <a:solidFill>
            <a:srgbClr val="F8F9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9440" y="4160520"/>
            <a:ext cx="3424920" cy="304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스토리지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9440" y="4526280"/>
            <a:ext cx="3424920" cy="1645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EBS gp3: 기본 브로커 스토리지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Provisioned IOPS: 고성능 워크로드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Tiered Storage: S3 기반 장기 보관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자동 확장: 디스크 용량 자동 증설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보존 기간별 계층화 전략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3DA"/>
                </a:solidFill>
                <a:latin typeface="프리젠테이션 7 Bold"/>
              </a:rPr>
              <a:t>L03. Grid 2x2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2x2 카드 그리드 레이아웃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클러스터 운영 핵심 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브로커 관리, 스토리지, 모니터링, MSK Connect 통합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80" y="25603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33160" y="25603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3880" y="4663440"/>
            <a:ext cx="5394960" cy="17378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33160" y="4663440"/>
            <a:ext cx="5394960" cy="17378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480" y="2697480"/>
            <a:ext cx="4480560" cy="36576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브로커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760" y="2697480"/>
            <a:ext cx="4480560" cy="36576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스토리지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4800600"/>
            <a:ext cx="4480560" cy="36576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4800600"/>
            <a:ext cx="4480560" cy="36576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프리젠테이션 7 Bold"/>
              </a:rPr>
              <a:t>MSK 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3108960"/>
            <a:ext cx="4937760" cy="109728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Multi-AZ 자동 분산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장애 시 자동 복구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인스턴스 타입 변경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760" y="3108960"/>
            <a:ext cx="4937760" cy="109728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EBS gp3 기본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Tiered Storage (S3)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자동 디스크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5212080"/>
            <a:ext cx="4937760" cy="109728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CloudWatch 3단계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Prometheus 호환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Broker 로그 전송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760" y="5212080"/>
            <a:ext cx="4937760" cy="1097280"/>
          </a:xfrm>
          <a:prstGeom prst="rect">
            <a:avLst/>
          </a:prstGeom>
          <a:noFill/>
        </p:spPr>
        <p:txBody>
          <a:bodyPr wrap="square" lIns="109728" tIns="109728" rIns="109728" bIns="109728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Kafka Connect 관리형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Source/Sink 플러그인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Auto Scaling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697480"/>
            <a:ext cx="411480" cy="4114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0" y="2697480"/>
            <a:ext cx="411480" cy="41148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80" y="4800600"/>
            <a:ext cx="411480" cy="411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760" y="48006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3DA"/>
                </a:solidFill>
                <a:latin typeface="프리젠테이션 7 Bold"/>
              </a:rPr>
              <a:t>L04.</a:t>
            </a:r>
          </a:p>
          <a:p>
            <a:r>
              <a:rPr sz="2800" b="1">
                <a:solidFill>
                  <a:srgbClr val="0043DA"/>
                </a:solidFill>
                <a:latin typeface="프리젠테이션 7 Bold"/>
              </a:rPr>
              <a:t>Process Arrow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4단계 프로세스 화살표 레이아웃 테스트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2560320"/>
            <a:ext cx="2647950" cy="548640"/>
          </a:xfrm>
          <a:prstGeom prst="chevron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64795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1.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2647950" cy="3018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520440"/>
            <a:ext cx="2373630" cy="2880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VPC/Subnet 설계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브로커 수 결정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보안 그룹 설정</a:t>
            </a:r>
          </a:p>
        </p:txBody>
      </p:sp>
      <p:sp>
        <p:nvSpPr>
          <p:cNvPr id="9" name="Chevron 8"/>
          <p:cNvSpPr/>
          <p:nvPr/>
        </p:nvSpPr>
        <p:spPr>
          <a:xfrm>
            <a:off x="3333750" y="2560320"/>
            <a:ext cx="2647950" cy="548640"/>
          </a:xfrm>
          <a:prstGeom prst="chevron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3750" y="2560320"/>
            <a:ext cx="264795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2.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750" y="3383280"/>
            <a:ext cx="2647950" cy="3018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910" y="3520440"/>
            <a:ext cx="2373630" cy="2880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클러스터 생성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인증 방식 설정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암호화 활성화</a:t>
            </a:r>
          </a:p>
        </p:txBody>
      </p:sp>
      <p:sp>
        <p:nvSpPr>
          <p:cNvPr id="13" name="Chevron 12"/>
          <p:cNvSpPr/>
          <p:nvPr/>
        </p:nvSpPr>
        <p:spPr>
          <a:xfrm>
            <a:off x="6210300" y="2560320"/>
            <a:ext cx="2647950" cy="548640"/>
          </a:xfrm>
          <a:prstGeom prst="chevron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0300" y="2560320"/>
            <a:ext cx="264795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3.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300" y="3383280"/>
            <a:ext cx="2647950" cy="3018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460" y="3520440"/>
            <a:ext cx="2373630" cy="2880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Producer 연결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MSK Connect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PrivateLink</a:t>
            </a:r>
          </a:p>
        </p:txBody>
      </p:sp>
      <p:sp>
        <p:nvSpPr>
          <p:cNvPr id="17" name="Chevron 16"/>
          <p:cNvSpPr/>
          <p:nvPr/>
        </p:nvSpPr>
        <p:spPr>
          <a:xfrm>
            <a:off x="9086850" y="2560320"/>
            <a:ext cx="2647950" cy="548640"/>
          </a:xfrm>
          <a:prstGeom prst="chevron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6850" y="2560320"/>
            <a:ext cx="264795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프리젠테이션 7 Bold"/>
              </a:rPr>
              <a:t>4.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850" y="3383280"/>
            <a:ext cx="2647950" cy="3018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4010" y="3520440"/>
            <a:ext cx="2373630" cy="2880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모니터링 구성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파티션 리밸런싱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비용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도입 4단계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설계 → 생성 → 연결 → 운영 단계별 핵심 작업 및 체크포인트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806440"/>
            <a:ext cx="411480" cy="41148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9" y="5806440"/>
            <a:ext cx="411480" cy="41148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5806440"/>
            <a:ext cx="411480" cy="4114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06" y="557906"/>
            <a:ext cx="27203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43DA"/>
                </a:solidFill>
                <a:latin typeface="프리젠테이션 7 Bold"/>
              </a:rPr>
              <a:t>L05.</a:t>
            </a:r>
          </a:p>
          <a:p>
            <a:r>
              <a:rPr sz="2800" b="1" dirty="0">
                <a:solidFill>
                  <a:srgbClr val="0043DA"/>
                </a:solidFill>
                <a:latin typeface="프리젠테이션 7 Bold"/>
              </a:rPr>
              <a:t>Phased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50"/>
                </a:solidFill>
                <a:latin typeface="프리젠테이션 5 Medium"/>
              </a:rPr>
              <a:t>단계별 그라데이션 컬럼 레이아웃 테스트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2647950" cy="457200"/>
          </a:xfrm>
          <a:prstGeom prst="roundRect">
            <a:avLst/>
          </a:prstGeom>
          <a:solidFill>
            <a:srgbClr val="001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647950" cy="457200"/>
          </a:xfrm>
          <a:prstGeom prst="rect">
            <a:avLst/>
          </a:prstGeom>
          <a:solidFill>
            <a:srgbClr val="001B5E"/>
          </a:solidFill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 Bold"/>
              </a:rPr>
              <a:t>Phase 1: 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647950" cy="32008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373630" cy="3063720"/>
          </a:xfr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현재 환경 분석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워크로드 파악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비용/성능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750" y="2560320"/>
            <a:ext cx="2647950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3750" y="2560320"/>
            <a:ext cx="2647950" cy="457200"/>
          </a:xfrm>
          <a:prstGeom prst="rect">
            <a:avLst/>
          </a:prstGeom>
          <a:solidFill>
            <a:srgbClr val="0043DA"/>
          </a:solidFill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 Bold"/>
              </a:rPr>
              <a:t>Phase 2: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750" y="3200400"/>
            <a:ext cx="2647950" cy="32008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910" y="3337560"/>
            <a:ext cx="2373630" cy="3063720"/>
          </a:xfr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클러스터 유형 선택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네트워크 설계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보안 아키텍처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560320"/>
            <a:ext cx="2647950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0300" y="2560320"/>
            <a:ext cx="2647950" cy="457200"/>
          </a:xfrm>
          <a:prstGeom prst="rect">
            <a:avLst/>
          </a:prstGeom>
          <a:solidFill>
            <a:srgbClr val="EE8150"/>
          </a:solidFill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프리젠테이션 7 Bold"/>
              </a:rPr>
              <a:t>Phase 3: 구축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300" y="3200400"/>
            <a:ext cx="2647950" cy="32008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460" y="3337560"/>
            <a:ext cx="2373630" cy="3063720"/>
          </a:xfr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클러스터 프로비저닝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MirrorMaker 설정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데이터 동기화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6850" y="2560320"/>
            <a:ext cx="2647950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6850" y="2560320"/>
            <a:ext cx="2647950" cy="457200"/>
          </a:xfrm>
          <a:prstGeom prst="rect">
            <a:avLst/>
          </a:prstGeom>
          <a:solidFill>
            <a:srgbClr val="4CB88F"/>
          </a:solidFill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프리젠테이션 7 Bold"/>
              </a:rPr>
              <a:t>Phase 4: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850" y="3200400"/>
            <a:ext cx="2647950" cy="32008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4010" y="3337560"/>
            <a:ext cx="2373630" cy="3063720"/>
          </a:xfr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모니터링 대시보드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알림 정책 설정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성능 튜닝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전환 4단계 로드맵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600" cy="274320"/>
          </a:xfr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평가 → 설계 → 구축 → 운영 단계별 주요 액션과 산출물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90" y="5806920"/>
            <a:ext cx="411480" cy="41148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40" y="5806920"/>
            <a:ext cx="411480" cy="41148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890" y="5806920"/>
            <a:ext cx="411480" cy="4114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440" y="58069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9;p32"/>
          <p:cNvSpPr txBox="1">
            <a:spLocks/>
          </p:cNvSpPr>
          <p:nvPr/>
        </p:nvSpPr>
        <p:spPr>
          <a:xfrm>
            <a:off x="0" y="2699114"/>
            <a:ext cx="1219200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000"/>
              <a:buNone/>
            </a:pPr>
            <a:r>
              <a:rPr lang="en-US" altLang="ko-KR" sz="6000" dirty="0"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</a:rPr>
              <a:t>Thank You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36" y="378400"/>
            <a:ext cx="1329872" cy="3305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98157" y="3870726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GS</a:t>
            </a:r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네오텍의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서비스 브랜드 </a:t>
            </a:r>
            <a:r>
              <a:rPr lang="en-US" altLang="ko-KR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WiseN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으로 진정한 프리미엄을 경험하세요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36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6794</TotalTime>
  <Words>1004</Words>
  <Application>Microsoft Macintosh PowerPoint</Application>
  <PresentationFormat>Widescreen</PresentationFormat>
  <Paragraphs>206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Freesentation</vt:lpstr>
      <vt:lpstr>맑은 고딕</vt:lpstr>
      <vt:lpstr>Pretendard</vt:lpstr>
      <vt:lpstr>Pretendard ExtraBold</vt:lpstr>
      <vt:lpstr>프리젠테이션 4 Regular</vt:lpstr>
      <vt:lpstr>프리젠테이션 5 Medium</vt:lpstr>
      <vt:lpstr>프리젠테이션 6 SemiBold</vt:lpstr>
      <vt:lpstr>프리젠테이션 7 Bold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이 홍섭</cp:lastModifiedBy>
  <cp:revision>776</cp:revision>
  <dcterms:created xsi:type="dcterms:W3CDTF">2022-03-02T05:40:55Z</dcterms:created>
  <dcterms:modified xsi:type="dcterms:W3CDTF">2026-04-15T16:25:48Z</dcterms:modified>
</cp:coreProperties>
</file>