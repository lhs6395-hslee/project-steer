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500" r:id="rId2"/>
    <p:sldId id="501" r:id="rId3"/>
    <p:sldId id="502" r:id="rId4"/>
    <p:sldId id="503" r:id="rId5"/>
    <p:sldId id="504" r:id="rId6"/>
    <p:sldId id="505" r:id="rId7"/>
    <p:sldId id="506" r:id="rId8"/>
    <p:sldId id="507" r:id="rId9"/>
    <p:sldId id="508" r:id="rId10"/>
    <p:sldId id="509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9B5C0231-FCBA-4F83-8ACE-B0A799F53B91}">
          <p14:sldIdLst>
            <p14:sldId id="500"/>
          </p14:sldIdLst>
        </p14:section>
        <p14:section name="목차" id="{A0C878EF-B6DE-408F-A0B0-3E3987472B55}">
          <p14:sldIdLst>
            <p14:sldId id="501"/>
          </p14:sldIdLst>
        </p14:section>
        <p14:section name="본문" id="{FCE70868-BB08-4726-BDA1-BC6D2C463683}">
          <p14:sldIdLst>
            <p14:sldId id="502"/>
            <p14:sldId id="503"/>
            <p14:sldId id="504"/>
            <p14:sldId id="505"/>
            <p14:sldId id="506"/>
            <p14:sldId id="507"/>
            <p14:sldId id="508"/>
          </p14:sldIdLst>
        </p14:section>
        <p14:section name="끝맺음" id="{FD15903C-2545-468A-8B76-5E1C92EB4CD3}">
          <p14:sldIdLst>
            <p14:sldId id="50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DA"/>
    <a:srgbClr val="D9E5FF"/>
    <a:srgbClr val="B7CDFF"/>
    <a:srgbClr val="F2F5FD"/>
    <a:srgbClr val="F8FAFE"/>
    <a:srgbClr val="FBFBFB"/>
    <a:srgbClr val="89AEFF"/>
    <a:srgbClr val="3372FF"/>
    <a:srgbClr val="D1DFFF"/>
    <a:srgbClr val="EE81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404" autoAdjust="0"/>
    <p:restoredTop sz="94660"/>
  </p:normalViewPr>
  <p:slideViewPr>
    <p:cSldViewPr snapToGrid="0">
      <p:cViewPr>
        <p:scale>
          <a:sx n="75" d="100"/>
          <a:sy n="75" d="100"/>
        </p:scale>
        <p:origin x="1074" y="80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43" Type="http://schemas.openxmlformats.org/officeDocument/2006/relationships/notesMaster" Target="notesMasters/notesMaster1.xml"/><Relationship Id="rId44" Type="http://schemas.openxmlformats.org/officeDocument/2006/relationships/handoutMaster" Target="handoutMasters/handout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30D723-4A74-427C-8704-F358CE22FDDC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71117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378F70-37B2-44B5-9F4B-14A4EA9C44E7}" type="datetimeFigureOut">
              <a:rPr lang="ko-KR" altLang="en-US" smtClean="0"/>
              <a:t>2025-02-21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836B27-1065-44B6-A758-016B3436B22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90647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788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 userDrawn="1"/>
        </p:nvCxnSpPr>
        <p:spPr>
          <a:xfrm>
            <a:off x="336000" y="1496718"/>
            <a:ext cx="11520000" cy="0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9" name="직선 연결선 8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sp>
        <p:nvSpPr>
          <p:cNvPr id="27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 smtClean="0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4818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강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1496718"/>
            <a:ext cx="12192001" cy="5361282"/>
          </a:xfrm>
          <a:prstGeom prst="rect">
            <a:avLst/>
          </a:prstGeom>
          <a:solidFill>
            <a:schemeClr val="bg1">
              <a:lumMod val="95000"/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 smtClean="0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73935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_프로세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 rot="10800000">
            <a:off x="0" y="1496718"/>
            <a:ext cx="12192001" cy="5361282"/>
          </a:xfrm>
          <a:prstGeom prst="rect">
            <a:avLst/>
          </a:prstGeom>
          <a:gradFill>
            <a:gsLst>
              <a:gs pos="100000">
                <a:srgbClr val="0043DA">
                  <a:alpha val="4000"/>
                </a:srgbClr>
              </a:gs>
              <a:gs pos="0">
                <a:schemeClr val="bg1">
                  <a:alpha val="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err="1" smtClean="0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9520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3367314" y="397805"/>
            <a:ext cx="0" cy="6460195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11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076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섹션구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3367314" y="397805"/>
            <a:ext cx="8817263" cy="6460195"/>
          </a:xfrm>
          <a:prstGeom prst="rect">
            <a:avLst/>
          </a:prstGeom>
          <a:solidFill>
            <a:schemeClr val="accent5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cxnSp>
        <p:nvCxnSpPr>
          <p:cNvPr id="17" name="직선 연결선 16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smtClean="0"/>
              <a:t>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5605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이미지강조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5806" y="128889"/>
            <a:ext cx="710194" cy="176398"/>
          </a:xfrm>
          <a:prstGeom prst="rect">
            <a:avLst/>
          </a:prstGeom>
        </p:spPr>
      </p:pic>
      <p:sp>
        <p:nvSpPr>
          <p:cNvPr id="7" name="TextBox 6"/>
          <p:cNvSpPr txBox="1"/>
          <p:nvPr userDrawn="1"/>
        </p:nvSpPr>
        <p:spPr>
          <a:xfrm>
            <a:off x="3754192" y="140144"/>
            <a:ext cx="162099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fld id="{D4D3CB94-2040-454F-8FC0-96221EAF3B89}" type="slidenum"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‹#›</a:t>
            </a:fld>
            <a:r>
              <a:rPr lang="en-US" altLang="ko-KR" sz="100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p</a:t>
            </a:r>
            <a:endParaRPr lang="ko-KR" altLang="en-US" sz="1000" dirty="0">
              <a:ln>
                <a:solidFill>
                  <a:srgbClr val="5B9BD5">
                    <a:alpha val="0"/>
                  </a:srgb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336000" y="397805"/>
            <a:ext cx="11520000" cy="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텍스트 개체 틀 24"/>
          <p:cNvSpPr>
            <a:spLocks noGrp="1"/>
          </p:cNvSpPr>
          <p:nvPr>
            <p:ph type="body" sz="quarter" idx="10" hasCustomPrompt="1"/>
          </p:nvPr>
        </p:nvSpPr>
        <p:spPr>
          <a:xfrm>
            <a:off x="354806" y="101016"/>
            <a:ext cx="2807494" cy="250530"/>
          </a:xfrm>
        </p:spPr>
        <p:txBody>
          <a:bodyPr lIns="0" tIns="0" rIns="0" bIns="0" anchor="ctr">
            <a:normAutofit/>
          </a:bodyPr>
          <a:lstStyle>
            <a:lvl1pPr marL="0" indent="0">
              <a:buNone/>
              <a:defRPr sz="1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ko-KR" altLang="en-US" dirty="0" err="1" smtClean="0"/>
              <a:t>대제목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7588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끝맺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직선 연결선 10"/>
          <p:cNvCxnSpPr/>
          <p:nvPr userDrawn="1"/>
        </p:nvCxnSpPr>
        <p:spPr>
          <a:xfrm>
            <a:off x="13675460" y="1539854"/>
            <a:ext cx="0" cy="4421134"/>
          </a:xfrm>
          <a:prstGeom prst="line">
            <a:avLst/>
          </a:prstGeom>
          <a:ln w="3175">
            <a:solidFill>
              <a:schemeClr val="tx1">
                <a:lumMod val="10000"/>
                <a:lumOff val="90000"/>
                <a:alpha val="68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9523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09537-3B6C-4308-9077-364C9BAEFA1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2632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9" r:id="rId2"/>
    <p:sldLayoutId id="2147483674" r:id="rId3"/>
    <p:sldLayoutId id="2147483676" r:id="rId4"/>
    <p:sldLayoutId id="2147483670" r:id="rId5"/>
    <p:sldLayoutId id="2147483671" r:id="rId6"/>
    <p:sldLayoutId id="2147483673" r:id="rId7"/>
    <p:sldLayoutId id="2147483675" r:id="rId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10">
          <p15:clr>
            <a:srgbClr val="F26B43"/>
          </p15:clr>
        </p15:guide>
        <p15:guide id="4" pos="234">
          <p15:clr>
            <a:srgbClr val="F26B43"/>
          </p15:clr>
        </p15:guide>
        <p15:guide id="5" orient="horz" pos="4110">
          <p15:clr>
            <a:srgbClr val="F26B43"/>
          </p15:clr>
        </p15:guide>
        <p15:guide id="6" pos="7446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619"/>
            <a:ext cx="12192000" cy="6857195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1" y="5948604"/>
            <a:ext cx="1329872" cy="33054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38715" y="1846736"/>
            <a:ext cx="5395685" cy="190647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Oracle DB 마이그레이션</a:t>
            </a:r>
          </a:p>
          <a:p>
            <a:pPr latinLnBrk="0"/>
            <a:r>
              <a:rPr lang="en-US" altLang="ko-KR" sz="50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실전 전략 가이드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38715" y="5760410"/>
            <a:ext cx="194070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Digitalization</a:t>
            </a:r>
            <a:r>
              <a:rPr lang="ko-KR" altLang="en-US" sz="1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을 선도하는</a:t>
            </a:r>
            <a:r>
              <a:rPr lang="en-US" altLang="ko-KR" sz="1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</a:p>
          <a:p>
            <a:pPr latinLnBrk="0">
              <a:lnSpc>
                <a:spcPct val="150000"/>
              </a:lnSpc>
            </a:pPr>
            <a:r>
              <a:rPr lang="en-US" altLang="ko-KR" sz="1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DX </a:t>
            </a:r>
            <a:r>
              <a:rPr lang="ko-KR" altLang="en-US" sz="11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전문기업</a:t>
            </a:r>
            <a:endParaRPr lang="en-US" altLang="ko-KR" sz="1100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88000" y="5760410"/>
            <a:ext cx="5965370" cy="923183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AI, Cloud, </a:t>
            </a:r>
            <a:r>
              <a:rPr lang="en-US" altLang="ko-KR" sz="1100" b="1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BigData</a:t>
            </a:r>
            <a:r>
              <a:rPr lang="en-US" altLang="ko-KR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CDN, Contact Center, </a:t>
            </a:r>
            <a:r>
              <a:rPr lang="ko-KR" altLang="en-US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물류</a:t>
            </a:r>
            <a:r>
              <a:rPr lang="en-US" altLang="ko-KR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스마트 인프라 등 다양한 영역에서 </a:t>
            </a:r>
            <a:endParaRPr lang="en-US" altLang="ko-KR" sz="1100" b="1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alpha val="80000"/>
                </a:schemeClr>
              </a:solidFill>
              <a:latin typeface="프리젠테이션 6 SemiBold" pitchFamily="2" charset="-127"/>
              <a:ea typeface="프리젠테이션 6 Semi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150000"/>
              </a:lnSpc>
            </a:pPr>
            <a:r>
              <a:rPr lang="ko-KR" altLang="en-US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고객의 </a:t>
            </a:r>
            <a:r>
              <a:rPr lang="en-US" altLang="ko-KR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Business</a:t>
            </a:r>
            <a:r>
              <a:rPr lang="ko-KR" altLang="en-US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를 선도하는 </a:t>
            </a:r>
            <a:r>
              <a:rPr lang="en-US" altLang="ko-KR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Digital Innovator</a:t>
            </a:r>
            <a:r>
              <a:rPr lang="ko-KR" altLang="en-US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sz="11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cs typeface="Pretendard" panose="02000503000000020004" pitchFamily="2" charset="-127"/>
              </a:rPr>
              <a:t>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8716" y="3754494"/>
            <a:ext cx="5395685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ko-KR" altLang="en-US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On-Premise Oracle → AWS Oracle RDS 전환을 위한 아키텍처·도구·운영 가이드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355601" y="5759125"/>
            <a:ext cx="11444514" cy="0"/>
          </a:xfrm>
          <a:prstGeom prst="line">
            <a:avLst/>
          </a:prstGeom>
          <a:ln w="3175">
            <a:solidFill>
              <a:schemeClr val="bg1">
                <a:lumMod val="75000"/>
                <a:alpha val="3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574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38715" y="29028"/>
            <a:ext cx="1940700" cy="3978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alpha val="80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04/21</a:t>
            </a:r>
          </a:p>
        </p:txBody>
      </p:sp>
    </p:spTree>
    <p:extLst>
      <p:ext uri="{BB962C8B-B14F-4D97-AF65-F5344CB8AC3E}">
        <p14:creationId xmlns:p14="http://schemas.microsoft.com/office/powerpoint/2010/main" val="919817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354805" y="545902"/>
            <a:ext cx="3112294" cy="51076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dirty="0" smtClean="0"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CONTENTS</a:t>
            </a:r>
            <a:endParaRPr lang="en-US" altLang="ko-KR" sz="2800" dirty="0">
              <a:solidFill>
                <a:srgbClr val="0043DA"/>
              </a:solidFill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367314" y="1715534"/>
            <a:ext cx="1161474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algn="ctr" latinLnBrk="0">
              <a:lnSpc>
                <a:spcPct val="250000"/>
              </a:lnSpc>
            </a:pPr>
            <a:r>
              <a:rPr lang="en-US" altLang="ko-KR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1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2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3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4</a:t>
            </a:r>
          </a:p>
          <a:p>
            <a:pPr algn="ctr" latinLnBrk="0">
              <a:lnSpc>
                <a:spcPct val="250000"/>
              </a:lnSpc>
            </a:pPr>
            <a:r>
              <a:rPr lang="en-US" altLang="ko-KR" sz="24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43668" y="1715534"/>
            <a:ext cx="3927349" cy="461664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AS-IS / TO-BE — 현재 한계와 목표 상태</a:t>
            </a:r>
            <a:endParaRPr lang="en-US" altLang="ko-KR" sz="24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인프라 전환 전/후 KPI 비교</a:t>
            </a:r>
            <a:endParaRPr lang="en-US" altLang="ko-KR" sz="24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도구 선택 프레임워크 &amp; 6개월 로드맵</a:t>
            </a:r>
            <a:endParaRPr lang="en-US" altLang="ko-KR" sz="24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핵심 성과 지표 (KPI Dashboard)</a:t>
            </a:r>
            <a:endParaRPr lang="en-US" altLang="ko-KR" sz="24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  <a:p>
            <a:pPr latinLnBrk="0">
              <a:lnSpc>
                <a:spcPct val="250000"/>
              </a:lnSpc>
              <a:buClr>
                <a:srgbClr val="1F43F9"/>
              </a:buClr>
            </a:pPr>
            <a:r>
              <a:rPr lang="ko-KR" altLang="en-US" sz="24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Do &amp; Don't + GoldenGate SWOT 분석</a:t>
            </a:r>
            <a:endParaRPr lang="en-US" altLang="ko-KR" sz="2400" dirty="0" smtClean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7 Bold" pitchFamily="2" charset="-127"/>
              <a:ea typeface="프리젠테이션 7 Bold" pitchFamily="2" charset="-127"/>
              <a:cs typeface="Pretendard" panose="02000503000000020004" pitchFamily="2" charset="-127"/>
            </a:endParaRPr>
          </a:p>
        </p:txBody>
      </p:sp>
      <p:grpSp>
        <p:nvGrpSpPr>
          <p:cNvPr id="53" name="그룹 52"/>
          <p:cNvGrpSpPr/>
          <p:nvPr/>
        </p:nvGrpSpPr>
        <p:grpSpPr>
          <a:xfrm>
            <a:off x="3806048" y="2760055"/>
            <a:ext cx="8385952" cy="2761457"/>
            <a:chOff x="3764222" y="1060078"/>
            <a:chExt cx="5147549" cy="1685118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3764222" y="1060078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>
              <a:off x="3764222" y="1621784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직선 연결선 55"/>
            <p:cNvCxnSpPr/>
            <p:nvPr/>
          </p:nvCxnSpPr>
          <p:spPr>
            <a:xfrm>
              <a:off x="3764222" y="2183490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연결선 56"/>
            <p:cNvCxnSpPr/>
            <p:nvPr/>
          </p:nvCxnSpPr>
          <p:spPr>
            <a:xfrm>
              <a:off x="3764222" y="2745196"/>
              <a:ext cx="5147549" cy="0"/>
            </a:xfrm>
            <a:prstGeom prst="line">
              <a:avLst/>
            </a:prstGeom>
            <a:ln w="3175">
              <a:solidFill>
                <a:schemeClr val="bg1">
                  <a:lumMod val="75000"/>
                  <a:alpha val="48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415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 err="1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서브색상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적용 예시</a:t>
            </a:r>
            <a:endParaRPr lang="ko-KR" altLang="en-US" sz="2000" dirty="0"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설명글을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적어주세요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강조 텍스트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7 Bold,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메인 컬러</a:t>
            </a:r>
            <a:r>
              <a:rPr lang="en-US" altLang="ko-KR" sz="12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)</a:t>
            </a:r>
          </a:p>
          <a:p>
            <a:pPr latinLnBrk="0">
              <a:lnSpc>
                <a:spcPct val="150000"/>
              </a:lnSpc>
            </a:pP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폰트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5 Medium 12pt 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줄까지 작성 가능합니다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765E1"/>
              </a:solidFill>
              <a:latin typeface="프리젠테이션 5 Medium" pitchFamily="2" charset="-127"/>
              <a:ea typeface="프리젠테이션 5 Medium" pitchFamily="2" charset="-127"/>
              <a:cs typeface="Pretendard" panose="02000503000000020004" pitchFamily="2" charset="-127"/>
            </a:endParaRPr>
          </a:p>
        </p:txBody>
      </p:sp>
      <p:sp>
        <p:nvSpPr>
          <p:cNvPr id="201" name="S201"/>
          <p:cNvSpPr>
            <a:spLocks noGrp="1"/>
          </p:cNvSpPr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600" b="1" dirty="0">
                <a:solidFill>
                  <a:srgbClr val="0043DA"/>
                </a:solidFill>
                <a:latin typeface="Freesentation"/>
                <a:ea typeface="Freesentation"/>
              </a:rPr>
              <a:t>현재 환경의 문제점과 목표 상태</a:t>
            </a:r>
          </a:p>
        </p:txBody>
      </p:sp>
      <p:sp>
        <p:nvSpPr>
          <p:cNvPr id="202" name="S202"/>
          <p:cNvSpPr>
            <a:spLocks noGrp="1"/>
          </p:cNvSpPr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레거시 Oracle 온프레미스 운영의 한계와 AWS RDS 전환 후 기대 효과 비교</a:t>
            </a:r>
          </a:p>
        </p:txBody>
      </p:sp>
      <p:sp>
        <p:nvSpPr>
          <p:cNvPr id="203" name="S203"/>
          <p:cNvSpPr>
            <a:spLocks noGrp="1"/>
          </p:cNvSpPr>
          <p:nvPr/>
        </p:nvSpPr>
        <p:spPr>
          <a:xfrm>
            <a:off x="637160" y="2423160"/>
            <a:ext cx="1371600" cy="274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⚠  AS-IS</a:t>
            </a:r>
          </a:p>
        </p:txBody>
      </p:sp>
      <p:sp>
        <p:nvSpPr>
          <p:cNvPr id="204" name="S204"/>
          <p:cNvSpPr>
            <a:spLocks noGrp="1"/>
          </p:cNvSpPr>
          <p:nvPr/>
        </p:nvSpPr>
        <p:spPr>
          <a:xfrm>
            <a:off x="6611040" y="2423160"/>
            <a:ext cx="1371600" cy="27432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✓  TO-BE</a:t>
            </a:r>
          </a:p>
        </p:txBody>
      </p:sp>
      <p:sp>
        <p:nvSpPr>
          <p:cNvPr id="205" name="S205"/>
          <p:cNvSpPr>
            <a:spLocks noGrp="1"/>
          </p:cNvSpPr>
          <p:nvPr/>
        </p:nvSpPr>
        <p:spPr>
          <a:xfrm>
            <a:off x="457200" y="2789820"/>
            <a:ext cx="5303520" cy="388566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06" name="S206"/>
          <p:cNvSpPr>
            <a:spLocks noGrp="1"/>
          </p:cNvSpPr>
          <p:nvPr/>
        </p:nvSpPr>
        <p:spPr>
          <a:xfrm>
            <a:off x="6431280" y="2789820"/>
            <a:ext cx="5303520" cy="3885660"/>
          </a:xfrm>
          <a:prstGeom prst="roundRect">
            <a:avLst>
              <a:gd name="adj" fmla="val 16667"/>
            </a:avLst>
          </a:prstGeom>
          <a:solidFill>
            <a:srgbClr val="E6F0FF"/>
          </a:solidFill>
          <a:ln w="9525">
            <a:solidFill>
              <a:srgbClr val="0043DA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07" name="S207"/>
          <p:cNvSpPr>
            <a:spLocks noGrp="1"/>
          </p:cNvSpPr>
          <p:nvPr/>
        </p:nvSpPr>
        <p:spPr>
          <a:xfrm>
            <a:off x="637160" y="2897580"/>
            <a:ext cx="4941840" cy="36576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/>
          <a:lstStyle/>
          <a:p>
            <a:pPr algn="l"/>
            <a:r>
              <a:rPr sz="14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Oracle 온프레미스 DB 현황</a:t>
            </a:r>
          </a:p>
        </p:txBody>
      </p:sp>
      <p:sp>
        <p:nvSpPr>
          <p:cNvPr id="208" name="S208"/>
          <p:cNvSpPr>
            <a:spLocks noGrp="1"/>
          </p:cNvSpPr>
          <p:nvPr/>
        </p:nvSpPr>
        <p:spPr>
          <a:xfrm>
            <a:off x="6611040" y="2897580"/>
            <a:ext cx="4941840" cy="365760"/>
          </a:xfrm>
          <a:prstGeom prst="rect">
            <a:avLst/>
          </a:prstGeom>
          <a:noFill/>
          <a:ln>
            <a:noFill/>
          </a:ln>
        </p:spPr>
        <p:txBody>
          <a:bodyPr anchor="t" lIns="0" rIns="0" tIns="0" bIns="0"/>
          <a:lstStyle/>
          <a:p>
            <a:pPr algn="l"/>
            <a:r>
              <a:rPr sz="14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AWS RDS Oracle 전환 후 효과</a:t>
            </a:r>
          </a:p>
        </p:txBody>
      </p:sp>
      <p:sp>
        <p:nvSpPr>
          <p:cNvPr id="209" name="S209"/>
          <p:cNvSpPr>
            <a:spLocks noGrp="1"/>
          </p:cNvSpPr>
          <p:nvPr/>
        </p:nvSpPr>
        <p:spPr>
          <a:xfrm>
            <a:off x="637160" y="3263580"/>
            <a:ext cx="4484640" cy="24497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높은 Oracle 라이선스·유지보수 비용</a:t>
            </a:r>
          </a:p>
          <a:p>
            <a:pPr algn="l"/>
            <a:r>
              <a:rPr sz="1100" b="0" dirty="0">
                <a:solidFill>
                  <a:srgbClr val="505050"/>
                </a:solidFill>
                <a:latin typeface="Freesentation"/>
                <a:ea typeface="Freesentation"/>
              </a:rPr>
              <a:t>   연간 수억원 이상 고정 지출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수동 백업 — RPO 24시간 이상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수직 스케일만 가능, 하드웨어 증설 필요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단일 장애점(SPOF), 이중화 구성 복잡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패치·업그레이드 사이클 수개월 소요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DBA 전담 인력 상시 운영 필수</a:t>
            </a:r>
          </a:p>
        </p:txBody>
      </p:sp>
      <p:sp>
        <p:nvSpPr>
          <p:cNvPr id="210" name="S210"/>
          <p:cNvSpPr>
            <a:spLocks noGrp="1"/>
          </p:cNvSpPr>
          <p:nvPr/>
        </p:nvSpPr>
        <p:spPr>
          <a:xfrm>
            <a:off x="6611040" y="3263580"/>
            <a:ext cx="4484640" cy="244972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Pay-as-you-go — 비용 30~50% 절감</a:t>
            </a:r>
          </a:p>
          <a:p>
            <a:pPr algn="l"/>
            <a:r>
              <a:rPr sz="1100" b="0" dirty="0">
                <a:solidFill>
                  <a:srgbClr val="505050"/>
                </a:solidFill>
                <a:latin typeface="Freesentation"/>
                <a:ea typeface="Freesentation"/>
              </a:rPr>
              <a:t>   온프레미스 대비 3년 TCO 분석 기준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자동 백업 + Multi-AZ (RPO &lt; 5분)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Read Replica로 수평 스케일 즉시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99.99% SLA, 자동 Multi-AZ 장애조치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자동 패치·마이너 버전 업그레이드</a:t>
            </a:r>
          </a:p>
          <a:p>
            <a:pPr algn="l"/>
            <a:endParaRPr sz="6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• RDS 관리형 서비스 — DBA 운영 부담 ↓</a:t>
            </a:r>
          </a:p>
        </p:txBody>
      </p:sp>
      <p:sp>
        <p:nvSpPr>
          <p:cNvPr id="211" name="S211"/>
          <p:cNvSpPr>
            <a:spLocks noGrp="1"/>
          </p:cNvSpPr>
          <p:nvPr/>
        </p:nvSpPr>
        <p:spPr>
          <a:xfrm>
            <a:off x="5944440" y="4594980"/>
            <a:ext cx="411480" cy="27432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→</a:t>
            </a:r>
          </a:p>
        </p:txBody>
      </p:sp>
      <p:pic>
        <p:nvPicPr>
          <p:cNvPr id="201" name="Img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00" y="6087600"/>
            <a:ext cx="411480" cy="411480"/>
          </a:xfrm>
          <a:prstGeom prst="rect">
            <a:avLst/>
          </a:prstGeom>
        </p:spPr>
      </p:pic>
      <p:pic>
        <p:nvPicPr>
          <p:cNvPr id="201" name="Img2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280" y="60876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91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 err="1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서브색상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적용 예시</a:t>
            </a:r>
            <a:endParaRPr lang="ko-KR" altLang="en-US" sz="2000" dirty="0"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설명글을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적어주세요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강조 텍스트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7 Bold,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메인 컬러</a:t>
            </a:r>
            <a:r>
              <a:rPr lang="en-US" altLang="ko-KR" sz="12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)</a:t>
            </a:r>
          </a:p>
          <a:p>
            <a:pPr latinLnBrk="0">
              <a:lnSpc>
                <a:spcPct val="150000"/>
              </a:lnSpc>
            </a:pP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폰트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5 Medium 12pt 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줄까지 작성 가능합니다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765E1"/>
              </a:solidFill>
              <a:latin typeface="프리젠테이션 5 Medium" pitchFamily="2" charset="-127"/>
              <a:ea typeface="프리젠테이션 5 Medium" pitchFamily="2" charset="-127"/>
              <a:cs typeface="Pretendard" panose="02000503000000020004" pitchFamily="2" charset="-127"/>
            </a:endParaRPr>
          </a:p>
        </p:txBody>
      </p:sp>
      <p:sp>
        <p:nvSpPr>
          <p:cNvPr id="201" name="S201"/>
          <p:cNvSpPr>
            <a:spLocks noGrp="1"/>
          </p:cNvSpPr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600" b="1" dirty="0">
                <a:solidFill>
                  <a:srgbClr val="0043DA"/>
                </a:solidFill>
                <a:latin typeface="Freesentation"/>
                <a:ea typeface="Freesentation"/>
              </a:rPr>
              <a:t>인프라 아키텍처 전환 효과</a:t>
            </a:r>
          </a:p>
        </p:txBody>
      </p:sp>
      <p:sp>
        <p:nvSpPr>
          <p:cNvPr id="202" name="S202"/>
          <p:cNvSpPr>
            <a:spLocks noGrp="1"/>
          </p:cNvSpPr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On-Premise 3-Tier → AWS Cloud Native 전환 전/후 KPI 수치 비교</a:t>
            </a:r>
          </a:p>
        </p:txBody>
      </p:sp>
      <p:sp>
        <p:nvSpPr>
          <p:cNvPr id="203" name="S203"/>
          <p:cNvSpPr>
            <a:spLocks noGrp="1"/>
          </p:cNvSpPr>
          <p:nvPr/>
        </p:nvSpPr>
        <p:spPr>
          <a:xfrm>
            <a:off x="637160" y="2423160"/>
            <a:ext cx="1371600" cy="274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BEFORE</a:t>
            </a:r>
          </a:p>
        </p:txBody>
      </p:sp>
      <p:sp>
        <p:nvSpPr>
          <p:cNvPr id="204" name="S204"/>
          <p:cNvSpPr>
            <a:spLocks noGrp="1"/>
          </p:cNvSpPr>
          <p:nvPr/>
        </p:nvSpPr>
        <p:spPr>
          <a:xfrm>
            <a:off x="6611040" y="2423160"/>
            <a:ext cx="1371600" cy="27432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AFTER</a:t>
            </a:r>
          </a:p>
        </p:txBody>
      </p:sp>
      <p:sp>
        <p:nvSpPr>
          <p:cNvPr id="205" name="S205"/>
          <p:cNvSpPr>
            <a:spLocks noGrp="1"/>
          </p:cNvSpPr>
          <p:nvPr/>
        </p:nvSpPr>
        <p:spPr>
          <a:xfrm>
            <a:off x="457200" y="2789820"/>
            <a:ext cx="5303520" cy="388566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9525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06" name="S206"/>
          <p:cNvSpPr>
            <a:spLocks noGrp="1"/>
          </p:cNvSpPr>
          <p:nvPr/>
        </p:nvSpPr>
        <p:spPr>
          <a:xfrm>
            <a:off x="6431280" y="2789820"/>
            <a:ext cx="5303520" cy="3885660"/>
          </a:xfrm>
          <a:prstGeom prst="roundRect">
            <a:avLst>
              <a:gd name="adj" fmla="val 16667"/>
            </a:avLst>
          </a:prstGeom>
          <a:solidFill>
            <a:srgbClr val="E6F0FF"/>
          </a:solidFill>
          <a:ln w="9525">
            <a:solidFill>
              <a:srgbClr val="0043DA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07" name="S207"/>
          <p:cNvSpPr>
            <a:spLocks noGrp="1"/>
          </p:cNvSpPr>
          <p:nvPr/>
        </p:nvSpPr>
        <p:spPr>
          <a:xfrm>
            <a:off x="637160" y="2897580"/>
            <a:ext cx="4941840" cy="45720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24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99.5%  가용성</a:t>
            </a:r>
          </a:p>
        </p:txBody>
      </p:sp>
      <p:sp>
        <p:nvSpPr>
          <p:cNvPr id="208" name="S208"/>
          <p:cNvSpPr>
            <a:spLocks noGrp="1"/>
          </p:cNvSpPr>
          <p:nvPr/>
        </p:nvSpPr>
        <p:spPr>
          <a:xfrm>
            <a:off x="6611040" y="2897580"/>
            <a:ext cx="4941840" cy="45720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24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99.99%  가용성</a:t>
            </a:r>
          </a:p>
        </p:txBody>
      </p:sp>
      <p:sp>
        <p:nvSpPr>
          <p:cNvPr id="209" name="S209"/>
          <p:cNvSpPr>
            <a:spLocks noGrp="1"/>
          </p:cNvSpPr>
          <p:nvPr/>
        </p:nvSpPr>
        <p:spPr>
          <a:xfrm>
            <a:off x="637160" y="3354780"/>
            <a:ext cx="4941840" cy="22860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100" b="0" dirty="0">
                <a:solidFill>
                  <a:srgbClr val="505050"/>
                </a:solidFill>
                <a:latin typeface="Freesentation"/>
                <a:ea typeface="Freesentation"/>
              </a:rPr>
              <a:t>Active-Standby 이중화 기준 (2025년 실측)</a:t>
            </a:r>
          </a:p>
        </p:txBody>
      </p:sp>
      <p:sp>
        <p:nvSpPr>
          <p:cNvPr id="210" name="S210"/>
          <p:cNvSpPr>
            <a:spLocks noGrp="1"/>
          </p:cNvSpPr>
          <p:nvPr/>
        </p:nvSpPr>
        <p:spPr>
          <a:xfrm>
            <a:off x="6611040" y="3354780"/>
            <a:ext cx="4941840" cy="22860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100" b="0" dirty="0">
                <a:solidFill>
                  <a:srgbClr val="505050"/>
                </a:solidFill>
                <a:latin typeface="Freesentation"/>
                <a:ea typeface="Freesentation"/>
              </a:rPr>
              <a:t>RDS Multi-AZ SLA (자동 장애조치 60초)</a:t>
            </a:r>
          </a:p>
        </p:txBody>
      </p:sp>
      <p:sp>
        <p:nvSpPr>
          <p:cNvPr id="211" name="S211"/>
          <p:cNvSpPr>
            <a:spLocks noGrp="1"/>
          </p:cNvSpPr>
          <p:nvPr/>
        </p:nvSpPr>
        <p:spPr>
          <a:xfrm>
            <a:off x="637160" y="3674820"/>
            <a:ext cx="4941840" cy="9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="ctr" lIns="91440" rIns="91440" tIns="91440" bIns="91440"/>
          <a:lstStyle/>
          <a:p/>
        </p:txBody>
      </p:sp>
      <p:sp>
        <p:nvSpPr>
          <p:cNvPr id="212" name="S212"/>
          <p:cNvSpPr>
            <a:spLocks noGrp="1"/>
          </p:cNvSpPr>
          <p:nvPr/>
        </p:nvSpPr>
        <p:spPr>
          <a:xfrm>
            <a:off x="6611040" y="3674820"/>
            <a:ext cx="4941840" cy="9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="ctr" lIns="91440" rIns="91440" tIns="91440" bIns="91440"/>
          <a:lstStyle/>
          <a:p/>
        </p:txBody>
      </p:sp>
      <p:sp>
        <p:nvSpPr>
          <p:cNvPr id="213" name="S213"/>
          <p:cNvSpPr>
            <a:spLocks noGrp="1"/>
          </p:cNvSpPr>
          <p:nvPr/>
        </p:nvSpPr>
        <p:spPr>
          <a:xfrm>
            <a:off x="637160" y="3766260"/>
            <a:ext cx="4484640" cy="19470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▣  네트워크</a:t>
            </a:r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   IDC L4/L7 스위치, 방화벽</a:t>
            </a:r>
          </a:p>
          <a:p>
            <a:pPr algn="l"/>
            <a:endParaRPr sz="500"/>
          </a:p>
          <a:p>
            <a:pPr algn="l"/>
            <a:r>
              <a:rPr sz="13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▣  웹/AP 계층</a:t>
            </a:r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   물리 서버 WAS 클러스터 (Active-Active)</a:t>
            </a:r>
          </a:p>
          <a:p>
            <a:pPr algn="l"/>
            <a:endParaRPr sz="500"/>
          </a:p>
          <a:p>
            <a:pPr algn="l"/>
            <a:r>
              <a:rPr sz="13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▣  DB 계층</a:t>
            </a:r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   Oracle Active-Standby / 수동 백업</a:t>
            </a:r>
          </a:p>
        </p:txBody>
      </p:sp>
      <p:sp>
        <p:nvSpPr>
          <p:cNvPr id="214" name="S214"/>
          <p:cNvSpPr>
            <a:spLocks noGrp="1"/>
          </p:cNvSpPr>
          <p:nvPr/>
        </p:nvSpPr>
        <p:spPr>
          <a:xfrm>
            <a:off x="6611040" y="3766260"/>
            <a:ext cx="4484640" cy="194704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▣  네트워크</a:t>
            </a:r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   VPC + ALB (Application Load Balancer)</a:t>
            </a:r>
          </a:p>
          <a:p>
            <a:pPr algn="l"/>
            <a:endParaRPr sz="500"/>
          </a:p>
          <a:p>
            <a:pPr algn="l"/>
            <a:r>
              <a:rPr sz="13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▣  웹/AP 계층</a:t>
            </a:r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   EC2 Auto Scaling Group (AZ 이중화)</a:t>
            </a:r>
          </a:p>
          <a:p>
            <a:pPr algn="l"/>
            <a:endParaRPr sz="500"/>
          </a:p>
          <a:p>
            <a:pPr algn="l"/>
            <a:r>
              <a:rPr sz="13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▣  DB 계층</a:t>
            </a:r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   RDS Multi-AZ / 자동 백업 + PITR</a:t>
            </a:r>
          </a:p>
        </p:txBody>
      </p:sp>
      <p:sp>
        <p:nvSpPr>
          <p:cNvPr id="215" name="S215"/>
          <p:cNvSpPr>
            <a:spLocks noGrp="1"/>
          </p:cNvSpPr>
          <p:nvPr/>
        </p:nvSpPr>
        <p:spPr>
          <a:xfrm>
            <a:off x="5944440" y="4594980"/>
            <a:ext cx="411480" cy="27432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→</a:t>
            </a:r>
          </a:p>
        </p:txBody>
      </p:sp>
      <p:sp>
        <p:nvSpPr>
          <p:cNvPr id="216" name="S216"/>
          <p:cNvSpPr>
            <a:spLocks noGrp="1"/>
          </p:cNvSpPr>
          <p:nvPr/>
        </p:nvSpPr>
        <p:spPr>
          <a:xfrm>
            <a:off x="5318760" y="5029200"/>
            <a:ext cx="1554480" cy="45720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▲ 99.5%→99.99%</a:t>
            </a:r>
          </a:p>
        </p:txBody>
      </p:sp>
      <p:pic>
        <p:nvPicPr>
          <p:cNvPr id="201" name="Img2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00" y="6087600"/>
            <a:ext cx="411480" cy="411480"/>
          </a:xfrm>
          <a:prstGeom prst="rect">
            <a:avLst/>
          </a:prstGeom>
        </p:spPr>
      </p:pic>
      <p:pic>
        <p:nvPicPr>
          <p:cNvPr id="201" name="Img2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1280" y="6087600"/>
            <a:ext cx="411480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436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 err="1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서브색상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적용 예시</a:t>
            </a:r>
            <a:endParaRPr lang="ko-KR" altLang="en-US" sz="2000" dirty="0"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설명글을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적어주세요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강조 텍스트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7 Bold,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메인 컬러</a:t>
            </a:r>
            <a:r>
              <a:rPr lang="en-US" altLang="ko-KR" sz="12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)</a:t>
            </a:r>
          </a:p>
          <a:p>
            <a:pPr latinLnBrk="0">
              <a:lnSpc>
                <a:spcPct val="150000"/>
              </a:lnSpc>
            </a:pP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폰트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5 Medium 12pt 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줄까지 작성 가능합니다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765E1"/>
              </a:solidFill>
              <a:latin typeface="프리젠테이션 5 Medium" pitchFamily="2" charset="-127"/>
              <a:ea typeface="프리젠테이션 5 Medium" pitchFamily="2" charset="-127"/>
              <a:cs typeface="Pretendard" panose="02000503000000020004" pitchFamily="2" charset="-127"/>
            </a:endParaRPr>
          </a:p>
        </p:txBody>
      </p:sp>
      <p:sp>
        <p:nvSpPr>
          <p:cNvPr id="201" name="S201"/>
          <p:cNvSpPr>
            <a:spLocks noGrp="1"/>
          </p:cNvSpPr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600" b="1" dirty="0">
                <a:solidFill>
                  <a:srgbClr val="0043DA"/>
                </a:solidFill>
                <a:latin typeface="Freesentation"/>
                <a:ea typeface="Freesentation"/>
              </a:rPr>
              <a:t>마이그레이션 도구 선택 의사결정 프레임워크</a:t>
            </a:r>
          </a:p>
        </p:txBody>
      </p:sp>
      <p:sp>
        <p:nvSpPr>
          <p:cNvPr id="202" name="S202"/>
          <p:cNvSpPr>
            <a:spLocks noGrp="1"/>
          </p:cNvSpPr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4단계 깔때기 평가 — 요구사항 정의부터 최종 도구 선정까지</a:t>
            </a:r>
          </a:p>
        </p:txBody>
      </p:sp>
      <p:sp>
        <p:nvSpPr>
          <p:cNvPr id="204" name="S204"/>
          <p:cNvSpPr>
            <a:spLocks noGrp="1"/>
          </p:cNvSpPr>
          <p:nvPr/>
        </p:nvSpPr>
        <p:spPr>
          <a:xfrm>
            <a:off x="457200" y="3076764"/>
            <a:ext cx="7315200" cy="69504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3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1단계  요구사항 정의</a:t>
            </a:r>
          </a:p>
          <a:p>
            <a:pPr algn="l"/>
            <a:r>
              <a:rPr sz="1100" b="0" dirty="0">
                <a:solidFill>
                  <a:srgbClr val="0043DA"/>
                </a:solidFill>
                <a:latin typeface="Freesentation"/>
                <a:ea typeface="Freesentation"/>
              </a:rPr>
              <a:t>데이터 볼륨 / RPO·RTO SLA / 변환 복잡도 / 예산</a:t>
            </a:r>
          </a:p>
        </p:txBody>
      </p:sp>
      <p:sp>
        <p:nvSpPr>
          <p:cNvPr id="205" name="S205"/>
          <p:cNvSpPr>
            <a:spLocks noGrp="1"/>
          </p:cNvSpPr>
          <p:nvPr/>
        </p:nvSpPr>
        <p:spPr>
          <a:xfrm>
            <a:off x="8046720" y="3076764"/>
            <a:ext cx="3688080" cy="695040"/>
          </a:xfrm>
          <a:prstGeom prst="rect">
            <a:avLst/>
          </a:prstGeom>
          <a:noFill/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입력 기준: 이기종 여부, 볼륨 크기</a:t>
            </a:r>
          </a:p>
        </p:txBody>
      </p:sp>
      <p:sp>
        <p:nvSpPr>
          <p:cNvPr id="207" name="S207"/>
          <p:cNvSpPr>
            <a:spLocks noGrp="1"/>
          </p:cNvSpPr>
          <p:nvPr/>
        </p:nvSpPr>
        <p:spPr>
          <a:xfrm>
            <a:off x="1005840" y="3826668"/>
            <a:ext cx="6217920" cy="695040"/>
          </a:xfrm>
          <a:prstGeom prst="rect">
            <a:avLst/>
          </a:prstGeom>
          <a:solidFill>
            <a:srgbClr val="C8DCFF"/>
          </a:solidFill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3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2단계  후보 도구 검토</a:t>
            </a:r>
          </a:p>
          <a:p>
            <a:pPr algn="l"/>
            <a:r>
              <a:rPr sz="1100" b="0" dirty="0">
                <a:solidFill>
                  <a:srgbClr val="0043DA"/>
                </a:solidFill>
                <a:latin typeface="Freesentation"/>
                <a:ea typeface="Freesentation"/>
              </a:rPr>
              <a:t>GoldenGate · AWS DMS · DataStage · Debezium</a:t>
            </a:r>
          </a:p>
        </p:txBody>
      </p:sp>
      <p:sp>
        <p:nvSpPr>
          <p:cNvPr id="208" name="S208"/>
          <p:cNvSpPr>
            <a:spLocks noGrp="1"/>
          </p:cNvSpPr>
          <p:nvPr/>
        </p:nvSpPr>
        <p:spPr>
          <a:xfrm>
            <a:off x="8046720" y="3826668"/>
            <a:ext cx="3688080" cy="695040"/>
          </a:xfrm>
          <a:prstGeom prst="rect">
            <a:avLst/>
          </a:prstGeom>
          <a:noFill/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통과 기준: 공식 지원 + 레퍼런스 존재</a:t>
            </a:r>
          </a:p>
        </p:txBody>
      </p:sp>
      <p:sp>
        <p:nvSpPr>
          <p:cNvPr id="210" name="S210"/>
          <p:cNvSpPr>
            <a:spLocks noGrp="1"/>
          </p:cNvSpPr>
          <p:nvPr/>
        </p:nvSpPr>
        <p:spPr>
          <a:xfrm>
            <a:off x="1554480" y="4576572"/>
            <a:ext cx="5120640" cy="695040"/>
          </a:xfrm>
          <a:prstGeom prst="rect">
            <a:avLst/>
          </a:prstGeom>
          <a:solidFill>
            <a:srgbClr val="8AB4F8"/>
          </a:solidFill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3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3단계  PoC 평가</a:t>
            </a:r>
          </a:p>
          <a:p>
            <a:pPr algn="l"/>
            <a:r>
              <a:rPr sz="1100" b="0" dirty="0">
                <a:solidFill>
                  <a:srgbClr val="FFFFFF"/>
                </a:solidFill>
                <a:latin typeface="Freesentation"/>
                <a:ea typeface="Freesentation"/>
              </a:rPr>
              <a:t>성능 테스트 / 비용 분석 / 운영 복잡도</a:t>
            </a:r>
          </a:p>
        </p:txBody>
      </p:sp>
      <p:sp>
        <p:nvSpPr>
          <p:cNvPr id="211" name="S211"/>
          <p:cNvSpPr>
            <a:spLocks noGrp="1"/>
          </p:cNvSpPr>
          <p:nvPr/>
        </p:nvSpPr>
        <p:spPr>
          <a:xfrm>
            <a:off x="8046720" y="4576572"/>
            <a:ext cx="3688080" cy="695040"/>
          </a:xfrm>
          <a:prstGeom prst="rect">
            <a:avLst/>
          </a:prstGeom>
          <a:noFill/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통과 기준: SLA 충족 + ROI 양수</a:t>
            </a:r>
          </a:p>
        </p:txBody>
      </p:sp>
      <p:sp>
        <p:nvSpPr>
          <p:cNvPr id="213" name="S213"/>
          <p:cNvSpPr>
            <a:spLocks noGrp="1"/>
          </p:cNvSpPr>
          <p:nvPr/>
        </p:nvSpPr>
        <p:spPr>
          <a:xfrm>
            <a:off x="2103120" y="5326476"/>
            <a:ext cx="4023360" cy="69504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3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4단계  최종 선정 ★</a:t>
            </a:r>
          </a:p>
          <a:p>
            <a:pPr algn="l"/>
            <a:r>
              <a:rPr sz="1100" b="0" dirty="0">
                <a:solidFill>
                  <a:srgbClr val="FFFFFF"/>
                </a:solidFill>
                <a:latin typeface="Freesentation"/>
                <a:ea typeface="Freesentation"/>
              </a:rPr>
              <a:t>GoldenGate 선정 — 경영 승인 · 계약 · 킥오프</a:t>
            </a:r>
          </a:p>
        </p:txBody>
      </p:sp>
      <p:sp>
        <p:nvSpPr>
          <p:cNvPr id="214" name="S214"/>
          <p:cNvSpPr>
            <a:spLocks noGrp="1"/>
          </p:cNvSpPr>
          <p:nvPr/>
        </p:nvSpPr>
        <p:spPr>
          <a:xfrm>
            <a:off x="8046720" y="5326476"/>
            <a:ext cx="3688080" cy="695040"/>
          </a:xfrm>
          <a:prstGeom prst="rect">
            <a:avLst/>
          </a:prstGeom>
          <a:noFill/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2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결과: 6개월 마이그레이션 계획 수립</a:t>
            </a:r>
          </a:p>
        </p:txBody>
      </p:sp>
    </p:spTree>
    <p:extLst>
      <p:ext uri="{BB962C8B-B14F-4D97-AF65-F5344CB8AC3E}">
        <p14:creationId xmlns:p14="http://schemas.microsoft.com/office/powerpoint/2010/main" val="1434484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 err="1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서브색상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적용 예시</a:t>
            </a:r>
            <a:endParaRPr lang="ko-KR" altLang="en-US" sz="2000" dirty="0"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설명글을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적어주세요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강조 텍스트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7 Bold,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메인 컬러</a:t>
            </a:r>
            <a:r>
              <a:rPr lang="en-US" altLang="ko-KR" sz="12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)</a:t>
            </a:r>
          </a:p>
          <a:p>
            <a:pPr latinLnBrk="0">
              <a:lnSpc>
                <a:spcPct val="150000"/>
              </a:lnSpc>
            </a:pP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폰트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5 Medium 12pt 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줄까지 작성 가능합니다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765E1"/>
              </a:solidFill>
              <a:latin typeface="프리젠테이션 5 Medium" pitchFamily="2" charset="-127"/>
              <a:ea typeface="프리젠테이션 5 Medium" pitchFamily="2" charset="-127"/>
              <a:cs typeface="Pretendard" panose="02000503000000020004" pitchFamily="2" charset="-127"/>
            </a:endParaRPr>
          </a:p>
        </p:txBody>
      </p:sp>
      <p:sp>
        <p:nvSpPr>
          <p:cNvPr id="201" name="S201"/>
          <p:cNvSpPr>
            <a:spLocks noGrp="1"/>
          </p:cNvSpPr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600" b="1" dirty="0">
                <a:solidFill>
                  <a:srgbClr val="0043DA"/>
                </a:solidFill>
                <a:latin typeface="Freesentation"/>
                <a:ea typeface="Freesentation"/>
              </a:rPr>
              <a:t>6개월 마이그레이션 로드맵</a:t>
            </a:r>
          </a:p>
        </p:txBody>
      </p:sp>
      <p:sp>
        <p:nvSpPr>
          <p:cNvPr id="202" name="S202"/>
          <p:cNvSpPr>
            <a:spLocks noGrp="1"/>
          </p:cNvSpPr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수영장 레인(Swim Lane) — 4개 워크스트림 동시 진행, 무중단 운영 보장</a:t>
            </a:r>
          </a:p>
        </p:txBody>
      </p:sp>
      <p:sp>
        <p:nvSpPr>
          <p:cNvPr id="203" name="S203"/>
          <p:cNvSpPr>
            <a:spLocks noGrp="1"/>
          </p:cNvSpPr>
          <p:nvPr/>
        </p:nvSpPr>
        <p:spPr>
          <a:xfrm>
            <a:off x="1920240" y="2423160"/>
            <a:ext cx="1635760" cy="365760"/>
          </a:xfrm>
          <a:prstGeom prst="rect">
            <a:avLst/>
          </a:prstGeom>
          <a:solidFill>
            <a:srgbClr val="E6F0FF"/>
          </a:solidFill>
          <a:ln w="6350">
            <a:solidFill>
              <a:srgbClr val="DCDCDC"/>
            </a:solidFill>
          </a:ln>
        </p:spPr>
        <p:txBody>
          <a:bodyPr anchor="ctr" lIns="91440" rIns="91440" tIns="91440" bIns="91440"/>
          <a:lstStyle/>
          <a:p>
            <a:pPr algn="ctr"/>
            <a:r>
              <a:rPr sz="12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M1</a:t>
            </a:r>
          </a:p>
        </p:txBody>
      </p:sp>
      <p:sp>
        <p:nvSpPr>
          <p:cNvPr id="204" name="S204"/>
          <p:cNvSpPr>
            <a:spLocks noGrp="1"/>
          </p:cNvSpPr>
          <p:nvPr/>
        </p:nvSpPr>
        <p:spPr>
          <a:xfrm>
            <a:off x="3556000" y="2423160"/>
            <a:ext cx="1635760" cy="365760"/>
          </a:xfrm>
          <a:prstGeom prst="rect">
            <a:avLst/>
          </a:prstGeom>
          <a:solidFill>
            <a:srgbClr val="E6F0FF"/>
          </a:solidFill>
          <a:ln w="6350">
            <a:solidFill>
              <a:srgbClr val="DCDCDC"/>
            </a:solidFill>
          </a:ln>
        </p:spPr>
        <p:txBody>
          <a:bodyPr anchor="ctr" lIns="91440" rIns="91440" tIns="91440" bIns="91440"/>
          <a:lstStyle/>
          <a:p>
            <a:pPr algn="ctr"/>
            <a:r>
              <a:rPr sz="12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M2</a:t>
            </a:r>
          </a:p>
        </p:txBody>
      </p:sp>
      <p:sp>
        <p:nvSpPr>
          <p:cNvPr id="205" name="S205"/>
          <p:cNvSpPr>
            <a:spLocks noGrp="1"/>
          </p:cNvSpPr>
          <p:nvPr/>
        </p:nvSpPr>
        <p:spPr>
          <a:xfrm>
            <a:off x="5191760" y="2423160"/>
            <a:ext cx="1635760" cy="365760"/>
          </a:xfrm>
          <a:prstGeom prst="rect">
            <a:avLst/>
          </a:prstGeom>
          <a:solidFill>
            <a:srgbClr val="E6F0FF"/>
          </a:solidFill>
          <a:ln w="6350">
            <a:solidFill>
              <a:srgbClr val="DCDCDC"/>
            </a:solidFill>
          </a:ln>
        </p:spPr>
        <p:txBody>
          <a:bodyPr anchor="ctr" lIns="91440" rIns="91440" tIns="91440" bIns="91440"/>
          <a:lstStyle/>
          <a:p>
            <a:pPr algn="ctr"/>
            <a:r>
              <a:rPr sz="12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M3</a:t>
            </a:r>
          </a:p>
        </p:txBody>
      </p:sp>
      <p:sp>
        <p:nvSpPr>
          <p:cNvPr id="206" name="S206"/>
          <p:cNvSpPr>
            <a:spLocks noGrp="1"/>
          </p:cNvSpPr>
          <p:nvPr/>
        </p:nvSpPr>
        <p:spPr>
          <a:xfrm>
            <a:off x="6827520" y="2423160"/>
            <a:ext cx="1635760" cy="365760"/>
          </a:xfrm>
          <a:prstGeom prst="rect">
            <a:avLst/>
          </a:prstGeom>
          <a:solidFill>
            <a:srgbClr val="E6F0FF"/>
          </a:solidFill>
          <a:ln w="6350">
            <a:solidFill>
              <a:srgbClr val="DCDCDC"/>
            </a:solidFill>
          </a:ln>
        </p:spPr>
        <p:txBody>
          <a:bodyPr anchor="ctr" lIns="91440" rIns="91440" tIns="91440" bIns="91440"/>
          <a:lstStyle/>
          <a:p>
            <a:pPr algn="ctr"/>
            <a:r>
              <a:rPr sz="12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M4</a:t>
            </a:r>
          </a:p>
        </p:txBody>
      </p:sp>
      <p:sp>
        <p:nvSpPr>
          <p:cNvPr id="207" name="S207"/>
          <p:cNvSpPr>
            <a:spLocks noGrp="1"/>
          </p:cNvSpPr>
          <p:nvPr/>
        </p:nvSpPr>
        <p:spPr>
          <a:xfrm>
            <a:off x="8463280" y="2423160"/>
            <a:ext cx="1635760" cy="365760"/>
          </a:xfrm>
          <a:prstGeom prst="rect">
            <a:avLst/>
          </a:prstGeom>
          <a:solidFill>
            <a:srgbClr val="E6F0FF"/>
          </a:solidFill>
          <a:ln w="6350">
            <a:solidFill>
              <a:srgbClr val="DCDCDC"/>
            </a:solidFill>
          </a:ln>
        </p:spPr>
        <p:txBody>
          <a:bodyPr anchor="ctr" lIns="91440" rIns="91440" tIns="91440" bIns="91440"/>
          <a:lstStyle/>
          <a:p>
            <a:pPr algn="ctr"/>
            <a:r>
              <a:rPr sz="12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M5</a:t>
            </a:r>
          </a:p>
        </p:txBody>
      </p:sp>
      <p:sp>
        <p:nvSpPr>
          <p:cNvPr id="208" name="S208"/>
          <p:cNvSpPr>
            <a:spLocks noGrp="1"/>
          </p:cNvSpPr>
          <p:nvPr/>
        </p:nvSpPr>
        <p:spPr>
          <a:xfrm>
            <a:off x="10099040" y="2423160"/>
            <a:ext cx="1635760" cy="365760"/>
          </a:xfrm>
          <a:prstGeom prst="rect">
            <a:avLst/>
          </a:prstGeom>
          <a:solidFill>
            <a:srgbClr val="E6F0FF"/>
          </a:solidFill>
          <a:ln w="6350">
            <a:solidFill>
              <a:srgbClr val="DCDCDC"/>
            </a:solidFill>
          </a:ln>
        </p:spPr>
        <p:txBody>
          <a:bodyPr anchor="ctr" lIns="91440" rIns="91440" tIns="91440" bIns="91440"/>
          <a:lstStyle/>
          <a:p>
            <a:pPr algn="ctr"/>
            <a:r>
              <a:rPr sz="12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M6</a:t>
            </a:r>
          </a:p>
        </p:txBody>
      </p:sp>
      <p:sp>
        <p:nvSpPr>
          <p:cNvPr id="209" name="S209"/>
          <p:cNvSpPr>
            <a:spLocks noGrp="1"/>
          </p:cNvSpPr>
          <p:nvPr/>
        </p:nvSpPr>
        <p:spPr>
          <a:xfrm>
            <a:off x="457200" y="2788920"/>
            <a:ext cx="1371600" cy="902970"/>
          </a:xfrm>
          <a:prstGeom prst="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ctr" lIns="60000" rIns="60000" tIns="60000" bIns="60000"/>
          <a:lstStyle/>
          <a:p>
            <a:pPr algn="ctr"/>
            <a:r>
              <a:rPr sz="13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분석·설계</a:t>
            </a:r>
          </a:p>
        </p:txBody>
      </p:sp>
      <p:sp>
        <p:nvSpPr>
          <p:cNvPr id="210" name="S210"/>
          <p:cNvSpPr>
            <a:spLocks noGrp="1"/>
          </p:cNvSpPr>
          <p:nvPr/>
        </p:nvSpPr>
        <p:spPr>
          <a:xfrm>
            <a:off x="1920240" y="2788920"/>
            <a:ext cx="9814560" cy="902970"/>
          </a:xfrm>
          <a:prstGeom prst="rect">
            <a:avLst/>
          </a:prstGeom>
          <a:solidFill>
            <a:srgbClr val="F5F7FA"/>
          </a:solidFill>
          <a:ln w="3175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11" name="S211"/>
          <p:cNvSpPr>
            <a:spLocks noGrp="1"/>
          </p:cNvSpPr>
          <p:nvPr/>
        </p:nvSpPr>
        <p:spPr>
          <a:xfrm>
            <a:off x="1920240" y="2834640"/>
            <a:ext cx="3271520" cy="81153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Freesentation"/>
                <a:ea typeface="Freesentation"/>
              </a:rPr>
              <a:t>현황 분석 · 아키텍처 설계 · 도구 선정</a:t>
            </a:r>
          </a:p>
        </p:txBody>
      </p:sp>
      <p:sp>
        <p:nvSpPr>
          <p:cNvPr id="212" name="S212"/>
          <p:cNvSpPr>
            <a:spLocks noGrp="1"/>
          </p:cNvSpPr>
          <p:nvPr/>
        </p:nvSpPr>
        <p:spPr>
          <a:xfrm>
            <a:off x="457200" y="3783330"/>
            <a:ext cx="1371600" cy="902970"/>
          </a:xfrm>
          <a:prstGeom prst="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ctr" lIns="60000" rIns="60000" tIns="60000" bIns="60000"/>
          <a:lstStyle/>
          <a:p>
            <a:pPr algn="ctr"/>
            <a:r>
              <a:rPr sz="13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파일럿·검증</a:t>
            </a:r>
          </a:p>
        </p:txBody>
      </p:sp>
      <p:sp>
        <p:nvSpPr>
          <p:cNvPr id="213" name="S213"/>
          <p:cNvSpPr>
            <a:spLocks noGrp="1"/>
          </p:cNvSpPr>
          <p:nvPr/>
        </p:nvSpPr>
        <p:spPr>
          <a:xfrm>
            <a:off x="1920240" y="3783330"/>
            <a:ext cx="9814560" cy="902970"/>
          </a:xfrm>
          <a:prstGeom prst="rect">
            <a:avLst/>
          </a:prstGeom>
          <a:solidFill>
            <a:srgbClr val="F5F7FA"/>
          </a:solidFill>
          <a:ln w="3175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14" name="S214"/>
          <p:cNvSpPr>
            <a:spLocks noGrp="1"/>
          </p:cNvSpPr>
          <p:nvPr/>
        </p:nvSpPr>
        <p:spPr>
          <a:xfrm>
            <a:off x="3556000" y="3829050"/>
            <a:ext cx="3271520" cy="811530"/>
          </a:xfrm>
          <a:prstGeom prst="roundRect">
            <a:avLst>
              <a:gd name="adj" fmla="val 16667"/>
            </a:avLst>
          </a:prstGeom>
          <a:solidFill>
            <a:srgbClr val="3A7BD5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Freesentation"/>
                <a:ea typeface="Freesentation"/>
              </a:rPr>
              <a:t>PoC 파일럿 · 성능 테스트 · 정합성 검증</a:t>
            </a:r>
          </a:p>
        </p:txBody>
      </p:sp>
      <p:sp>
        <p:nvSpPr>
          <p:cNvPr id="215" name="S215"/>
          <p:cNvSpPr>
            <a:spLocks noGrp="1"/>
          </p:cNvSpPr>
          <p:nvPr/>
        </p:nvSpPr>
        <p:spPr>
          <a:xfrm>
            <a:off x="457200" y="4777740"/>
            <a:ext cx="1371600" cy="902970"/>
          </a:xfrm>
          <a:prstGeom prst="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ctr" lIns="60000" rIns="60000" tIns="60000" bIns="60000"/>
          <a:lstStyle/>
          <a:p>
            <a:pPr algn="ctr"/>
            <a:r>
              <a:rPr sz="13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마이그레이션</a:t>
            </a:r>
          </a:p>
        </p:txBody>
      </p:sp>
      <p:sp>
        <p:nvSpPr>
          <p:cNvPr id="216" name="S216"/>
          <p:cNvSpPr>
            <a:spLocks noGrp="1"/>
          </p:cNvSpPr>
          <p:nvPr/>
        </p:nvSpPr>
        <p:spPr>
          <a:xfrm>
            <a:off x="1920240" y="4777740"/>
            <a:ext cx="9814560" cy="902970"/>
          </a:xfrm>
          <a:prstGeom prst="rect">
            <a:avLst/>
          </a:prstGeom>
          <a:solidFill>
            <a:srgbClr val="F5F7FA"/>
          </a:solidFill>
          <a:ln w="3175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17" name="S217"/>
          <p:cNvSpPr>
            <a:spLocks noGrp="1"/>
          </p:cNvSpPr>
          <p:nvPr/>
        </p:nvSpPr>
        <p:spPr>
          <a:xfrm>
            <a:off x="6827520" y="4823460"/>
            <a:ext cx="3271520" cy="811530"/>
          </a:xfrm>
          <a:prstGeom prst="roundRect">
            <a:avLst>
              <a:gd name="adj" fmla="val 16667"/>
            </a:avLst>
          </a:prstGeom>
          <a:solidFill>
            <a:srgbClr val="6B9FFF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100" b="0" dirty="0">
                <a:solidFill>
                  <a:srgbClr val="FFFFFF"/>
                </a:solidFill>
                <a:latin typeface="Freesentation"/>
                <a:ea typeface="Freesentation"/>
              </a:rPr>
              <a:t>컷오버 실행 · 모니터링 강화 · 롤백 대기</a:t>
            </a:r>
          </a:p>
        </p:txBody>
      </p:sp>
      <p:sp>
        <p:nvSpPr>
          <p:cNvPr id="218" name="S218"/>
          <p:cNvSpPr>
            <a:spLocks noGrp="1"/>
          </p:cNvSpPr>
          <p:nvPr/>
        </p:nvSpPr>
        <p:spPr>
          <a:xfrm>
            <a:off x="457200" y="5772150"/>
            <a:ext cx="1371600" cy="902970"/>
          </a:xfrm>
          <a:prstGeom prst="rect">
            <a:avLst/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ctr" lIns="60000" rIns="60000" tIns="60000" bIns="60000"/>
          <a:lstStyle/>
          <a:p>
            <a:pPr algn="ctr"/>
            <a:r>
              <a:rPr sz="13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안정화·종료</a:t>
            </a:r>
          </a:p>
        </p:txBody>
      </p:sp>
      <p:sp>
        <p:nvSpPr>
          <p:cNvPr id="219" name="S219"/>
          <p:cNvSpPr>
            <a:spLocks noGrp="1"/>
          </p:cNvSpPr>
          <p:nvPr/>
        </p:nvSpPr>
        <p:spPr>
          <a:xfrm>
            <a:off x="1920240" y="5772150"/>
            <a:ext cx="9814560" cy="902970"/>
          </a:xfrm>
          <a:prstGeom prst="rect">
            <a:avLst/>
          </a:prstGeom>
          <a:solidFill>
            <a:srgbClr val="F5F7FA"/>
          </a:solidFill>
          <a:ln w="3175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20" name="S220"/>
          <p:cNvSpPr>
            <a:spLocks noGrp="1"/>
          </p:cNvSpPr>
          <p:nvPr/>
        </p:nvSpPr>
        <p:spPr>
          <a:xfrm>
            <a:off x="8463280" y="5817870"/>
            <a:ext cx="3271520" cy="811530"/>
          </a:xfrm>
          <a:prstGeom prst="roundRect">
            <a:avLst>
              <a:gd name="adj" fmla="val 16667"/>
            </a:avLst>
          </a:prstGeom>
          <a:solidFill>
            <a:srgbClr val="DCDCDC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운영 정상화 · 온프레미스 철수 · DBA 교육</a:t>
            </a:r>
          </a:p>
        </p:txBody>
      </p:sp>
    </p:spTree>
    <p:extLst>
      <p:ext uri="{BB962C8B-B14F-4D97-AF65-F5344CB8AC3E}">
        <p14:creationId xmlns:p14="http://schemas.microsoft.com/office/powerpoint/2010/main" val="2925569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 err="1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서브색상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적용 예시</a:t>
            </a:r>
            <a:endParaRPr lang="ko-KR" altLang="en-US" sz="2000" dirty="0"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설명글을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적어주세요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강조 텍스트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7 Bold,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메인 컬러</a:t>
            </a:r>
            <a:r>
              <a:rPr lang="en-US" altLang="ko-KR" sz="12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)</a:t>
            </a:r>
          </a:p>
          <a:p>
            <a:pPr latinLnBrk="0">
              <a:lnSpc>
                <a:spcPct val="150000"/>
              </a:lnSpc>
            </a:pP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폰트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5 Medium 12pt 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줄까지 작성 가능합니다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765E1"/>
              </a:solidFill>
              <a:latin typeface="프리젠테이션 5 Medium" pitchFamily="2" charset="-127"/>
              <a:ea typeface="프리젠테이션 5 Medium" pitchFamily="2" charset="-127"/>
              <a:cs typeface="Pretendard" panose="02000503000000020004" pitchFamily="2" charset="-127"/>
            </a:endParaRPr>
          </a:p>
        </p:txBody>
      </p:sp>
      <p:sp>
        <p:nvSpPr>
          <p:cNvPr id="201" name="S201"/>
          <p:cNvSpPr>
            <a:spLocks noGrp="1"/>
          </p:cNvSpPr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600" b="1" dirty="0">
                <a:solidFill>
                  <a:srgbClr val="0043DA"/>
                </a:solidFill>
                <a:latin typeface="Freesentation"/>
                <a:ea typeface="Freesentation"/>
              </a:rPr>
              <a:t>마이그레이션 핵심 성과 지표 (KPI)</a:t>
            </a:r>
          </a:p>
        </p:txBody>
      </p:sp>
      <p:sp>
        <p:nvSpPr>
          <p:cNvPr id="202" name="S202"/>
          <p:cNvSpPr>
            <a:spLocks noGrp="1"/>
          </p:cNvSpPr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GoldenGate PoC 결과 기반 예상 성과 — 동일 트래픽 10K RPS 기준</a:t>
            </a:r>
          </a:p>
        </p:txBody>
      </p:sp>
      <p:sp>
        <p:nvSpPr>
          <p:cNvPr id="203" name="S203"/>
          <p:cNvSpPr>
            <a:spLocks noGrp="1"/>
          </p:cNvSpPr>
          <p:nvPr/>
        </p:nvSpPr>
        <p:spPr>
          <a:xfrm>
            <a:off x="457200" y="2423160"/>
            <a:ext cx="3566400" cy="329184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2700">
            <a:solidFill>
              <a:srgbClr val="0043DA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04" name="S204"/>
          <p:cNvSpPr>
            <a:spLocks noGrp="1"/>
          </p:cNvSpPr>
          <p:nvPr/>
        </p:nvSpPr>
        <p:spPr>
          <a:xfrm>
            <a:off x="457200" y="2423160"/>
            <a:ext cx="3566400" cy="18288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/>
        </p:txBody>
      </p:sp>
      <p:sp>
        <p:nvSpPr>
          <p:cNvPr id="205" name="S205"/>
          <p:cNvSpPr>
            <a:spLocks noGrp="1"/>
          </p:cNvSpPr>
          <p:nvPr/>
        </p:nvSpPr>
        <p:spPr>
          <a:xfrm>
            <a:off x="457200" y="2697480"/>
            <a:ext cx="3566400" cy="45720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28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▼  40%</a:t>
            </a:r>
          </a:p>
        </p:txBody>
      </p:sp>
      <p:sp>
        <p:nvSpPr>
          <p:cNvPr id="206" name="S206"/>
          <p:cNvSpPr>
            <a:spLocks noGrp="1"/>
          </p:cNvSpPr>
          <p:nvPr/>
        </p:nvSpPr>
        <p:spPr>
          <a:xfrm>
            <a:off x="457200" y="315468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4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비용 절감</a:t>
            </a:r>
          </a:p>
        </p:txBody>
      </p:sp>
      <p:sp>
        <p:nvSpPr>
          <p:cNvPr id="207" name="S207"/>
          <p:cNvSpPr>
            <a:spLocks noGrp="1"/>
          </p:cNvSpPr>
          <p:nvPr/>
        </p:nvSpPr>
        <p:spPr>
          <a:xfrm>
            <a:off x="457200" y="352044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200" b="0" dirty="0">
                <a:solidFill>
                  <a:srgbClr val="505050"/>
                </a:solidFill>
                <a:latin typeface="Freesentation"/>
                <a:ea typeface="Freesentation"/>
              </a:rPr>
              <a:t>라이선스 + 인프라</a:t>
            </a:r>
          </a:p>
        </p:txBody>
      </p:sp>
      <p:sp>
        <p:nvSpPr>
          <p:cNvPr id="208" name="S208"/>
          <p:cNvSpPr>
            <a:spLocks noGrp="1"/>
          </p:cNvSpPr>
          <p:nvPr/>
        </p:nvSpPr>
        <p:spPr>
          <a:xfrm>
            <a:off x="731520" y="4069080"/>
            <a:ext cx="3017760" cy="9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="ctr" lIns="91440" rIns="91440" tIns="91440" bIns="91440"/>
          <a:lstStyle/>
          <a:p/>
        </p:txBody>
      </p:sp>
      <p:sp>
        <p:nvSpPr>
          <p:cNvPr id="209" name="S209"/>
          <p:cNvSpPr>
            <a:spLocks noGrp="1"/>
          </p:cNvSpPr>
          <p:nvPr/>
        </p:nvSpPr>
        <p:spPr>
          <a:xfrm>
            <a:off x="457200" y="416052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온프레미스 Oracle 대비 3년 TCO</a:t>
            </a:r>
          </a:p>
        </p:txBody>
      </p:sp>
      <p:sp>
        <p:nvSpPr>
          <p:cNvPr id="210" name="S210"/>
          <p:cNvSpPr>
            <a:spLocks noGrp="1"/>
          </p:cNvSpPr>
          <p:nvPr/>
        </p:nvSpPr>
        <p:spPr>
          <a:xfrm>
            <a:off x="457200" y="443484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Pay-as-you-go 전환 효과</a:t>
            </a:r>
          </a:p>
        </p:txBody>
      </p:sp>
      <p:sp>
        <p:nvSpPr>
          <p:cNvPr id="211" name="S211"/>
          <p:cNvSpPr>
            <a:spLocks noGrp="1"/>
          </p:cNvSpPr>
          <p:nvPr/>
        </p:nvSpPr>
        <p:spPr>
          <a:xfrm>
            <a:off x="457200" y="498348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000" b="0" dirty="0">
                <a:solidFill>
                  <a:srgbClr val="505050"/>
                </a:solidFill>
                <a:latin typeface="Freesentation"/>
                <a:ea typeface="Freesentation"/>
              </a:rPr>
              <a:t>(2026 PoC 기준)</a:t>
            </a:r>
          </a:p>
        </p:txBody>
      </p:sp>
      <p:sp>
        <p:nvSpPr>
          <p:cNvPr id="212" name="S212"/>
          <p:cNvSpPr>
            <a:spLocks noGrp="1"/>
          </p:cNvSpPr>
          <p:nvPr/>
        </p:nvSpPr>
        <p:spPr>
          <a:xfrm>
            <a:off x="4312800" y="2423160"/>
            <a:ext cx="3566400" cy="329184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2700">
            <a:solidFill>
              <a:srgbClr val="0043DA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13" name="S213"/>
          <p:cNvSpPr>
            <a:spLocks noGrp="1"/>
          </p:cNvSpPr>
          <p:nvPr/>
        </p:nvSpPr>
        <p:spPr>
          <a:xfrm>
            <a:off x="4312800" y="2423160"/>
            <a:ext cx="3566400" cy="18288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/>
        </p:txBody>
      </p:sp>
      <p:sp>
        <p:nvSpPr>
          <p:cNvPr id="214" name="S214"/>
          <p:cNvSpPr>
            <a:spLocks noGrp="1"/>
          </p:cNvSpPr>
          <p:nvPr/>
        </p:nvSpPr>
        <p:spPr>
          <a:xfrm>
            <a:off x="4312800" y="2697480"/>
            <a:ext cx="3566400" cy="45720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28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▼  &lt; 5분</a:t>
            </a:r>
          </a:p>
        </p:txBody>
      </p:sp>
      <p:sp>
        <p:nvSpPr>
          <p:cNvPr id="215" name="S215"/>
          <p:cNvSpPr>
            <a:spLocks noGrp="1"/>
          </p:cNvSpPr>
          <p:nvPr/>
        </p:nvSpPr>
        <p:spPr>
          <a:xfrm>
            <a:off x="4312800" y="315468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4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RPO</a:t>
            </a:r>
          </a:p>
        </p:txBody>
      </p:sp>
      <p:sp>
        <p:nvSpPr>
          <p:cNvPr id="216" name="S216"/>
          <p:cNvSpPr>
            <a:spLocks noGrp="1"/>
          </p:cNvSpPr>
          <p:nvPr/>
        </p:nvSpPr>
        <p:spPr>
          <a:xfrm>
            <a:off x="4312800" y="352044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200" b="0" dirty="0">
                <a:solidFill>
                  <a:srgbClr val="505050"/>
                </a:solidFill>
                <a:latin typeface="Freesentation"/>
                <a:ea typeface="Freesentation"/>
              </a:rPr>
              <a:t>자동 백업 복구 목표</a:t>
            </a:r>
          </a:p>
        </p:txBody>
      </p:sp>
      <p:sp>
        <p:nvSpPr>
          <p:cNvPr id="217" name="S217"/>
          <p:cNvSpPr>
            <a:spLocks noGrp="1"/>
          </p:cNvSpPr>
          <p:nvPr/>
        </p:nvSpPr>
        <p:spPr>
          <a:xfrm>
            <a:off x="4587120" y="4069080"/>
            <a:ext cx="3017760" cy="9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="ctr" lIns="91440" rIns="91440" tIns="91440" bIns="91440"/>
          <a:lstStyle/>
          <a:p/>
        </p:txBody>
      </p:sp>
      <p:sp>
        <p:nvSpPr>
          <p:cNvPr id="218" name="S218"/>
          <p:cNvSpPr>
            <a:spLocks noGrp="1"/>
          </p:cNvSpPr>
          <p:nvPr/>
        </p:nvSpPr>
        <p:spPr>
          <a:xfrm>
            <a:off x="4312800" y="416052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RDS Multi-AZ 자동 백업 + PITR</a:t>
            </a:r>
          </a:p>
        </p:txBody>
      </p:sp>
      <p:sp>
        <p:nvSpPr>
          <p:cNvPr id="219" name="S219"/>
          <p:cNvSpPr>
            <a:spLocks noGrp="1"/>
          </p:cNvSpPr>
          <p:nvPr/>
        </p:nvSpPr>
        <p:spPr>
          <a:xfrm>
            <a:off x="4312800" y="443484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24시간+ → 5분 이내로 단축</a:t>
            </a:r>
          </a:p>
        </p:txBody>
      </p:sp>
      <p:sp>
        <p:nvSpPr>
          <p:cNvPr id="220" name="S220"/>
          <p:cNvSpPr>
            <a:spLocks noGrp="1"/>
          </p:cNvSpPr>
          <p:nvPr/>
        </p:nvSpPr>
        <p:spPr>
          <a:xfrm>
            <a:off x="4312800" y="498348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000" b="0" dirty="0">
                <a:solidFill>
                  <a:srgbClr val="505050"/>
                </a:solidFill>
                <a:latin typeface="Freesentation"/>
                <a:ea typeface="Freesentation"/>
              </a:rPr>
              <a:t>(Multi-AZ SLA 기준)</a:t>
            </a:r>
          </a:p>
        </p:txBody>
      </p:sp>
      <p:sp>
        <p:nvSpPr>
          <p:cNvPr id="221" name="S221"/>
          <p:cNvSpPr>
            <a:spLocks noGrp="1"/>
          </p:cNvSpPr>
          <p:nvPr/>
        </p:nvSpPr>
        <p:spPr>
          <a:xfrm>
            <a:off x="8168400" y="2423160"/>
            <a:ext cx="3566400" cy="329184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2700">
            <a:solidFill>
              <a:srgbClr val="0043DA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22" name="S222"/>
          <p:cNvSpPr>
            <a:spLocks noGrp="1"/>
          </p:cNvSpPr>
          <p:nvPr/>
        </p:nvSpPr>
        <p:spPr>
          <a:xfrm>
            <a:off x="8168400" y="2423160"/>
            <a:ext cx="3566400" cy="18288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/>
        </p:txBody>
      </p:sp>
      <p:sp>
        <p:nvSpPr>
          <p:cNvPr id="223" name="S223"/>
          <p:cNvSpPr>
            <a:spLocks noGrp="1"/>
          </p:cNvSpPr>
          <p:nvPr/>
        </p:nvSpPr>
        <p:spPr>
          <a:xfrm>
            <a:off x="8168400" y="2697480"/>
            <a:ext cx="3566400" cy="45720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2800" b="1" dirty="0">
                <a:solidFill>
                  <a:srgbClr val="0043DA"/>
                </a:solidFill>
                <a:latin typeface="프리젠테이션 7"/>
                <a:ea typeface="프리젠테이션 7"/>
              </a:rPr>
              <a:t>▼  &lt; 2시간</a:t>
            </a:r>
          </a:p>
        </p:txBody>
      </p:sp>
      <p:sp>
        <p:nvSpPr>
          <p:cNvPr id="224" name="S224"/>
          <p:cNvSpPr>
            <a:spLocks noGrp="1"/>
          </p:cNvSpPr>
          <p:nvPr/>
        </p:nvSpPr>
        <p:spPr>
          <a:xfrm>
            <a:off x="8168400" y="315468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4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다운타임</a:t>
            </a:r>
          </a:p>
        </p:txBody>
      </p:sp>
      <p:sp>
        <p:nvSpPr>
          <p:cNvPr id="225" name="S225"/>
          <p:cNvSpPr>
            <a:spLocks noGrp="1"/>
          </p:cNvSpPr>
          <p:nvPr/>
        </p:nvSpPr>
        <p:spPr>
          <a:xfrm>
            <a:off x="8168400" y="352044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200" b="0" dirty="0">
                <a:solidFill>
                  <a:srgbClr val="505050"/>
                </a:solidFill>
                <a:latin typeface="Freesentation"/>
                <a:ea typeface="Freesentation"/>
              </a:rPr>
              <a:t>컷오버 기준</a:t>
            </a:r>
          </a:p>
        </p:txBody>
      </p:sp>
      <p:sp>
        <p:nvSpPr>
          <p:cNvPr id="226" name="S226"/>
          <p:cNvSpPr>
            <a:spLocks noGrp="1"/>
          </p:cNvSpPr>
          <p:nvPr/>
        </p:nvSpPr>
        <p:spPr>
          <a:xfrm>
            <a:off x="8442720" y="4069080"/>
            <a:ext cx="3017760" cy="9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txBody>
          <a:bodyPr anchor="ctr" lIns="91440" rIns="91440" tIns="91440" bIns="91440"/>
          <a:lstStyle/>
          <a:p/>
        </p:txBody>
      </p:sp>
      <p:sp>
        <p:nvSpPr>
          <p:cNvPr id="227" name="S227"/>
          <p:cNvSpPr>
            <a:spLocks noGrp="1"/>
          </p:cNvSpPr>
          <p:nvPr/>
        </p:nvSpPr>
        <p:spPr>
          <a:xfrm>
            <a:off x="8168400" y="416052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롤백 포함 유지보수 윈도우</a:t>
            </a:r>
          </a:p>
        </p:txBody>
      </p:sp>
      <p:sp>
        <p:nvSpPr>
          <p:cNvPr id="228" name="S228"/>
          <p:cNvSpPr>
            <a:spLocks noGrp="1"/>
          </p:cNvSpPr>
          <p:nvPr/>
        </p:nvSpPr>
        <p:spPr>
          <a:xfrm>
            <a:off x="8168400" y="443484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100" b="0" dirty="0">
                <a:solidFill>
                  <a:srgbClr val="212121"/>
                </a:solidFill>
                <a:latin typeface="Freesentation"/>
                <a:ea typeface="Freesentation"/>
              </a:rPr>
              <a:t>병렬 운영 + Blue/Green 방식</a:t>
            </a:r>
          </a:p>
        </p:txBody>
      </p:sp>
      <p:sp>
        <p:nvSpPr>
          <p:cNvPr id="229" name="S229"/>
          <p:cNvSpPr>
            <a:spLocks noGrp="1"/>
          </p:cNvSpPr>
          <p:nvPr/>
        </p:nvSpPr>
        <p:spPr>
          <a:xfrm>
            <a:off x="8168400" y="4983480"/>
            <a:ext cx="3566400" cy="274320"/>
          </a:xfrm>
          <a:prstGeom prst="rect">
            <a:avLst/>
          </a:prstGeom>
          <a:noFill/>
          <a:ln>
            <a:noFill/>
          </a:ln>
        </p:spPr>
        <p:txBody>
          <a:bodyPr anchor="ctr" lIns="60000" rIns="60000" tIns="60000" bIns="60000"/>
          <a:lstStyle/>
          <a:p>
            <a:pPr algn="ctr"/>
            <a:r>
              <a:rPr sz="1000" b="0" dirty="0">
                <a:solidFill>
                  <a:srgbClr val="505050"/>
                </a:solidFill>
                <a:latin typeface="Freesentation"/>
                <a:ea typeface="Freesentation"/>
              </a:rPr>
              <a:t>(컷오버 계획 기준)</a:t>
            </a:r>
          </a:p>
        </p:txBody>
      </p:sp>
      <p:sp>
        <p:nvSpPr>
          <p:cNvPr id="230" name="S230"/>
          <p:cNvSpPr>
            <a:spLocks noGrp="1"/>
          </p:cNvSpPr>
          <p:nvPr/>
        </p:nvSpPr>
        <p:spPr>
          <a:xfrm>
            <a:off x="457200" y="6126480"/>
            <a:ext cx="11277600" cy="54864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📊  종합: GoldenGate PoC 결과 — 비용 40% 절감 + RPO 5분 + 컷오버 2시간 이내 달성 목표</a:t>
            </a:r>
          </a:p>
        </p:txBody>
      </p:sp>
    </p:spTree>
    <p:extLst>
      <p:ext uri="{BB962C8B-B14F-4D97-AF65-F5344CB8AC3E}">
        <p14:creationId xmlns:p14="http://schemas.microsoft.com/office/powerpoint/2010/main" val="17191263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 err="1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서브색상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적용 예시</a:t>
            </a:r>
            <a:endParaRPr lang="ko-KR" altLang="en-US" sz="2000" dirty="0"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설명글을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적어주세요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강조 텍스트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7 Bold,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메인 컬러</a:t>
            </a:r>
            <a:r>
              <a:rPr lang="en-US" altLang="ko-KR" sz="12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)</a:t>
            </a:r>
          </a:p>
          <a:p>
            <a:pPr latinLnBrk="0">
              <a:lnSpc>
                <a:spcPct val="150000"/>
              </a:lnSpc>
            </a:pP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폰트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5 Medium 12pt 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줄까지 작성 가능합니다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765E1"/>
              </a:solidFill>
              <a:latin typeface="프리젠테이션 5 Medium" pitchFamily="2" charset="-127"/>
              <a:ea typeface="프리젠테이션 5 Medium" pitchFamily="2" charset="-127"/>
              <a:cs typeface="Pretendard" panose="02000503000000020004" pitchFamily="2" charset="-127"/>
            </a:endParaRPr>
          </a:p>
        </p:txBody>
      </p:sp>
      <p:sp>
        <p:nvSpPr>
          <p:cNvPr id="201" name="S201"/>
          <p:cNvSpPr>
            <a:spLocks noGrp="1"/>
          </p:cNvSpPr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600" b="1" dirty="0">
                <a:solidFill>
                  <a:srgbClr val="0043DA"/>
                </a:solidFill>
                <a:latin typeface="Freesentation"/>
                <a:ea typeface="Freesentation"/>
              </a:rPr>
              <a:t>마이그레이션 운영 Do &amp; Don't</a:t>
            </a:r>
          </a:p>
        </p:txBody>
      </p:sp>
      <p:sp>
        <p:nvSpPr>
          <p:cNvPr id="202" name="S202"/>
          <p:cNvSpPr>
            <a:spLocks noGrp="1"/>
          </p:cNvSpPr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실패 사례에서 학습한 현장 검증 필수 체크리스트</a:t>
            </a:r>
          </a:p>
        </p:txBody>
      </p:sp>
      <p:sp>
        <p:nvSpPr>
          <p:cNvPr id="203" name="S203"/>
          <p:cNvSpPr>
            <a:spLocks noGrp="1"/>
          </p:cNvSpPr>
          <p:nvPr/>
        </p:nvSpPr>
        <p:spPr>
          <a:xfrm>
            <a:off x="457200" y="2423160"/>
            <a:ext cx="5486400" cy="3657600"/>
          </a:xfrm>
          <a:prstGeom prst="roundRect">
            <a:avLst>
              <a:gd name="adj" fmla="val 16667"/>
            </a:avLst>
          </a:prstGeom>
          <a:solidFill>
            <a:srgbClr val="B2D9CD"/>
          </a:solidFill>
          <a:ln w="6350">
            <a:solidFill>
              <a:srgbClr val="4CB88F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04" name="S204"/>
          <p:cNvSpPr>
            <a:spLocks noGrp="1"/>
          </p:cNvSpPr>
          <p:nvPr/>
        </p:nvSpPr>
        <p:spPr>
          <a:xfrm>
            <a:off x="637160" y="26031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="ctr" lIns="91440" rIns="91440" tIns="91440" bIns="91440"/>
          <a:lstStyle/>
          <a:p/>
        </p:txBody>
      </p:sp>
      <p:sp>
        <p:nvSpPr>
          <p:cNvPr id="205" name="S205"/>
          <p:cNvSpPr>
            <a:spLocks noGrp="1"/>
          </p:cNvSpPr>
          <p:nvPr/>
        </p:nvSpPr>
        <p:spPr>
          <a:xfrm>
            <a:off x="1209960" y="2603120"/>
            <a:ext cx="4551840" cy="27432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400" b="1" dirty="0">
                <a:solidFill>
                  <a:srgbClr val="212121"/>
                </a:solidFill>
                <a:latin typeface="프리젠테이션 7"/>
                <a:ea typeface="프리젠테이션 7"/>
              </a:rPr>
              <a:t>✅  DO — 반드시 해야 할 것</a:t>
            </a:r>
          </a:p>
        </p:txBody>
      </p:sp>
      <p:sp>
        <p:nvSpPr>
          <p:cNvPr id="206" name="S206"/>
          <p:cNvSpPr>
            <a:spLocks noGrp="1"/>
          </p:cNvSpPr>
          <p:nvPr/>
        </p:nvSpPr>
        <p:spPr>
          <a:xfrm>
            <a:off x="637160" y="2968800"/>
            <a:ext cx="5124480" cy="29301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✔  사전 데이터 정합성 검증 (row count + checksum)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✔  전용선 사용 — Direct Connect 또는 Site-to-Site VPN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✔  롤백 플랜 및 컷오프 기준 사전 문서화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✔  단계적 전환 — 테이블 우선순위별 순차 이관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✔  전환 전 48시간 이상 병렬 운영 및 검증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✔  CloudWatch + 알람 설정 완료 후 컷오버</a:t>
            </a:r>
          </a:p>
        </p:txBody>
      </p:sp>
      <p:sp>
        <p:nvSpPr>
          <p:cNvPr id="207" name="S207"/>
          <p:cNvSpPr>
            <a:spLocks noGrp="1"/>
          </p:cNvSpPr>
          <p:nvPr/>
        </p:nvSpPr>
        <p:spPr>
          <a:xfrm>
            <a:off x="6291360" y="2423160"/>
            <a:ext cx="5486400" cy="3657600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 w="9525">
            <a:solidFill>
              <a:srgbClr val="C62828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08" name="S208"/>
          <p:cNvSpPr>
            <a:spLocks noGrp="1"/>
          </p:cNvSpPr>
          <p:nvPr/>
        </p:nvSpPr>
        <p:spPr>
          <a:xfrm>
            <a:off x="6471320" y="2603120"/>
            <a:ext cx="4551840" cy="27432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4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✘  DON'T — 절대 하지 말 것</a:t>
            </a:r>
          </a:p>
        </p:txBody>
      </p:sp>
      <p:sp>
        <p:nvSpPr>
          <p:cNvPr id="209" name="S209"/>
          <p:cNvSpPr>
            <a:spLocks noGrp="1"/>
          </p:cNvSpPr>
          <p:nvPr/>
        </p:nvSpPr>
        <p:spPr>
          <a:xfrm>
            <a:off x="6471320" y="2968800"/>
            <a:ext cx="5124480" cy="29301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0" dirty="0">
                <a:solidFill>
                  <a:srgbClr val="FFFFFF"/>
                </a:solidFill>
                <a:latin typeface="Freesentation"/>
                <a:ea typeface="Freesentation"/>
              </a:rPr>
              <a:t>✘  인터넷 망으로 대용량 데이터 전송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FFFFFF"/>
                </a:solidFill>
                <a:latin typeface="Freesentation"/>
                <a:ea typeface="Freesentation"/>
              </a:rPr>
              <a:t>✘  운영 DB에서 직접 CDC 설정 테스트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FFFFFF"/>
                </a:solidFill>
                <a:latin typeface="Freesentation"/>
                <a:ea typeface="Freesentation"/>
              </a:rPr>
              <a:t>✘  검증 단계 생략 후 즉시 전환 진행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FFFFFF"/>
                </a:solidFill>
                <a:latin typeface="Freesentation"/>
                <a:ea typeface="Freesentation"/>
              </a:rPr>
              <a:t>✘  모니터링 미설정 상태에서 자동화 실행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FFFFFF"/>
                </a:solidFill>
                <a:latin typeface="Freesentation"/>
                <a:ea typeface="Freesentation"/>
              </a:rPr>
              <a:t>✘  단일 담당자만으로 컷오버 진행</a:t>
            </a:r>
          </a:p>
          <a:p>
            <a:pPr algn="l"/>
            <a:endParaRPr sz="500"/>
          </a:p>
          <a:p>
            <a:pPr algn="l"/>
            <a:r>
              <a:rPr sz="1300" b="0" dirty="0">
                <a:solidFill>
                  <a:srgbClr val="FFFFFF"/>
                </a:solidFill>
                <a:latin typeface="Freesentation"/>
                <a:ea typeface="Freesentation"/>
              </a:rPr>
              <a:t>✘  원본 DB 즉시 철수 (최소 2주 보존 필수)</a:t>
            </a:r>
          </a:p>
        </p:txBody>
      </p:sp>
      <p:sp>
        <p:nvSpPr>
          <p:cNvPr id="210" name="S210"/>
          <p:cNvSpPr>
            <a:spLocks noGrp="1"/>
          </p:cNvSpPr>
          <p:nvPr/>
        </p:nvSpPr>
        <p:spPr>
          <a:xfrm>
            <a:off x="457200" y="6172200"/>
            <a:ext cx="11320560" cy="457200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6350">
            <a:solidFill>
              <a:srgbClr val="DCDCDC"/>
            </a:solidFill>
          </a:ln>
        </p:spPr>
        <p:txBody>
          <a:bodyPr anchor="ctr" lIns="91440" rIns="91440" tIns="91440" bIns="9144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📋  준수 현황: 6개 항목 전체 이행 — 컷오버 승인 게이트 통과 조건 완비</a:t>
            </a:r>
          </a:p>
        </p:txBody>
      </p:sp>
    </p:spTree>
    <p:extLst>
      <p:ext uri="{BB962C8B-B14F-4D97-AF65-F5344CB8AC3E}">
        <p14:creationId xmlns:p14="http://schemas.microsoft.com/office/powerpoint/2010/main" val="345444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354806" y="557906"/>
            <a:ext cx="2720317" cy="932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ko-KR" altLang="en-US" sz="2000" dirty="0" err="1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서브색상</a:t>
            </a: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ko-KR" altLang="en-US" sz="2000" dirty="0">
                <a:latin typeface="프리젠테이션 7 Bold" pitchFamily="2" charset="-127"/>
                <a:ea typeface="프리젠테이션 7 Bold" pitchFamily="2" charset="-127"/>
                <a:cs typeface="Pretendard ExtraBold" panose="02000903000000020004" pitchFamily="2" charset="-127"/>
              </a:rPr>
              <a:t>적용 예시</a:t>
            </a:r>
            <a:endParaRPr lang="ko-KR" altLang="en-US" sz="2000" dirty="0">
              <a:latin typeface="프리젠테이션 7 Bold" pitchFamily="2" charset="-127"/>
              <a:ea typeface="프리젠테이션 7 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763700" y="558800"/>
            <a:ext cx="7551483" cy="937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atinLnBrk="0">
              <a:lnSpc>
                <a:spcPct val="150000"/>
              </a:lnSpc>
            </a:pPr>
            <a:r>
              <a:rPr lang="ko-KR" altLang="en-US" sz="12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설명글을</a:t>
            </a: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적어주세요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강조 텍스트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b="1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7 Bold, </a:t>
            </a:r>
            <a:r>
              <a:rPr lang="ko-KR" altLang="en-US" sz="1200" b="1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메인 컬러</a:t>
            </a:r>
            <a:r>
              <a:rPr lang="en-US" altLang="ko-KR" sz="1200" b="1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43DA"/>
                </a:solidFill>
                <a:latin typeface="프리젠테이션 7 Bold" pitchFamily="2" charset="-127"/>
                <a:ea typeface="프리젠테이션 7 Bold" pitchFamily="2" charset="-127"/>
                <a:cs typeface="Pretendard" panose="02000503000000020004" pitchFamily="2" charset="-127"/>
              </a:rPr>
              <a:t>)</a:t>
            </a:r>
          </a:p>
          <a:p>
            <a:pPr latinLnBrk="0">
              <a:lnSpc>
                <a:spcPct val="150000"/>
              </a:lnSpc>
            </a:pP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폰트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200" dirty="0" err="1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프리젠테이션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5 Medium 12pt  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최대 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줄까지 작성 가능합니다</a:t>
            </a:r>
            <a:r>
              <a:rPr lang="en-US" altLang="ko-KR" sz="1200" dirty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" panose="02000503000000020004" pitchFamily="2" charset="-127"/>
              </a:rPr>
              <a:t>.</a:t>
            </a:r>
            <a:endParaRPr lang="en-US" altLang="ko-KR" sz="12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2765E1"/>
              </a:solidFill>
              <a:latin typeface="프리젠테이션 5 Medium" pitchFamily="2" charset="-127"/>
              <a:ea typeface="프리젠테이션 5 Medium" pitchFamily="2" charset="-127"/>
              <a:cs typeface="Pretendard" panose="02000503000000020004" pitchFamily="2" charset="-127"/>
            </a:endParaRPr>
          </a:p>
        </p:txBody>
      </p:sp>
      <p:sp>
        <p:nvSpPr>
          <p:cNvPr id="201" name="S201"/>
          <p:cNvSpPr>
            <a:spLocks noGrp="1"/>
          </p:cNvSpPr>
          <p:nvPr/>
        </p:nvSpPr>
        <p:spPr>
          <a:xfrm>
            <a:off x="457200" y="1600200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600" b="1" dirty="0">
                <a:solidFill>
                  <a:srgbClr val="0043DA"/>
                </a:solidFill>
                <a:latin typeface="Freesentation"/>
                <a:ea typeface="Freesentation"/>
              </a:rPr>
              <a:t>Oracle GoldenGate 도입 SWOT 분석</a:t>
            </a:r>
          </a:p>
        </p:txBody>
      </p:sp>
      <p:sp>
        <p:nvSpPr>
          <p:cNvPr id="202" name="S202"/>
          <p:cNvSpPr>
            <a:spLocks noGrp="1"/>
          </p:cNvSpPr>
          <p:nvPr/>
        </p:nvSpPr>
        <p:spPr>
          <a:xfrm>
            <a:off x="457200" y="1965960"/>
            <a:ext cx="11277600" cy="27432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AWS 전환 프로젝트에서 GoldenGate 선택 시 전략적 고려 사항</a:t>
            </a:r>
          </a:p>
        </p:txBody>
      </p:sp>
      <p:sp>
        <p:nvSpPr>
          <p:cNvPr id="203" name="S203"/>
          <p:cNvSpPr>
            <a:spLocks noGrp="1"/>
          </p:cNvSpPr>
          <p:nvPr/>
        </p:nvSpPr>
        <p:spPr>
          <a:xfrm>
            <a:off x="457200" y="2423160"/>
            <a:ext cx="5593080" cy="18288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sz="1100" b="0" dirty="0">
                <a:solidFill>
                  <a:srgbClr val="505050"/>
                </a:solidFill>
                <a:latin typeface="Freesentation"/>
                <a:ea typeface="Freesentation"/>
              </a:rPr>
              <a:t>내부 요인</a:t>
            </a:r>
          </a:p>
        </p:txBody>
      </p:sp>
      <p:sp>
        <p:nvSpPr>
          <p:cNvPr id="204" name="S204"/>
          <p:cNvSpPr>
            <a:spLocks noGrp="1"/>
          </p:cNvSpPr>
          <p:nvPr/>
        </p:nvSpPr>
        <p:spPr>
          <a:xfrm>
            <a:off x="6141720" y="2423160"/>
            <a:ext cx="5593080" cy="182880"/>
          </a:xfrm>
          <a:prstGeom prst="rect">
            <a:avLst/>
          </a:prstGeom>
          <a:noFill/>
          <a:ln>
            <a:noFill/>
          </a:ln>
        </p:spPr>
        <p:txBody>
          <a:bodyPr anchor="ctr" lIns="0" rIns="0" tIns="0" bIns="0"/>
          <a:lstStyle/>
          <a:p>
            <a:pPr algn="ctr"/>
            <a:r>
              <a:rPr sz="1100" b="0" dirty="0">
                <a:solidFill>
                  <a:srgbClr val="505050"/>
                </a:solidFill>
                <a:latin typeface="Freesentation"/>
                <a:ea typeface="Freesentation"/>
              </a:rPr>
              <a:t>외부 요인</a:t>
            </a:r>
          </a:p>
        </p:txBody>
      </p:sp>
      <p:sp>
        <p:nvSpPr>
          <p:cNvPr id="205" name="S205"/>
          <p:cNvSpPr>
            <a:spLocks noGrp="1"/>
          </p:cNvSpPr>
          <p:nvPr/>
        </p:nvSpPr>
        <p:spPr>
          <a:xfrm>
            <a:off x="457200" y="2606040"/>
            <a:ext cx="5593080" cy="1714500"/>
          </a:xfrm>
          <a:prstGeom prst="rect">
            <a:avLst/>
          </a:prstGeom>
          <a:solidFill>
            <a:srgbClr val="DBF1E9"/>
          </a:solidFill>
          <a:ln w="12700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06" name="S206"/>
          <p:cNvSpPr>
            <a:spLocks noGrp="1"/>
          </p:cNvSpPr>
          <p:nvPr/>
        </p:nvSpPr>
        <p:spPr>
          <a:xfrm>
            <a:off x="457200" y="2606040"/>
            <a:ext cx="5593080" cy="320040"/>
          </a:xfrm>
          <a:prstGeom prst="rect">
            <a:avLst/>
          </a:prstGeom>
          <a:solidFill>
            <a:srgbClr val="4CB88F"/>
          </a:solidFill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4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💪  강점 (Strength)</a:t>
            </a:r>
          </a:p>
        </p:txBody>
      </p:sp>
      <p:sp>
        <p:nvSpPr>
          <p:cNvPr id="207" name="S207"/>
          <p:cNvSpPr>
            <a:spLocks noGrp="1"/>
          </p:cNvSpPr>
          <p:nvPr/>
        </p:nvSpPr>
        <p:spPr>
          <a:xfrm>
            <a:off x="457200" y="2986080"/>
            <a:ext cx="5593080" cy="13344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Oracle 공식 인증 CDC — Redo Log 비침투적 복제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양방향 복제 (Active-Active) 지원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DDL 복제 및 SQLEXEC 변환 기능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Oracle 19c+ Microservices 아키텍처 지원</a:t>
            </a:r>
          </a:p>
          <a:p>
            <a:pPr algn="l"/>
            <a:endParaRPr sz="400"/>
          </a:p>
        </p:txBody>
      </p:sp>
      <p:sp>
        <p:nvSpPr>
          <p:cNvPr id="208" name="S208"/>
          <p:cNvSpPr>
            <a:spLocks noGrp="1"/>
          </p:cNvSpPr>
          <p:nvPr/>
        </p:nvSpPr>
        <p:spPr>
          <a:xfrm>
            <a:off x="6141720" y="2606040"/>
            <a:ext cx="5593080" cy="1714500"/>
          </a:xfrm>
          <a:prstGeom prst="rect">
            <a:avLst/>
          </a:prstGeom>
          <a:solidFill>
            <a:srgbClr val="E6EDFA"/>
          </a:solidFill>
          <a:ln w="12700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09" name="S209"/>
          <p:cNvSpPr>
            <a:spLocks noGrp="1"/>
          </p:cNvSpPr>
          <p:nvPr/>
        </p:nvSpPr>
        <p:spPr>
          <a:xfrm>
            <a:off x="6141720" y="2606040"/>
            <a:ext cx="5593080" cy="320040"/>
          </a:xfrm>
          <a:prstGeom prst="rect">
            <a:avLst/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4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🎯  기회 (Opportunity)</a:t>
            </a:r>
          </a:p>
        </p:txBody>
      </p:sp>
      <p:sp>
        <p:nvSpPr>
          <p:cNvPr id="210" name="S210"/>
          <p:cNvSpPr>
            <a:spLocks noGrp="1"/>
          </p:cNvSpPr>
          <p:nvPr/>
        </p:nvSpPr>
        <p:spPr>
          <a:xfrm>
            <a:off x="6141720" y="2986080"/>
            <a:ext cx="5593080" cy="13344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AWS OCI GoldenGate SaaS 출시 — 관리형 전환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실시간 CDC 분석 수요 급증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금융·공공 레퍼런스 풍부 (국내 15건+)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Oracle → 클라우드 마이그레이션 확산</a:t>
            </a:r>
          </a:p>
          <a:p>
            <a:pPr algn="l"/>
            <a:endParaRPr sz="400"/>
          </a:p>
        </p:txBody>
      </p:sp>
      <p:sp>
        <p:nvSpPr>
          <p:cNvPr id="211" name="S211"/>
          <p:cNvSpPr>
            <a:spLocks noGrp="1"/>
          </p:cNvSpPr>
          <p:nvPr/>
        </p:nvSpPr>
        <p:spPr>
          <a:xfrm>
            <a:off x="457200" y="4411980"/>
            <a:ext cx="5593080" cy="1714500"/>
          </a:xfrm>
          <a:prstGeom prst="rect">
            <a:avLst/>
          </a:prstGeom>
          <a:solidFill>
            <a:srgbClr val="FBD9CC"/>
          </a:solidFill>
          <a:ln w="12700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12" name="S212"/>
          <p:cNvSpPr>
            <a:spLocks noGrp="1"/>
          </p:cNvSpPr>
          <p:nvPr/>
        </p:nvSpPr>
        <p:spPr>
          <a:xfrm>
            <a:off x="457200" y="4411980"/>
            <a:ext cx="5593080" cy="320040"/>
          </a:xfrm>
          <a:prstGeom prst="rect">
            <a:avLst/>
          </a:prstGeom>
          <a:solidFill>
            <a:srgbClr val="EE8150"/>
          </a:solidFill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4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⚠️  약점 (Weakness)</a:t>
            </a:r>
          </a:p>
        </p:txBody>
      </p:sp>
      <p:sp>
        <p:nvSpPr>
          <p:cNvPr id="213" name="S213"/>
          <p:cNvSpPr>
            <a:spLocks noGrp="1"/>
          </p:cNvSpPr>
          <p:nvPr/>
        </p:nvSpPr>
        <p:spPr>
          <a:xfrm>
            <a:off x="457200" y="4792020"/>
            <a:ext cx="5593080" cy="13344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높은 라이선스·유지보수 비용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0043DA"/>
                </a:solidFill>
                <a:latin typeface="Freesentation"/>
                <a:ea typeface="Freesentation"/>
              </a:rPr>
              <a:t>   → 단계별 구독 전환으로 비용 분산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Oracle 플랫폼 종속성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OGG DBA 전문 인력 필수 (운영 복잡도)</a:t>
            </a:r>
          </a:p>
          <a:p>
            <a:pPr algn="l"/>
            <a:endParaRPr sz="400"/>
          </a:p>
        </p:txBody>
      </p:sp>
      <p:sp>
        <p:nvSpPr>
          <p:cNvPr id="214" name="S214"/>
          <p:cNvSpPr>
            <a:spLocks noGrp="1"/>
          </p:cNvSpPr>
          <p:nvPr/>
        </p:nvSpPr>
        <p:spPr>
          <a:xfrm>
            <a:off x="6141720" y="4411980"/>
            <a:ext cx="5593080" cy="1714500"/>
          </a:xfrm>
          <a:prstGeom prst="rect">
            <a:avLst/>
          </a:prstGeom>
          <a:solidFill>
            <a:srgbClr val="F5CCCC"/>
          </a:solidFill>
          <a:ln w="12700">
            <a:solidFill>
              <a:srgbClr val="DCDCDC"/>
            </a:solidFill>
          </a:ln>
        </p:spPr>
        <p:txBody>
          <a:bodyPr anchor="ctr" lIns="91440" rIns="91440" tIns="91440" bIns="91440"/>
          <a:lstStyle/>
          <a:p/>
        </p:txBody>
      </p:sp>
      <p:sp>
        <p:nvSpPr>
          <p:cNvPr id="215" name="S215"/>
          <p:cNvSpPr>
            <a:spLocks noGrp="1"/>
          </p:cNvSpPr>
          <p:nvPr/>
        </p:nvSpPr>
        <p:spPr>
          <a:xfrm>
            <a:off x="6141720" y="4411980"/>
            <a:ext cx="5593080" cy="320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anchor="ctr" lIns="91440" rIns="91440" tIns="91440" bIns="91440"/>
          <a:lstStyle/>
          <a:p>
            <a:pPr algn="l"/>
            <a:r>
              <a:rPr sz="14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⛔  위협 (Threat)</a:t>
            </a:r>
          </a:p>
        </p:txBody>
      </p:sp>
      <p:sp>
        <p:nvSpPr>
          <p:cNvPr id="216" name="S216"/>
          <p:cNvSpPr>
            <a:spLocks noGrp="1"/>
          </p:cNvSpPr>
          <p:nvPr/>
        </p:nvSpPr>
        <p:spPr>
          <a:xfrm>
            <a:off x="6141720" y="4792020"/>
            <a:ext cx="5593080" cy="1334460"/>
          </a:xfrm>
          <a:prstGeom prst="rect">
            <a:avLst/>
          </a:prstGeom>
          <a:noFill/>
          <a:ln>
            <a:noFill/>
          </a:ln>
        </p:spPr>
        <p:txBody>
          <a:bodyPr anchor="t" lIns="91440" rIns="91440" tIns="91440" bIns="91440"/>
          <a:lstStyle/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AWS DMS 무료 서비스 경쟁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0043DA"/>
                </a:solidFill>
                <a:latin typeface="Freesentation"/>
                <a:ea typeface="Freesentation"/>
              </a:rPr>
              <a:t>   → Oracle 특화 기능으로 차별화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오픈소스 CDC(Debezium) 성장</a:t>
            </a:r>
          </a:p>
          <a:p>
            <a:pPr algn="l"/>
            <a:endParaRPr sz="400"/>
          </a:p>
          <a:p>
            <a:pPr algn="l"/>
            <a:r>
              <a:rPr sz="1300" b="0" dirty="0">
                <a:solidFill>
                  <a:srgbClr val="212121"/>
                </a:solidFill>
                <a:latin typeface="Freesentation"/>
                <a:ea typeface="Freesentation"/>
              </a:rPr>
              <a:t>Oracle 라이선스 정책 변화 리스크</a:t>
            </a:r>
          </a:p>
          <a:p>
            <a:pPr algn="l"/>
            <a:endParaRPr sz="400"/>
          </a:p>
        </p:txBody>
      </p:sp>
      <p:sp>
        <p:nvSpPr>
          <p:cNvPr id="217" name="S217"/>
          <p:cNvSpPr>
            <a:spLocks noGrp="1"/>
          </p:cNvSpPr>
          <p:nvPr/>
        </p:nvSpPr>
        <p:spPr>
          <a:xfrm>
            <a:off x="457200" y="6217920"/>
            <a:ext cx="11277600" cy="457200"/>
          </a:xfrm>
          <a:prstGeom prst="roundRect">
            <a:avLst>
              <a:gd name="adj" fmla="val 16667"/>
            </a:avLst>
          </a:prstGeom>
          <a:solidFill>
            <a:srgbClr val="0043DA"/>
          </a:solidFill>
          <a:ln>
            <a:noFill/>
          </a:ln>
        </p:spPr>
        <p:txBody>
          <a:bodyPr anchor="ctr" lIns="91440" rIns="91440" tIns="91440" bIns="91440"/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프리젠테이션 7"/>
                <a:ea typeface="프리젠테이션 7"/>
              </a:rPr>
              <a:t>📋  전략 방향: SO전략 집중 — AWS OCI GoldenGate 활용 + 금융권 선점 | WO: 라이선스 구독 전환으로 초기 비용 해소</a:t>
            </a:r>
          </a:p>
        </p:txBody>
      </p:sp>
    </p:spTree>
    <p:extLst>
      <p:ext uri="{BB962C8B-B14F-4D97-AF65-F5344CB8AC3E}">
        <p14:creationId xmlns:p14="http://schemas.microsoft.com/office/powerpoint/2010/main" val="1978617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9;p32"/>
          <p:cNvSpPr txBox="1">
            <a:spLocks/>
          </p:cNvSpPr>
          <p:nvPr/>
        </p:nvSpPr>
        <p:spPr>
          <a:xfrm>
            <a:off x="0" y="2699114"/>
            <a:ext cx="12192000" cy="1019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Clr>
                <a:schemeClr val="lt1"/>
              </a:buClr>
              <a:buSzPts val="4000"/>
              <a:buNone/>
            </a:pPr>
            <a:r>
              <a:rPr lang="en-US" altLang="ko-KR" sz="6000" dirty="0" smtClean="0">
                <a:solidFill>
                  <a:schemeClr val="bg1"/>
                </a:solidFill>
                <a:latin typeface="프리젠테이션 7 Bold" pitchFamily="2" charset="-127"/>
                <a:ea typeface="프리젠테이션 7 Bold" pitchFamily="2" charset="-127"/>
              </a:rPr>
              <a:t>Thank You</a:t>
            </a:r>
            <a:endParaRPr lang="en-US" altLang="ko-KR" sz="6000" dirty="0">
              <a:solidFill>
                <a:schemeClr val="bg1"/>
              </a:solidFill>
              <a:latin typeface="프리젠테이션 7 Bold" pitchFamily="2" charset="-127"/>
              <a:ea typeface="프리젠테이션 7 Bold" pitchFamily="2" charset="-127"/>
            </a:endParaRP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2036" y="378400"/>
            <a:ext cx="1329872" cy="330546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398157" y="3870726"/>
            <a:ext cx="5395685" cy="54363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atinLnBrk="0"/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GS</a:t>
            </a:r>
            <a:r>
              <a:rPr lang="ko-KR" altLang="en-US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네오텍의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IT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서비스 브랜드 </a:t>
            </a:r>
            <a:r>
              <a:rPr lang="en-US" altLang="ko-KR" sz="160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WiseN</a:t>
            </a:r>
            <a:r>
              <a:rPr lang="ko-KR" altLang="en-US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으로 진정한 프리미엄을 경험하세요</a:t>
            </a:r>
            <a:r>
              <a:rPr lang="en-US" altLang="ko-KR" sz="16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4 Regular" pitchFamily="2" charset="-127"/>
                <a:ea typeface="프리젠테이션 4 Regular" pitchFamily="2" charset="-127"/>
                <a:cs typeface="Pretendard" panose="020005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7872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사용자 지정 5">
      <a:dk1>
        <a:sysClr val="windowText" lastClr="000000"/>
      </a:dk1>
      <a:lt1>
        <a:sysClr val="window" lastClr="FFFFFF"/>
      </a:lt1>
      <a:dk2>
        <a:srgbClr val="A5A5A5"/>
      </a:dk2>
      <a:lt2>
        <a:srgbClr val="E7E6E6"/>
      </a:lt2>
      <a:accent1>
        <a:srgbClr val="0043DA"/>
      </a:accent1>
      <a:accent2>
        <a:srgbClr val="4CB88F"/>
      </a:accent2>
      <a:accent3>
        <a:srgbClr val="EE8150"/>
      </a:accent3>
      <a:accent4>
        <a:srgbClr val="2A6FDE"/>
      </a:accent4>
      <a:accent5>
        <a:srgbClr val="000000"/>
      </a:accent5>
      <a:accent6>
        <a:srgbClr val="000000"/>
      </a:accent6>
      <a:hlink>
        <a:srgbClr val="0563C1"/>
      </a:hlink>
      <a:folHlink>
        <a:srgbClr val="954F72"/>
      </a:folHlink>
    </a:clrScheme>
    <a:fontScheme name="GS네오텍">
      <a:majorFont>
        <a:latin typeface="프리젠테이션 7 Bold"/>
        <a:ea typeface="프리젠테이션 7 Bold"/>
        <a:cs typeface=""/>
      </a:majorFont>
      <a:minorFont>
        <a:latin typeface="프리젠테이션 4 Regular"/>
        <a:ea typeface="프리젠테이션 4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6789</TotalTime>
  <Words>3134</Words>
  <Application>Microsoft Office PowerPoint</Application>
  <PresentationFormat>와이드스크린</PresentationFormat>
  <Paragraphs>739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52" baseType="lpstr">
      <vt:lpstr>Pretendard</vt:lpstr>
      <vt:lpstr>Pretendard ExtraBold</vt:lpstr>
      <vt:lpstr>맑은 고딕</vt:lpstr>
      <vt:lpstr>맑은 고딕</vt:lpstr>
      <vt:lpstr>프리젠테이션 4 Regular</vt:lpstr>
      <vt:lpstr>프리젠테이션 5 Medium</vt:lpstr>
      <vt:lpstr>프리젠테이션 6 SemiBold</vt:lpstr>
      <vt:lpstr>프리젠테이션 7 Bold</vt:lpstr>
      <vt:lpstr>Arial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디자이너</dc:creator>
  <cp:lastModifiedBy>디자인</cp:lastModifiedBy>
  <cp:revision>772</cp:revision>
  <dcterms:created xsi:type="dcterms:W3CDTF">2022-03-02T05:40:55Z</dcterms:created>
  <dcterms:modified xsi:type="dcterms:W3CDTF">2025-02-21T00:46:30Z</dcterms:modified>
</cp:coreProperties>
</file>