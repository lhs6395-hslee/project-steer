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500" r:id="rId2"/>
    <p:sldId id="501" r:id="rId3"/>
    <p:sldId id="502" r:id="rId4"/>
    <p:sldId id="503" r:id="rId5"/>
    <p:sldId id="504" r:id="rId6"/>
    <p:sldId id="505" r:id="rId7"/>
    <p:sldId id="506" r:id="rId8"/>
    <p:sldId id="507" r:id="rId9"/>
    <p:sldId id="508" r:id="rId10"/>
    <p:sldId id="509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0000001}">
          <p14:sldIdLst>
            <p14:sldId id="500"/>
          </p14:sldIdLst>
        </p14:section>
        <p14:section name="목차" id="{B0000002}">
          <p14:sldIdLst>
            <p14:sldId id="501"/>
          </p14:sldIdLst>
        </p14:section>
        <p14:section name="본문" id="{B0000003}">
          <p14:sldIdLst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끝맺음" id="{B0000004}">
          <p14:sldIdLst>
            <p14:sldId id="50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04" autoAdjust="0"/>
    <p:restoredTop sz="94660"/>
  </p:normalViewPr>
  <p:slideViewPr>
    <p:cSldViewPr snapToGrid="0">
      <p:cViewPr>
        <p:scale>
          <a:sx n="75" d="100"/>
          <a:sy n="75" d="100"/>
        </p:scale>
        <p:origin x="1074" y="8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2025-02-21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2025-02-21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smtClean="0"/>
              <a:t>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smtClean="0"/>
              <a:t>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 smtClean="0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138715" y="1846736"/>
            <a:ext cx="5395685" cy="1906474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Oracle DB 마이그레이션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실전 전략 가이드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8716" y="3754494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On-Premise Oracle → AWS Oracle RDS/EC2 전환을 위한 아키텍처·도구·운영 가이드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04/21</a:t>
            </a:r>
          </a:p>
        </p:txBody>
      </p:sp>
    </p:spTree>
    <p:extLst>
      <p:ext uri="{BB962C8B-B14F-4D97-AF65-F5344CB8AC3E}">
        <p14:creationId xmlns:p14="http://schemas.microsoft.com/office/powerpoint/2010/main" val="976552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 smtClean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  <a:endParaRPr lang="en-US" altLang="ko-KR" sz="2800" dirty="0">
              <a:solidFill>
                <a:srgbClr val="0043DA"/>
              </a:solidFill>
              <a:latin typeface="프리젠테이션 7 Bold" pitchFamily="2" charset="-127"/>
              <a:ea typeface="프리젠테이션 7 Bold" pitchFamily="2" charset="-127"/>
              <a:cs typeface="Pretendard ExtraBold" panose="02000903000000020004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4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3927349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현재 환경의 문제점과 목표 상태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인프라 아키텍처 전환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도구 선택 의사결정 프레임워크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6개월 마이그레이션 로드맵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핵심 성과 지표 / 운영 주의사항 / SWOT</a:t>
            </a:r>
            <a:endParaRPr lang="en-US" altLang="ko-KR" sz="2400" dirty="0" smtClean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96110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1-1.
현황 분석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As-Is vs To-Be — 레거시 Oracle 한계와 AWS 전환 기대 효과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현재 환경의 문제점과 목표 상태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레거시 Oracle 온프레미스 운영의 한계와 AWS RDS 전환 후 기대 효과 비교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5629800" cy="4405120"/>
          </a:xfrm>
          <a:prstGeom prst="roundRect">
            <a:avLst>
              <a:gd name="adj" fmla="val 16667"/>
            </a:avLst>
          </a:prstGeom>
          <a:solidFill>
            <a:srgbClr val="D6E8F5"/>
          </a:solidFill>
          <a:ln w="12700">
            <a:solidFill>
              <a:srgbClr val="AECDE0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5629800" cy="420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⚠  AS-IS  현재 상태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81440"/>
            <a:ext cx="5629800" cy="398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높은 Oracle 라이선스·유지보수 비용</a:t>
            </a:r>
          </a:p>
          <a:p>
            <a:pPr algn="l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   연간 수억원 이상 고정 지출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수동 백업/복구 프로세스 (RPO 24시간+)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수직 스케일만 가능 — 하드웨어 증설 필요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단일 장애점(SPOF) — 이중화 구성 복잡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패치·업그레이드 사이클 수개월 소요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DBA 전담 인력 상시 운영 필수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105000" y="2361440"/>
            <a:ext cx="5629800" cy="4405120"/>
          </a:xfrm>
          <a:prstGeom prst="roundRect">
            <a:avLst>
              <a:gd name="adj" fmla="val 16667"/>
            </a:avLst>
          </a:prstGeom>
          <a:solidFill>
            <a:srgbClr val="D5F5E3"/>
          </a:solidFill>
          <a:ln w="12700">
            <a:solidFill>
              <a:srgbClr val="A9DFBF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105000" y="2361440"/>
            <a:ext cx="5629800" cy="42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✓  TO-BE  AWS 전환 후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105000" y="2781440"/>
            <a:ext cx="5629800" cy="398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Pay-as-you-go 비용 (사용량 기반 과금)</a:t>
            </a:r>
          </a:p>
          <a:p>
            <a:pPr algn="l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   비용 30~50% 절감 효과 예상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자동 백업 + Multi-AZ  (RPO &lt; 5분)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수평 스케일 — Read Replica 즉시 추가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고가용성 99.99% SLA 보장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자동 패치·마이너 버전 업그레이드</a:t>
            </a:r>
          </a:p>
          <a:p>
            <a:pPr algn="l"/>
            <a:endParaRPr lang="ko-KR" sz="500"/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RDS 관리형 서비스로 DBA 운영 부담 ↓</a:t>
            </a:r>
          </a:p>
        </p:txBody>
      </p:sp>
    </p:spTree>
    <p:extLst>
      <p:ext uri="{BB962C8B-B14F-4D97-AF65-F5344CB8AC3E}">
        <p14:creationId xmlns:p14="http://schemas.microsoft.com/office/powerpoint/2010/main" val="3510897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1-2.
아키텍처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Before/After — On-Premise 3-Tier → AWS 클라우드 네이티브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인프라 아키텍처 전환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물리 서버 3-Tier 구조에서 AWS 클라우드 네이티브 아키텍처로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5400800" cy="4405120"/>
          </a:xfrm>
          <a:prstGeom prst="rect">
            <a:avLst/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5400800" cy="38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BEFORE  |  On-Premise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41440"/>
            <a:ext cx="5400800" cy="402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1" dirty="0">
                <a:solidFill>
                  <a:srgbClr val="1B3A5C"/>
                </a:solidFill>
                <a:latin typeface="Freesentation"/>
                <a:ea typeface="Freesentation"/>
              </a:rPr>
              <a:t>▣  네트워크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IDC 내 L4/L7 스위치, 방화벽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1B3A5C"/>
                </a:solidFill>
                <a:latin typeface="Freesentation"/>
                <a:ea typeface="Freesentation"/>
              </a:rPr>
              <a:t>▣  웹/AP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물리 서버 WAS 클러스터 (Active-Active)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1B3A5C"/>
                </a:solidFill>
                <a:latin typeface="Freesentation"/>
                <a:ea typeface="Freesentation"/>
              </a:rPr>
              <a:t>▣  DB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Oracle DB Active-Standby 이중화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1B3A5C"/>
                </a:solidFill>
                <a:latin typeface="Freesentation"/>
                <a:ea typeface="Freesentation"/>
              </a:rPr>
              <a:t>▣  백업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테이프/NAS 백업 (수동 스케줄링)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5876000" y="4484000"/>
            <a:ext cx="440000" cy="1600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2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→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334000" y="2361440"/>
            <a:ext cx="5400800" cy="4405120"/>
          </a:xfrm>
          <a:prstGeom prst="rect">
            <a:avLst/>
          </a:prstGeom>
          <a:solidFill>
            <a:srgbClr val="D5F5E3"/>
          </a:solidFill>
          <a:ln w="12700">
            <a:solidFill>
              <a:srgbClr val="A9DFBF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334000" y="2361440"/>
            <a:ext cx="5400800" cy="38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AFTER  |  AWS Cloud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6334000" y="2741440"/>
            <a:ext cx="5400800" cy="402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1" dirty="0">
                <a:solidFill>
                  <a:srgbClr val="27AE60"/>
                </a:solidFill>
                <a:latin typeface="Freesentation"/>
                <a:ea typeface="Freesentation"/>
              </a:rPr>
              <a:t>▣  네트워크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VPC + ALB (Application Load Balancer)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27AE60"/>
                </a:solidFill>
                <a:latin typeface="Freesentation"/>
                <a:ea typeface="Freesentation"/>
              </a:rPr>
              <a:t>▣  웹/AP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EC2 Auto Scaling Group (AZ 이중화)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27AE60"/>
                </a:solidFill>
                <a:latin typeface="Freesentation"/>
                <a:ea typeface="Freesentation"/>
              </a:rPr>
              <a:t>▣  DB 계층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RDS for Oracle (Multi-AZ 자동 장애조치)</a:t>
            </a:r>
          </a:p>
          <a:p>
            <a:pPr algn="l"/>
            <a:endParaRPr lang="ko-KR" sz="400"/>
          </a:p>
          <a:p>
            <a:pPr algn="l"/>
            <a:r>
              <a:rPr lang="ko-KR" altLang="en-US" sz="1300" b="1" dirty="0">
                <a:solidFill>
                  <a:srgbClr val="27AE60"/>
                </a:solidFill>
                <a:latin typeface="Freesentation"/>
                <a:ea typeface="Freesentation"/>
              </a:rPr>
              <a:t>▣  백업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   S3 자동 백업 (Point-in-Time Recovery)</a:t>
            </a:r>
          </a:p>
        </p:txBody>
      </p:sp>
    </p:spTree>
    <p:extLst>
      <p:ext uri="{BB962C8B-B14F-4D97-AF65-F5344CB8AC3E}">
        <p14:creationId xmlns:p14="http://schemas.microsoft.com/office/powerpoint/2010/main" val="3624661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2-1.
도구 선택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4단계 깔때기 — 요구사항 정의부터 최종 도구 선정까지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마이그레이션 도구 선택 의사결정 프레임워크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4단계 깔때기 평가로 최적 도구 선정 — 요구사항부터 최종 결정까지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11277600" cy="1074280"/>
          </a:xfrm>
          <a:prstGeom prst="rect">
            <a:avLst/>
          </a:prstGeom>
          <a:solidFill>
            <a:srgbClr val="D6E8F5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11277600" cy="36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1단계  요구사항 정의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21440"/>
            <a:ext cx="11277600" cy="7142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데이터 볼륨 / RPO·RTO SLA / 변환 복잡도 / 이기종 여부 / 예산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1472184" y="3471720"/>
            <a:ext cx="9247632" cy="1074280"/>
          </a:xfrm>
          <a:prstGeom prst="rect">
            <a:avLst/>
          </a:prstGeom>
          <a:solidFill>
            <a:srgbClr val="E8F4FD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1472184" y="3471720"/>
            <a:ext cx="9247632" cy="360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2단계  후보 검토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1472184" y="3831720"/>
            <a:ext cx="9247632" cy="7142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GoldenGate · DataStage · AWS DMS · StreamSets · Debezium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2430780" y="4582000"/>
            <a:ext cx="7330440" cy="1074280"/>
          </a:xfrm>
          <a:prstGeom prst="rect">
            <a:avLst/>
          </a:prstGeom>
          <a:solidFill>
            <a:srgbClr val="FEF5EC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2430780" y="4582000"/>
            <a:ext cx="7330440" cy="3600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3단계  PoC 평가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2430780" y="4942000"/>
            <a:ext cx="7330440" cy="7142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성능 테스트 / 비용 분석 / 운영 복잡도 / 내부 레퍼런스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3389376" y="5692280"/>
            <a:ext cx="5413248" cy="1074280"/>
          </a:xfrm>
          <a:prstGeom prst="rect">
            <a:avLst/>
          </a:prstGeom>
          <a:solidFill>
            <a:srgbClr val="D5F5E3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3389376" y="5692280"/>
            <a:ext cx="5413248" cy="36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4단계  최종 선정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3389376" y="6052280"/>
            <a:ext cx="5413248" cy="71428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경영 승인 / 계약 협상 / 구축 계획 수립 / 킥오프</a:t>
            </a:r>
          </a:p>
        </p:txBody>
      </p:sp>
    </p:spTree>
    <p:extLst>
      <p:ext uri="{BB962C8B-B14F-4D97-AF65-F5344CB8AC3E}">
        <p14:creationId xmlns:p14="http://schemas.microsoft.com/office/powerpoint/2010/main" val="3389939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2-2.
로드맵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6개월 단계별 전환 로드맵 — 분석·파일럿·검증·전환·안정화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6개월 마이그레이션 로드맵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단계별 점진적 전환 — 무중단 운영 보장 · 각 단계 완료 후 승인 게이트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M1~M2</a:t>
            </a:r>
          </a:p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분석/설계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현황 분석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아키텍처 설계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도구 선정·계약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2698321" y="3011440"/>
            <a:ext cx="17999" cy="12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›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271632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M3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271632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파일럿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271632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소규모 테이블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CDC 복제 테스트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성능 벤치마크</a:t>
            </a:r>
          </a:p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4957441" y="3011440"/>
            <a:ext cx="17999" cy="12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›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497544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M4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497544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검증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497544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전체 스키마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마이그레이션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정합성 검증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7216561" y="3011440"/>
            <a:ext cx="17999" cy="12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›</a:t>
            </a:r>
          </a:p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723456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M5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723456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전환</a:t>
            </a:r>
          </a:p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723456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컷오버 실행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모니터링 강화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롤백 대기</a:t>
            </a:r>
          </a:p>
        </p:txBody>
      </p:sp>
      <p:sp>
        <p:nvSpPr>
          <p:cNvPr id="218" name="S218"/>
          <p:cNvSpPr>
            <a:spLocks noGrp="1"/>
          </p:cNvSpPr>
          <p:nvPr/>
        </p:nvSpPr>
        <p:spPr>
          <a:xfrm>
            <a:off x="9475681" y="3011440"/>
            <a:ext cx="17999" cy="12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0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›</a:t>
            </a:r>
          </a:p>
        </p:txBody>
      </p:sp>
      <p:sp>
        <p:nvSpPr>
          <p:cNvPr id="219" name="S219"/>
          <p:cNvSpPr>
            <a:spLocks noGrp="1"/>
          </p:cNvSpPr>
          <p:nvPr/>
        </p:nvSpPr>
        <p:spPr>
          <a:xfrm>
            <a:off x="9493680" y="2361440"/>
            <a:ext cx="2241120" cy="26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1" dirty="0">
                <a:solidFill>
                  <a:srgbClr val="7F8C8D"/>
                </a:solidFill>
                <a:latin typeface="Freesentation"/>
                <a:ea typeface="Freesentation"/>
              </a:rPr>
              <a:t>M6</a:t>
            </a:r>
          </a:p>
        </p:txBody>
      </p:sp>
      <p:sp>
        <p:nvSpPr>
          <p:cNvPr id="220" name="S220"/>
          <p:cNvSpPr>
            <a:spLocks noGrp="1"/>
          </p:cNvSpPr>
          <p:nvPr/>
        </p:nvSpPr>
        <p:spPr>
          <a:xfrm>
            <a:off x="9493680" y="2621440"/>
            <a:ext cx="2241120" cy="900000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6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안정화</a:t>
            </a:r>
          </a:p>
        </p:txBody>
      </p:sp>
      <p:sp>
        <p:nvSpPr>
          <p:cNvPr id="221" name="S221"/>
          <p:cNvSpPr>
            <a:spLocks noGrp="1"/>
          </p:cNvSpPr>
          <p:nvPr/>
        </p:nvSpPr>
        <p:spPr>
          <a:xfrm>
            <a:off x="9493680" y="3539440"/>
            <a:ext cx="2241120" cy="3227120"/>
          </a:xfrm>
          <a:prstGeom prst="rect">
            <a:avLst/>
          </a:prstGeom>
          <a:solidFill>
            <a:srgbClr val="F0F4F8"/>
          </a:solidFill>
          <a:ln w="12700">
            <a:solidFill>
              <a:srgbClr val="DDDDDD"/>
            </a:solidFill>
          </a:ln>
        </p:spPr>
        <p:txBody>
          <a:bodyPr anchor="t" lIns="80000" rIns="80000" tIns="80000" bIns="80000"/>
          <a:lstStyle/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운영 정상화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온프레미스 철수</a:t>
            </a:r>
          </a:p>
          <a:p>
            <a:pPr algn="ctr"/>
            <a:r>
              <a:rPr lang="ko-KR" altLang="en-US" sz="1200" b="0" dirty="0">
                <a:solidFill>
                  <a:srgbClr val="404040"/>
                </a:solidFill>
                <a:latin typeface="Freesentation"/>
                <a:ea typeface="Freesentation"/>
              </a:rPr>
              <a:t>DBA 전환 교육</a:t>
            </a:r>
          </a:p>
        </p:txBody>
      </p:sp>
    </p:spTree>
    <p:extLst>
      <p:ext uri="{BB962C8B-B14F-4D97-AF65-F5344CB8AC3E}">
        <p14:creationId xmlns:p14="http://schemas.microsoft.com/office/powerpoint/2010/main" val="3432312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3-1.
KPI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핵심 성과 지표 — GoldenGate PoC 결과 기반 예상 성과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마이그레이션 핵심 성과 지표 (KPI)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GoldenGate PoC 결과 기반 예상 성과 — 동일 트래픽 10K RPS 기준 측정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2241120" cy="18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복제 지연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45720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1B3A5C"/>
                </a:solidFill>
                <a:latin typeface="나눔스퀘어 ExtraBold"/>
                <a:ea typeface="나눔스퀘어 ExtraBold"/>
              </a:rPr>
              <a:t>&lt; 1초</a:t>
            </a:r>
          </a:p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45720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LAN 기준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실시간 CDC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271632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2716320" y="2361440"/>
            <a:ext cx="2241120" cy="180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271632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처리량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271632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2E6DA4"/>
                </a:solidFill>
                <a:latin typeface="나눔스퀘어 ExtraBold"/>
                <a:ea typeface="나눔스퀘어 ExtraBold"/>
              </a:rPr>
              <a:t>100K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271632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TPS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단일 Replicat</a:t>
            </a:r>
          </a:p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497544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4975440" y="2361440"/>
            <a:ext cx="2241120" cy="1800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15" name="S215"/>
          <p:cNvSpPr>
            <a:spLocks noGrp="1"/>
          </p:cNvSpPr>
          <p:nvPr/>
        </p:nvSpPr>
        <p:spPr>
          <a:xfrm>
            <a:off x="497544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다운타임</a:t>
            </a:r>
          </a:p>
        </p:txBody>
      </p:sp>
      <p:sp>
        <p:nvSpPr>
          <p:cNvPr id="216" name="S216"/>
          <p:cNvSpPr>
            <a:spLocks noGrp="1"/>
          </p:cNvSpPr>
          <p:nvPr/>
        </p:nvSpPr>
        <p:spPr>
          <a:xfrm>
            <a:off x="497544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E87722"/>
                </a:solidFill>
                <a:latin typeface="나눔스퀘어 ExtraBold"/>
                <a:ea typeface="나눔스퀘어 ExtraBold"/>
              </a:rPr>
              <a:t>&lt; 2시간</a:t>
            </a:r>
          </a:p>
        </p:txBody>
      </p:sp>
      <p:sp>
        <p:nvSpPr>
          <p:cNvPr id="217" name="S217"/>
          <p:cNvSpPr>
            <a:spLocks noGrp="1"/>
          </p:cNvSpPr>
          <p:nvPr/>
        </p:nvSpPr>
        <p:spPr>
          <a:xfrm>
            <a:off x="497544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컷오버 기준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롤백 포함</a:t>
            </a:r>
          </a:p>
        </p:txBody>
      </p:sp>
      <p:sp>
        <p:nvSpPr>
          <p:cNvPr id="218" name="S218"/>
          <p:cNvSpPr>
            <a:spLocks noGrp="1"/>
          </p:cNvSpPr>
          <p:nvPr/>
        </p:nvSpPr>
        <p:spPr>
          <a:xfrm>
            <a:off x="723456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9" name="S219"/>
          <p:cNvSpPr>
            <a:spLocks noGrp="1"/>
          </p:cNvSpPr>
          <p:nvPr/>
        </p:nvSpPr>
        <p:spPr>
          <a:xfrm>
            <a:off x="7234560" y="2361440"/>
            <a:ext cx="2241120" cy="18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20" name="S220"/>
          <p:cNvSpPr>
            <a:spLocks noGrp="1"/>
          </p:cNvSpPr>
          <p:nvPr/>
        </p:nvSpPr>
        <p:spPr>
          <a:xfrm>
            <a:off x="723456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데이터</a:t>
            </a:r>
          </a:p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정합성</a:t>
            </a:r>
          </a:p>
        </p:txBody>
      </p:sp>
      <p:sp>
        <p:nvSpPr>
          <p:cNvPr id="221" name="S221"/>
          <p:cNvSpPr>
            <a:spLocks noGrp="1"/>
          </p:cNvSpPr>
          <p:nvPr/>
        </p:nvSpPr>
        <p:spPr>
          <a:xfrm>
            <a:off x="723456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27AE60"/>
                </a:solidFill>
                <a:latin typeface="나눔스퀘어 ExtraBold"/>
                <a:ea typeface="나눔스퀘어 ExtraBold"/>
              </a:rPr>
              <a:t>99.999%</a:t>
            </a:r>
          </a:p>
        </p:txBody>
      </p:sp>
      <p:sp>
        <p:nvSpPr>
          <p:cNvPr id="222" name="S222"/>
          <p:cNvSpPr>
            <a:spLocks noGrp="1"/>
          </p:cNvSpPr>
          <p:nvPr/>
        </p:nvSpPr>
        <p:spPr>
          <a:xfrm>
            <a:off x="723456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checksum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검증 기준</a:t>
            </a:r>
          </a:p>
        </p:txBody>
      </p:sp>
      <p:sp>
        <p:nvSpPr>
          <p:cNvPr id="223" name="S223"/>
          <p:cNvSpPr>
            <a:spLocks noGrp="1"/>
          </p:cNvSpPr>
          <p:nvPr/>
        </p:nvSpPr>
        <p:spPr>
          <a:xfrm>
            <a:off x="9493680" y="2361440"/>
            <a:ext cx="2241120" cy="44051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24" name="S224"/>
          <p:cNvSpPr>
            <a:spLocks noGrp="1"/>
          </p:cNvSpPr>
          <p:nvPr/>
        </p:nvSpPr>
        <p:spPr>
          <a:xfrm>
            <a:off x="9493680" y="2361440"/>
            <a:ext cx="2241120" cy="18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="ctr" lIns="91440" rIns="91440" tIns="91440" bIns="91440"/>
          <a:lstStyle/>
          <a:p/>
        </p:txBody>
      </p:sp>
      <p:sp>
        <p:nvSpPr>
          <p:cNvPr id="225" name="S225"/>
          <p:cNvSpPr>
            <a:spLocks noGrp="1"/>
          </p:cNvSpPr>
          <p:nvPr/>
        </p:nvSpPr>
        <p:spPr>
          <a:xfrm>
            <a:off x="9493680" y="2561440"/>
            <a:ext cx="2241120" cy="35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비용 절감</a:t>
            </a:r>
          </a:p>
        </p:txBody>
      </p:sp>
      <p:sp>
        <p:nvSpPr>
          <p:cNvPr id="226" name="S226"/>
          <p:cNvSpPr>
            <a:spLocks noGrp="1"/>
          </p:cNvSpPr>
          <p:nvPr/>
        </p:nvSpPr>
        <p:spPr>
          <a:xfrm>
            <a:off x="9493680" y="2921440"/>
            <a:ext cx="2241120" cy="70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3200" b="1" dirty="0">
                <a:solidFill>
                  <a:srgbClr val="C0392B"/>
                </a:solidFill>
                <a:latin typeface="나눔스퀘어 ExtraBold"/>
                <a:ea typeface="나눔스퀘어 ExtraBold"/>
              </a:rPr>
              <a:t>40%</a:t>
            </a:r>
          </a:p>
        </p:txBody>
      </p:sp>
      <p:sp>
        <p:nvSpPr>
          <p:cNvPr id="227" name="S227"/>
          <p:cNvSpPr>
            <a:spLocks noGrp="1"/>
          </p:cNvSpPr>
          <p:nvPr/>
        </p:nvSpPr>
        <p:spPr>
          <a:xfrm>
            <a:off x="9493680" y="3631440"/>
            <a:ext cx="2241120" cy="307512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라이선스 기준</a:t>
            </a:r>
          </a:p>
          <a:p>
            <a:pPr algn="ctr"/>
            <a:r>
              <a:rPr lang="ko-KR" altLang="en-US" sz="1100" b="0" dirty="0">
                <a:solidFill>
                  <a:srgbClr val="7F8C8D"/>
                </a:solidFill>
                <a:latin typeface="Freesentation"/>
                <a:ea typeface="Freesentation"/>
              </a:rPr>
              <a:t>3년 TCO</a:t>
            </a:r>
          </a:p>
        </p:txBody>
      </p:sp>
    </p:spTree>
    <p:extLst>
      <p:ext uri="{BB962C8B-B14F-4D97-AF65-F5344CB8AC3E}">
        <p14:creationId xmlns:p14="http://schemas.microsoft.com/office/powerpoint/2010/main" val="899380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4-1.
주의사항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Do &amp; Don't — 실패 사례에서 학습한 운영 체크리스트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마이그레이션 운영 주의사항 — Do &amp; Don't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실패 사례에서 학습한 현장 검증 필수 체크리스트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5629800" cy="4405120"/>
          </a:xfrm>
          <a:prstGeom prst="rect">
            <a:avLst/>
          </a:prstGeom>
          <a:solidFill>
            <a:srgbClr val="D5F5E3"/>
          </a:solidFill>
          <a:ln w="12700">
            <a:solidFill>
              <a:srgbClr val="A9DFBF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5629800" cy="40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✔  DO — 반드시 해야 할 것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61440"/>
            <a:ext cx="5629800" cy="400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사전 데이터 정합성 검증 (row count + checksum)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전용선 사용 — Direct Connect 또는 Site-to-Site VPN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롤백 플랜 및 컷오프 기준 사전 문서화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단계적 전환 — 테이블 우선순위별 순차 이관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전환 전 48시간 이상 병렬 운영 및 검증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✔  CloudWatch + 알람 설정 완료 후 컷오버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105000" y="2361440"/>
            <a:ext cx="5629800" cy="4405120"/>
          </a:xfrm>
          <a:prstGeom prst="rect">
            <a:avLst/>
          </a:prstGeom>
          <a:solidFill>
            <a:srgbClr val="FADBD8"/>
          </a:solidFill>
          <a:ln w="12700">
            <a:solidFill>
              <a:srgbClr val="F1948A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105000" y="2361440"/>
            <a:ext cx="5629800" cy="40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4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✘  DON'T — 절대 하지 말 것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105000" y="2761440"/>
            <a:ext cx="5629800" cy="4005120"/>
          </a:xfrm>
          <a:prstGeom prst="rect">
            <a:avLst/>
          </a:prstGeom>
          <a:noFill/>
          <a:ln>
            <a:noFill/>
          </a:ln>
        </p:spPr>
        <p:txBody>
          <a:bodyPr anchor="t" lIns="80000" rIns="80000" tIns="80000" bIns="8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인터넷 망으로 대용량 데이터 전송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운영 DB에서 직접 CDC 설정 테스트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검증 단계 생략 후 즉시 전환 진행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모니터링 미설정 상태에서 자동화 실행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단일 담당자만으로 컷오버 진행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✘  원본 DB 즉시 철수 (최소 2주 보존 필수)</a:t>
            </a:r>
          </a:p>
        </p:txBody>
      </p:sp>
    </p:spTree>
    <p:extLst>
      <p:ext uri="{BB962C8B-B14F-4D97-AF65-F5344CB8AC3E}">
        <p14:creationId xmlns:p14="http://schemas.microsoft.com/office/powerpoint/2010/main" val="2862818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5-1.
SWOT</a:t>
            </a:r>
            <a:r>
              <a:rPr lang="ko-KR" altLang="en-US" sz="2000" dirty="0"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2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>Oracle GoldenGate 도입 SWOT 분석 — 전략적 선택 기준</a:t>
            </a:r>
            <a:r>
              <a:rPr lang="ko-KR" altLang="en-US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5 Medium" pitchFamily="2" charset="-127"/>
                <a:ea typeface="프리젠테이션 5 Medium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  <a:r>
              <a:rPr lang="en-US" altLang="ko-KR" sz="1200" b="1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/>
            </a:r>
          </a:p>
        </p:txBody>
      </p:sp>
      <p:sp>
        <p:nvSpPr>
          <p:cNvPr id="201" name="S201"/>
          <p:cNvSpPr>
            <a:spLocks noGrp="1"/>
          </p:cNvSpPr>
          <p:nvPr/>
        </p:nvSpPr>
        <p:spPr>
          <a:xfrm>
            <a:off x="457200" y="1750000"/>
            <a:ext cx="11277600" cy="28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600" b="1" dirty="0">
                <a:solidFill>
                  <a:srgbClr val="1B3A5C"/>
                </a:solidFill>
                <a:latin typeface="Freesentation"/>
                <a:ea typeface="Freesentation"/>
              </a:rPr>
              <a:t>Oracle GoldenGate 도입 SWOT 분석</a:t>
            </a:r>
          </a:p>
        </p:txBody>
      </p:sp>
      <p:sp>
        <p:nvSpPr>
          <p:cNvPr id="202" name="S202"/>
          <p:cNvSpPr>
            <a:spLocks noGrp="1"/>
          </p:cNvSpPr>
          <p:nvPr/>
        </p:nvSpPr>
        <p:spPr>
          <a:xfrm>
            <a:off x="457200" y="2040000"/>
            <a:ext cx="11277600" cy="230000"/>
          </a:xfrm>
          <a:prstGeom prst="rect">
            <a:avLst/>
          </a:prstGeom>
          <a:noFill/>
          <a:ln>
            <a:noFill/>
          </a:ln>
        </p:spPr>
        <p:txBody>
          <a:bodyPr anchor="ctr" lIns="91440" rIns="91440" tIns="91440" bIns="91440"/>
          <a:lstStyle/>
          <a:p>
            <a:pPr algn="l"/>
            <a:r>
              <a:rPr lang="ko-KR" altLang="en-US" sz="1200" b="0" dirty="0">
                <a:solidFill>
                  <a:srgbClr val="7F8C8D"/>
                </a:solidFill>
                <a:latin typeface="Freesentation"/>
                <a:ea typeface="Freesentation"/>
              </a:rPr>
              <a:t>AWS 전환 프로젝트에서 GoldenGate 선택 시 전략적 고려 사항</a:t>
            </a:r>
          </a:p>
        </p:txBody>
      </p:sp>
      <p:sp>
        <p:nvSpPr>
          <p:cNvPr id="203" name="S203"/>
          <p:cNvSpPr>
            <a:spLocks noGrp="1"/>
          </p:cNvSpPr>
          <p:nvPr/>
        </p:nvSpPr>
        <p:spPr>
          <a:xfrm>
            <a:off x="457200" y="2361440"/>
            <a:ext cx="5629800" cy="2193560"/>
          </a:xfrm>
          <a:prstGeom prst="rect">
            <a:avLst/>
          </a:prstGeom>
          <a:solidFill>
            <a:srgbClr val="D5F5E3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4" name="S204"/>
          <p:cNvSpPr>
            <a:spLocks noGrp="1"/>
          </p:cNvSpPr>
          <p:nvPr/>
        </p:nvSpPr>
        <p:spPr>
          <a:xfrm>
            <a:off x="457200" y="2361440"/>
            <a:ext cx="5629800" cy="340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S  Strength (강점)</a:t>
            </a:r>
          </a:p>
        </p:txBody>
      </p:sp>
      <p:sp>
        <p:nvSpPr>
          <p:cNvPr id="205" name="S205"/>
          <p:cNvSpPr>
            <a:spLocks noGrp="1"/>
          </p:cNvSpPr>
          <p:nvPr/>
        </p:nvSpPr>
        <p:spPr>
          <a:xfrm>
            <a:off x="457200" y="2701440"/>
            <a:ext cx="5629800" cy="1853560"/>
          </a:xfrm>
          <a:prstGeom prst="rect">
            <a:avLst/>
          </a:prstGeom>
          <a:noFill/>
          <a:ln>
            <a:noFill/>
          </a:ln>
        </p:spPr>
        <p:txBody>
          <a:bodyPr anchor="t" lIns="70000" rIns="70000" tIns="70000" bIns="7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공식 인증 CDC 솔루션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Redo Log 기반 비침투적 복제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양방향 복제 (Active-Active 지원)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DDL 복제 및 SQLEXEC 변환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19c+ Microservices 아키텍처</a:t>
            </a:r>
          </a:p>
        </p:txBody>
      </p:sp>
      <p:sp>
        <p:nvSpPr>
          <p:cNvPr id="206" name="S206"/>
          <p:cNvSpPr>
            <a:spLocks noGrp="1"/>
          </p:cNvSpPr>
          <p:nvPr/>
        </p:nvSpPr>
        <p:spPr>
          <a:xfrm>
            <a:off x="6105000" y="2361440"/>
            <a:ext cx="5629800" cy="2193560"/>
          </a:xfrm>
          <a:prstGeom prst="rect">
            <a:avLst/>
          </a:prstGeom>
          <a:solidFill>
            <a:srgbClr val="FADBD8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07" name="S207"/>
          <p:cNvSpPr>
            <a:spLocks noGrp="1"/>
          </p:cNvSpPr>
          <p:nvPr/>
        </p:nvSpPr>
        <p:spPr>
          <a:xfrm>
            <a:off x="6105000" y="2361440"/>
            <a:ext cx="5629800" cy="340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W  Weakness (약점)</a:t>
            </a:r>
          </a:p>
        </p:txBody>
      </p:sp>
      <p:sp>
        <p:nvSpPr>
          <p:cNvPr id="208" name="S208"/>
          <p:cNvSpPr>
            <a:spLocks noGrp="1"/>
          </p:cNvSpPr>
          <p:nvPr/>
        </p:nvSpPr>
        <p:spPr>
          <a:xfrm>
            <a:off x="6105000" y="2701440"/>
            <a:ext cx="5629800" cy="1853560"/>
          </a:xfrm>
          <a:prstGeom prst="rect">
            <a:avLst/>
          </a:prstGeom>
          <a:noFill/>
          <a:ln>
            <a:noFill/>
          </a:ln>
        </p:spPr>
        <p:txBody>
          <a:bodyPr anchor="t" lIns="70000" rIns="70000" tIns="70000" bIns="7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높은 라이선스·유지보수 비용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플랫폼 종속성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운영 전문 인력 필수 (OGG DBA)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타 DBMS 이기종 지원 제한적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초기 구성 복잡도 높음</a:t>
            </a:r>
          </a:p>
        </p:txBody>
      </p:sp>
      <p:sp>
        <p:nvSpPr>
          <p:cNvPr id="209" name="S209"/>
          <p:cNvSpPr>
            <a:spLocks noGrp="1"/>
          </p:cNvSpPr>
          <p:nvPr/>
        </p:nvSpPr>
        <p:spPr>
          <a:xfrm>
            <a:off x="457200" y="4573000"/>
            <a:ext cx="5629800" cy="2193560"/>
          </a:xfrm>
          <a:prstGeom prst="rect">
            <a:avLst/>
          </a:prstGeom>
          <a:solidFill>
            <a:srgbClr val="D6E8F5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0" name="S210"/>
          <p:cNvSpPr>
            <a:spLocks noGrp="1"/>
          </p:cNvSpPr>
          <p:nvPr/>
        </p:nvSpPr>
        <p:spPr>
          <a:xfrm>
            <a:off x="457200" y="4573000"/>
            <a:ext cx="5629800" cy="34000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O  Opportunity (기회)</a:t>
            </a:r>
          </a:p>
        </p:txBody>
      </p:sp>
      <p:sp>
        <p:nvSpPr>
          <p:cNvPr id="211" name="S211"/>
          <p:cNvSpPr>
            <a:spLocks noGrp="1"/>
          </p:cNvSpPr>
          <p:nvPr/>
        </p:nvSpPr>
        <p:spPr>
          <a:xfrm>
            <a:off x="457200" y="4913000"/>
            <a:ext cx="5629800" cy="1853560"/>
          </a:xfrm>
          <a:prstGeom prst="rect">
            <a:avLst/>
          </a:prstGeom>
          <a:noFill/>
          <a:ln>
            <a:noFill/>
          </a:ln>
        </p:spPr>
        <p:txBody>
          <a:bodyPr anchor="t" lIns="70000" rIns="70000" tIns="70000" bIns="7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AWS OCI GoldenGate SaaS 출시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실시간 CDC 분석 수요 급증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멀티클라우드 확장 용이성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금융·공공 레퍼런스 풍부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→ 클라우드 마이그레이션 확산</a:t>
            </a:r>
          </a:p>
        </p:txBody>
      </p:sp>
      <p:sp>
        <p:nvSpPr>
          <p:cNvPr id="212" name="S212"/>
          <p:cNvSpPr>
            <a:spLocks noGrp="1"/>
          </p:cNvSpPr>
          <p:nvPr/>
        </p:nvSpPr>
        <p:spPr>
          <a:xfrm>
            <a:off x="6105000" y="4573000"/>
            <a:ext cx="5629800" cy="2193560"/>
          </a:xfrm>
          <a:prstGeom prst="rect">
            <a:avLst/>
          </a:prstGeom>
          <a:solidFill>
            <a:srgbClr val="FEF5EC"/>
          </a:solidFill>
          <a:ln w="12700">
            <a:solidFill>
              <a:srgbClr val="CCCCCC"/>
            </a:solidFill>
          </a:ln>
        </p:spPr>
        <p:txBody>
          <a:bodyPr anchor="ctr" lIns="91440" rIns="91440" tIns="91440" bIns="91440"/>
          <a:lstStyle/>
          <a:p/>
        </p:txBody>
      </p:sp>
      <p:sp>
        <p:nvSpPr>
          <p:cNvPr id="213" name="S213"/>
          <p:cNvSpPr>
            <a:spLocks noGrp="1"/>
          </p:cNvSpPr>
          <p:nvPr/>
        </p:nvSpPr>
        <p:spPr>
          <a:xfrm>
            <a:off x="6105000" y="4573000"/>
            <a:ext cx="5629800" cy="3400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txBody>
          <a:bodyPr anchor="ctr" lIns="91440" rIns="91440" tIns="91440" bIns="91440"/>
          <a:lstStyle/>
          <a:p>
            <a:pPr algn="ctr"/>
            <a:r>
              <a:rPr lang="ko-KR" altLang="en-US" sz="1300" b="1" dirty="0">
                <a:solidFill>
                  <a:srgbClr val="FFFFFF"/>
                </a:solidFill>
                <a:latin typeface="나눔스퀘어 ExtraBold"/>
                <a:ea typeface="나눔스퀘어 ExtraBold"/>
              </a:rPr>
              <a:t>T  Threat (위협)</a:t>
            </a:r>
          </a:p>
        </p:txBody>
      </p:sp>
      <p:sp>
        <p:nvSpPr>
          <p:cNvPr id="214" name="S214"/>
          <p:cNvSpPr>
            <a:spLocks noGrp="1"/>
          </p:cNvSpPr>
          <p:nvPr/>
        </p:nvSpPr>
        <p:spPr>
          <a:xfrm>
            <a:off x="6105000" y="4913000"/>
            <a:ext cx="5629800" cy="1853560"/>
          </a:xfrm>
          <a:prstGeom prst="rect">
            <a:avLst/>
          </a:prstGeom>
          <a:noFill/>
          <a:ln>
            <a:noFill/>
          </a:ln>
        </p:spPr>
        <p:txBody>
          <a:bodyPr anchor="t" lIns="70000" rIns="70000" tIns="70000" bIns="70000"/>
          <a:lstStyle/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AWS DMS 무료 서비스 경쟁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오픈소스 CDC(Debezium) 성장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DataStage MPP 대용량 강점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Oracle 라이선스 정책 변화 리스크</a:t>
            </a:r>
          </a:p>
          <a:p>
            <a:pPr algn="l"/>
            <a:r>
              <a:rPr lang="ko-KR" altLang="en-US" sz="1300" b="0" dirty="0">
                <a:solidFill>
                  <a:srgbClr val="404040"/>
                </a:solidFill>
                <a:latin typeface="Freesentation"/>
                <a:ea typeface="Freesentation"/>
              </a:rPr>
              <a:t>• 클라우드 네이티브 대안 증가</a:t>
            </a:r>
          </a:p>
        </p:txBody>
      </p:sp>
    </p:spTree>
    <p:extLst>
      <p:ext uri="{BB962C8B-B14F-4D97-AF65-F5344CB8AC3E}">
        <p14:creationId xmlns:p14="http://schemas.microsoft.com/office/powerpoint/2010/main" val="451694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 smtClean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  <a:endParaRPr lang="en-US" altLang="ko-KR" sz="6000" dirty="0">
              <a:solidFill>
                <a:schemeClr val="bg1"/>
              </a:solidFill>
              <a:latin typeface="프리젠테이션 7 Bold" pitchFamily="2" charset="-127"/>
              <a:ea typeface="프리젠테이션 7 Bold" pitchFamily="2" charset="-127"/>
            </a:endParaRP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72559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6789</TotalTime>
  <Words>3134</Words>
  <Application>Microsoft Office PowerPoint</Application>
  <PresentationFormat>와이드스크린</PresentationFormat>
  <Paragraphs>739</Paragraphs>
  <Slides>41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2" baseType="lpstr">
      <vt:lpstr>Pretendard</vt:lpstr>
      <vt:lpstr>Pretendard ExtraBold</vt:lpstr>
      <vt:lpstr>맑은 고딕</vt:lpstr>
      <vt:lpstr>맑은 고딕</vt:lpstr>
      <vt:lpstr>프리젠테이션 4 Regular</vt:lpstr>
      <vt:lpstr>프리젠테이션 5 Medium</vt:lpstr>
      <vt:lpstr>프리젠테이션 6 SemiBold</vt:lpstr>
      <vt:lpstr>프리젠테이션 7 Bold</vt:lpstr>
      <vt:lpstr>Arial</vt:lpstr>
      <vt:lpstr>Segoe UI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디자인</cp:lastModifiedBy>
  <cp:revision>772</cp:revision>
  <dcterms:created xsi:type="dcterms:W3CDTF">2022-03-02T05:40:55Z</dcterms:created>
  <dcterms:modified xsi:type="dcterms:W3CDTF">2025-02-21T00:46:30Z</dcterms:modified>
</cp:coreProperties>
</file>