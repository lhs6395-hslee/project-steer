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500" r:id="rId2"/>
    <p:sldId id="501" r:id="rId3"/>
    <p:sldId id="511" r:id="rId50"/>
    <p:sldId id="502" r:id="rId4"/>
    <p:sldId id="503" r:id="rId5"/>
    <p:sldId id="504" r:id="rId6"/>
    <p:sldId id="505" r:id="rId7"/>
    <p:sldId id="506" r:id="rId8"/>
    <p:sldId id="507" r:id="rId9"/>
    <p:sldId id="508" r:id="rId10"/>
    <p:sldId id="509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B5C0231-FCBA-4F83-8ACE-B0A799F53B91}">
          <p14:sldIdLst>
            <p14:sldId id="500"/>
          </p14:sldIdLst>
        </p14:section>
        <p14:section name="목차" id="{A0C878EF-B6DE-408F-A0B0-3E3987472B55}">
          <p14:sldIdLst>
            <p14:sldId id="501"/>
            <p14:sldId id="511"/>
          </p14:sldIdLst>
        </p14:section>
        <p14:section name="본문" id="{FCE70868-BB08-4726-BDA1-BC6D2C463683}">
          <p14:sldIdLst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끝맺음" id="{FD15903C-2545-468A-8B76-5E1C92EB4CD3}">
          <p14:sldIdLst>
            <p14:sldId id="50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04" autoAdjust="0"/>
    <p:restoredTop sz="94660"/>
  </p:normalViewPr>
  <p:slideViewPr>
    <p:cSldViewPr snapToGrid="0">
      <p:cViewPr>
        <p:scale>
          <a:sx n="75" d="100"/>
          <a:sy n="75" d="100"/>
        </p:scale>
        <p:origin x="1074" y="8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50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89064" y="1846736"/>
            <a:ext cx="7213872" cy="190647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Oracle DB 마이그레이션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실전 전략 가이드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9064" y="3844650"/>
            <a:ext cx="7213872" cy="77114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On-Premise Oracle → AWS Oracle RDS 전환을 위한 아키텍처·도구·운영 가이드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04/21</a:t>
            </a:r>
          </a:p>
        </p:txBody>
      </p:sp>
    </p:spTree>
    <p:extLst>
      <p:ext uri="{BB962C8B-B14F-4D97-AF65-F5344CB8AC3E}">
        <p14:creationId xmlns:p14="http://schemas.microsoft.com/office/powerpoint/2010/main" val="919817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 smtClean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  <a:endParaRPr lang="en-US" altLang="ko-KR" sz="2800" dirty="0">
              <a:solidFill>
                <a:srgbClr val="0043DA"/>
              </a:solidFill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4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3927349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AS-IS / TO-BE 현황 분석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인프라 전환 KPI 비교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도구 선택 프레임워크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6개월 마이그레이션 로드맵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핵심 성과 지표 (KPI)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2507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1. AS-IS / TO-BE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현재 환경의 문제점과 목표 상태</a:t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현재 환경의 문제점과 목표 상태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레거시 Oracle 온프레미스 운영의 한계와 AWS RDS 전환 후 기대 효과 비교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⚠  AS-IS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✓  TO-BE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862388" y="3247162"/>
            <a:ext cx="4493144" cy="365760"/>
          </a:xfrm>
          <a:prstGeom prst="rect">
            <a:avLst/>
          </a:prstGeom>
          <a:noFill/>
          <a:ln>
            <a:noFill/>
          </a:ln>
        </p:spPr>
        <p:txBody>
          <a:bodyPr anchor="t" lIns="0" rIns="0" tIns="0" bIns="0"/>
          <a:lstStyle/>
          <a:p>
            <a:pPr algn="l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Oracle 온프레미스 DB 현황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836468" y="3247162"/>
            <a:ext cx="4493144" cy="365760"/>
          </a:xfrm>
          <a:prstGeom prst="rect">
            <a:avLst/>
          </a:prstGeom>
          <a:noFill/>
          <a:ln>
            <a:noFill/>
          </a:ln>
        </p:spPr>
        <p:txBody>
          <a:bodyPr anchor="t" lIns="0" rIns="0" tIns="0" bIns="0"/>
          <a:lstStyle/>
          <a:p>
            <a:pPr algn="l"/>
            <a:r>
              <a:rPr sz="14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AWS RDS Oracle 전환 후 효과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862388" y="3650105"/>
            <a:ext cx="4493144" cy="24497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높은 Oracle 라이선스·유지보수 비용</a:t>
            </a:r>
          </a:p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   연간 수억원 이상 고정 지출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수동 백업 — RPO 24시간 이상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수직 스케일만 가능, 하드웨어 증설 필요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단일 장애점(SPOF), 이중화 구성 복잡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패치·업그레이드 사이클 수개월 소요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DBA 전담 인력 상시 운영 필수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6836468" y="3650105"/>
            <a:ext cx="4493144" cy="24497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Pay-as-you-go — 비용 30~50% 절감</a:t>
            </a:r>
          </a:p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   온프레미스 대비 3년 TCO 분석 기준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자동 백업 + Multi-AZ (RPO &lt; 5분)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Read Replica로 수평 스케일 즉시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99.99% SLA, 자동 Multi-AZ 장애조치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자동 패치·마이너 버전 업그레이드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RDS 관리형 서비스 — DBA 운영 부담 ↓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5944440" y="4594980"/>
            <a:ext cx="41148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→</a:t>
            </a:r>
          </a:p>
        </p:txBody>
      </p:sp>
      <p:pic>
        <p:nvPicPr>
          <p:cNvPr id="201" name="Img2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1" name="Img2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91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2. 인프라 전환 KPI 비교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On-Premise 3-Tier → AWS Cloud Native 전환 효과</a:t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인프라 아키텍처 전환 효과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On-Premise 3-Tier → AWS Cloud Native 전환 전/후 KPI 수치 비교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BEFORE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AFTER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862388" y="2897580"/>
            <a:ext cx="4493144" cy="4572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2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99.5%  가용성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836468" y="2897580"/>
            <a:ext cx="4493144" cy="4572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24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99.99%  가용성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862388" y="3354780"/>
            <a:ext cx="4493144" cy="2286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Active-Standby 이중화 기준 (2025년 실측)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6836468" y="3354780"/>
            <a:ext cx="4493144" cy="2286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RDS Multi-AZ SLA (자동 장애조치 60초)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637160" y="3674820"/>
            <a:ext cx="494184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6611040" y="3674820"/>
            <a:ext cx="494184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637160" y="3766260"/>
            <a:ext cx="4484640" cy="17213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▣  네트워크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IDC L4/L7 스위치, 방화벽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▣  웹/AP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물리 서버 WAS 클러스터 (Active-Active)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▣  DB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Oracle Active-Standby / 수동 백업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6611040" y="3766260"/>
            <a:ext cx="4484640" cy="17213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▣  네트워크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VPC + ALB (Application Load Balancer)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▣  웹/AP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EC2 Auto Scaling Group (AZ 이중화)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▣  DB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RDS Multi-AZ / 자동 백업 + PITR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5944440" y="4594980"/>
            <a:ext cx="41148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→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5318760" y="5579040"/>
            <a:ext cx="1554480" cy="45720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▲ 99.5%→99.99%</a:t>
            </a:r>
          </a:p>
        </p:txBody>
      </p:sp>
      <p:pic>
        <p:nvPicPr>
          <p:cNvPr id="201" name="Img2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1" name="Img2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436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3. 도구 선택 프레임워크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4단계 깔때기 평가 — 요구사항 정의부터 도구 선정</a:t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마이그레이션 도구 선택 의사결정 프레임워크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4단계 깔때기 평가 — 요구사항 정의부터 최종 도구 선정까지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3076764"/>
            <a:ext cx="7315200" cy="69504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1단계  요구사항 정의</a:t>
            </a:r>
          </a:p>
          <a:p>
            <a:pPr algn="l"/>
            <a:r>
              <a:rPr sz="1100" b="0" dirty="0">
                <a:solidFill>
                  <a:srgbClr val="0043DA"/>
                </a:solidFill>
                <a:latin typeface="Freesentation"/>
                <a:ea typeface="Freesentation"/>
              </a:rPr>
              <a:t>데이터 볼륨 / RPO·RTO SLA / 변환 복잡도 / 예산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8046720" y="3076764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입력 기준: 이기종 여부, 볼륨 크기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1005840" y="3826668"/>
            <a:ext cx="6217920" cy="695040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2단계  후보 도구 검토</a:t>
            </a:r>
          </a:p>
          <a:p>
            <a:pPr algn="l"/>
            <a:r>
              <a:rPr sz="1100" b="0" dirty="0">
                <a:solidFill>
                  <a:srgbClr val="0043DA"/>
                </a:solidFill>
                <a:latin typeface="Freesentation"/>
                <a:ea typeface="Freesentation"/>
              </a:rPr>
              <a:t>GoldenGate · AWS DMS · DataStage · Debezium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8046720" y="3826668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통과 기준: 공식 지원 + 레퍼런스 존재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1554480" y="4576572"/>
            <a:ext cx="5120640" cy="695040"/>
          </a:xfrm>
          <a:prstGeom prst="rect">
            <a:avLst/>
          </a:prstGeom>
          <a:solidFill>
            <a:srgbClr val="8AB4F8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3단계  PoC 평가</a:t>
            </a:r>
          </a:p>
          <a:p>
            <a:pPr algn="l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성능 테스트 / 비용 분석 / 운영 복잡도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8046720" y="4576572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통과 기준: SLA 충족 + ROI 양수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2103120" y="5326476"/>
            <a:ext cx="4023360" cy="69504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4단계  최종 선정 ★</a:t>
            </a:r>
          </a:p>
          <a:p>
            <a:pPr algn="l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GoldenGate 선정 — 경영 승인 · 계약 · 킥오프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8046720" y="5326476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결과: 6개월 마이그레이션 계획 수립</a:t>
            </a:r>
          </a:p>
        </p:txBody>
      </p:sp>
    </p:spTree>
    <p:extLst>
      <p:ext uri="{BB962C8B-B14F-4D97-AF65-F5344CB8AC3E}">
        <p14:creationId xmlns:p14="http://schemas.microsoft.com/office/powerpoint/2010/main" val="1434484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4. 6개월 마이그레이션 로드맵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4개 워크스트림 동시 진행, 무중단 운영 보장</a:t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6개월 마이그레이션 로드맵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수영장 레인(Swim Lane) — 4개 워크스트림 동시 진행, 무중단 운영 보장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192024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M1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355600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M2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519176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M3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82752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M4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846328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M5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1009904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M6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457200" y="278892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분석·설계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1920240" y="278892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1920240" y="2880360"/>
            <a:ext cx="3271520" cy="72009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현황 분석 · 아키텍처 설계 · 도구 선정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57200" y="378333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파일럿·검증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1920240" y="378333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3556000" y="3874770"/>
            <a:ext cx="3271520" cy="720090"/>
          </a:xfrm>
          <a:prstGeom prst="roundRect">
            <a:avLst>
              <a:gd name="adj" fmla="val 16667"/>
            </a:avLst>
          </a:prstGeom>
          <a:solidFill>
            <a:srgbClr val="3A7BD5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PoC 파일럿 · 성능 테스트 · 정합성 검증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457200" y="477774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마이그레이션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1920240" y="477774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6827520" y="4869180"/>
            <a:ext cx="3271520" cy="720090"/>
          </a:xfrm>
          <a:prstGeom prst="roundRect">
            <a:avLst>
              <a:gd name="adj" fmla="val 16667"/>
            </a:avLst>
          </a:prstGeom>
          <a:solidFill>
            <a:srgbClr val="6B9FFF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컷오버 실행 · 모니터링 강화 · 롤백 대기</a:t>
            </a:r>
          </a:p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457200" y="577215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안정화·종료</a:t>
            </a:r>
          </a:p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1920240" y="577215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8463280" y="5863590"/>
            <a:ext cx="3271520" cy="720090"/>
          </a:xfrm>
          <a:prstGeom prst="roundRect">
            <a:avLst>
              <a:gd name="adj" fmla="val 16667"/>
            </a:avLst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운영 정상화 · 온프레미스 철수 · DBA 교육</a:t>
            </a:r>
          </a:p>
        </p:txBody>
      </p:sp>
    </p:spTree>
    <p:extLst>
      <p:ext uri="{BB962C8B-B14F-4D97-AF65-F5344CB8AC3E}">
        <p14:creationId xmlns:p14="http://schemas.microsoft.com/office/powerpoint/2010/main" val="2925569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5. 핵심 성과 지표 (KPI)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GoldenGate PoC 결과 기반 예상 성과 지표</a:t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마이그레이션 핵심 성과 지표 (KPI)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GoldenGate PoC 결과 기반 예상 성과 — 동일 트래픽 10K RPS 기준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423160"/>
            <a:ext cx="3566400" cy="32918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423160"/>
            <a:ext cx="3566400" cy="18288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697480"/>
            <a:ext cx="3566400" cy="45720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28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▼  40%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457200" y="31546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비용 절감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457200" y="35204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200" b="0" dirty="0">
                <a:solidFill>
                  <a:srgbClr val="505050"/>
                </a:solidFill>
                <a:latin typeface="Freesentation"/>
                <a:ea typeface="Freesentation"/>
              </a:rPr>
              <a:t>라이선스 + 인프라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731520" y="4069080"/>
            <a:ext cx="301776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457200" y="416052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온프레미스 Oracle 대비 3년 TCO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57200" y="44348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Pay-as-you-go 전환 효과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57200" y="49834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000" b="0" dirty="0">
                <a:solidFill>
                  <a:srgbClr val="505050"/>
                </a:solidFill>
                <a:latin typeface="Freesentation"/>
                <a:ea typeface="Freesentation"/>
              </a:rPr>
              <a:t>(2026 PoC 기준)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312800" y="2423160"/>
            <a:ext cx="3566400" cy="32918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312800" y="2423160"/>
            <a:ext cx="3566400" cy="18288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4312800" y="2697480"/>
            <a:ext cx="3566400" cy="45720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28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▼  &lt; 5분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4312800" y="31546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RPO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4312800" y="35204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200" b="0" dirty="0">
                <a:solidFill>
                  <a:srgbClr val="505050"/>
                </a:solidFill>
                <a:latin typeface="Freesentation"/>
                <a:ea typeface="Freesentation"/>
              </a:rPr>
              <a:t>자동 백업 복구 목표</a:t>
            </a:r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4587120" y="4069080"/>
            <a:ext cx="301776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4312800" y="416052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RDS Multi-AZ 자동 백업 + PITR</a:t>
            </a:r>
          </a:p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4312800" y="44348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24시간+ → 5분 이내로 단축</a:t>
            </a:r>
          </a:p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4312800" y="49834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000" b="0" dirty="0">
                <a:solidFill>
                  <a:srgbClr val="505050"/>
                </a:solidFill>
                <a:latin typeface="Freesentation"/>
                <a:ea typeface="Freesentation"/>
              </a:rPr>
              <a:t>(Multi-AZ SLA 기준)</a:t>
            </a:r>
          </a:p>
        </p:txBody>
      </p:sp>
      <p:sp>
        <p:nvSpPr>
          <p:cNvPr id="221" name="S221"/>
          <p:cNvSpPr>
            <a:spLocks noGrp="1"/>
          </p:cNvSpPr>
          <p:nvPr/>
        </p:nvSpPr>
        <p:spPr>
          <a:xfrm>
            <a:off x="8168400" y="2423160"/>
            <a:ext cx="3566400" cy="32918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22" name="S222"/>
          <p:cNvSpPr>
            <a:spLocks noGrp="1"/>
          </p:cNvSpPr>
          <p:nvPr/>
        </p:nvSpPr>
        <p:spPr>
          <a:xfrm>
            <a:off x="8168400" y="2423160"/>
            <a:ext cx="3566400" cy="18288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3" name="S223"/>
          <p:cNvSpPr>
            <a:spLocks noGrp="1"/>
          </p:cNvSpPr>
          <p:nvPr/>
        </p:nvSpPr>
        <p:spPr>
          <a:xfrm>
            <a:off x="8168400" y="2697480"/>
            <a:ext cx="3566400" cy="45720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28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▼  &lt; 2시간</a:t>
            </a:r>
          </a:p>
        </p:txBody>
      </p:sp>
      <p:sp>
        <p:nvSpPr>
          <p:cNvPr id="224" name="S224"/>
          <p:cNvSpPr>
            <a:spLocks noGrp="1"/>
          </p:cNvSpPr>
          <p:nvPr/>
        </p:nvSpPr>
        <p:spPr>
          <a:xfrm>
            <a:off x="8168400" y="31546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다운타임</a:t>
            </a:r>
          </a:p>
        </p:txBody>
      </p:sp>
      <p:sp>
        <p:nvSpPr>
          <p:cNvPr id="225" name="S225"/>
          <p:cNvSpPr>
            <a:spLocks noGrp="1"/>
          </p:cNvSpPr>
          <p:nvPr/>
        </p:nvSpPr>
        <p:spPr>
          <a:xfrm>
            <a:off x="8168400" y="35204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200" b="0" dirty="0">
                <a:solidFill>
                  <a:srgbClr val="505050"/>
                </a:solidFill>
                <a:latin typeface="Freesentation"/>
                <a:ea typeface="Freesentation"/>
              </a:rPr>
              <a:t>컷오버 기준</a:t>
            </a:r>
          </a:p>
        </p:txBody>
      </p:sp>
      <p:sp>
        <p:nvSpPr>
          <p:cNvPr id="226" name="S226"/>
          <p:cNvSpPr>
            <a:spLocks noGrp="1"/>
          </p:cNvSpPr>
          <p:nvPr/>
        </p:nvSpPr>
        <p:spPr>
          <a:xfrm>
            <a:off x="8442720" y="4069080"/>
            <a:ext cx="301776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7" name="S227"/>
          <p:cNvSpPr>
            <a:spLocks noGrp="1"/>
          </p:cNvSpPr>
          <p:nvPr/>
        </p:nvSpPr>
        <p:spPr>
          <a:xfrm>
            <a:off x="8168400" y="416052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롤백 포함 유지보수 윈도우</a:t>
            </a:r>
          </a:p>
        </p:txBody>
      </p:sp>
      <p:sp>
        <p:nvSpPr>
          <p:cNvPr id="228" name="S228"/>
          <p:cNvSpPr>
            <a:spLocks noGrp="1"/>
          </p:cNvSpPr>
          <p:nvPr/>
        </p:nvSpPr>
        <p:spPr>
          <a:xfrm>
            <a:off x="8168400" y="44348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병렬 운영 + Blue/Green 방식</a:t>
            </a:r>
          </a:p>
        </p:txBody>
      </p:sp>
      <p:sp>
        <p:nvSpPr>
          <p:cNvPr id="229" name="S229"/>
          <p:cNvSpPr>
            <a:spLocks noGrp="1"/>
          </p:cNvSpPr>
          <p:nvPr/>
        </p:nvSpPr>
        <p:spPr>
          <a:xfrm>
            <a:off x="8168400" y="49834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000" b="0" dirty="0">
                <a:solidFill>
                  <a:srgbClr val="505050"/>
                </a:solidFill>
                <a:latin typeface="Freesentation"/>
                <a:ea typeface="Freesentation"/>
              </a:rPr>
              <a:t>(컷오버 계획 기준)</a:t>
            </a:r>
          </a:p>
        </p:txBody>
      </p:sp>
      <p:sp>
        <p:nvSpPr>
          <p:cNvPr id="230" name="S230"/>
          <p:cNvSpPr>
            <a:spLocks noGrp="1"/>
          </p:cNvSpPr>
          <p:nvPr/>
        </p:nvSpPr>
        <p:spPr>
          <a:xfrm>
            <a:off x="457200" y="6126480"/>
            <a:ext cx="11277600" cy="54864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📊  종합: GoldenGate PoC 결과 — 비용 40% 절감 + RPO 5분 + 컷오버 2시간 이내 달성 목표</a:t>
            </a:r>
          </a:p>
        </p:txBody>
      </p:sp>
    </p:spTree>
    <p:extLst>
      <p:ext uri="{BB962C8B-B14F-4D97-AF65-F5344CB8AC3E}">
        <p14:creationId xmlns:p14="http://schemas.microsoft.com/office/powerpoint/2010/main" val="17191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6. 운영 Do &amp; Don't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실패 사례에서 학습한 현장 검증 체크리스트</a:t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마이그레이션 운영 Do &amp; Don't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실패 사례에서 학습한 현장 검증 필수 체크리스트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16667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762006" y="260312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876360" y="2853659"/>
            <a:ext cx="464808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✅  DO — 반드시 해야 할 것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876360" y="3232952"/>
            <a:ext cx="4648080" cy="293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사전 데이터 정합성 검증 (row count + checksum)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전용선 사용 — Direct Connect 또는 Site-to-Site VPN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롤백 플랜 및 컷오프 기준 사전 문서화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단계적 전환 — 테이블 우선순위별 순차 이관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전환 전 48시간 이상 병렬 운영 및 검증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CloudWatch + 알람 설정 완료 후 컷오버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16667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710520" y="2853659"/>
            <a:ext cx="464808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✘  DON'T — 절대 하지 말 것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710520" y="3232952"/>
            <a:ext cx="4648080" cy="293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인터넷 망으로 대용량 데이터 전송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운영 DB에서 직접 CDC 설정 테스트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검증 단계 생략 후 즉시 전환 진행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모니터링 미설정 상태에서 자동화 실행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단일 담당자만으로 컷오버 진행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원본 DB 즉시 철수 (최소 2주 보존 필수)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📋  준수 현황: 6개 항목 전체 이행 — 컷오버 승인 게이트 통과 조건 완비</a:t>
            </a:r>
          </a:p>
        </p:txBody>
      </p:sp>
    </p:spTree>
    <p:extLst>
      <p:ext uri="{BB962C8B-B14F-4D97-AF65-F5344CB8AC3E}">
        <p14:creationId xmlns:p14="http://schemas.microsoft.com/office/powerpoint/2010/main" val="345444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7. GoldenGate SWOT 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AWS 전환 프로젝트 GoldenGate 선택 전략 분석</a:t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Oracle GoldenGate 도입 SWOT 분석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AWS 전환 프로젝트에서 GoldenGate 선택 시 전략적 고려 사항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423160"/>
            <a:ext cx="5593080" cy="18288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내부 요인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6141720" y="2423160"/>
            <a:ext cx="5593080" cy="18288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외부 요인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606040"/>
            <a:ext cx="5593080" cy="1714500"/>
          </a:xfrm>
          <a:prstGeom prst="rect">
            <a:avLst/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457200" y="2606040"/>
            <a:ext cx="5593080" cy="320040"/>
          </a:xfrm>
          <a:prstGeom prst="rect">
            <a:avLst/>
          </a:prstGeom>
          <a:solidFill>
            <a:srgbClr val="4CB88F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💪  강점 (Strength)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457200" y="298608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공식 인증 CDC — Redo Log 비침투적 복제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양방향 복제 (Active-Active) 지원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DDL 복제 및 SQLEXEC 변환 기능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19c+ Microservices 아키텍처 지원</a:t>
            </a:r>
          </a:p>
          <a:p>
            <a:pPr algn="l"/>
            <a:endParaRPr sz="400"/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41720" y="2606040"/>
            <a:ext cx="5593080" cy="1714500"/>
          </a:xfrm>
          <a:prstGeom prst="rect">
            <a:avLst/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141720" y="2606040"/>
            <a:ext cx="5593080" cy="32004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🎯  기회 (Opportunity)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6141720" y="298608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AWS OCI GoldenGate SaaS 출시 — 관리형 전환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실시간 CDC 분석 수요 급증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금융·공공 레퍼런스 풍부 (국내 15건+)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→ 클라우드 마이그레이션 확산</a:t>
            </a:r>
          </a:p>
          <a:p>
            <a:pPr algn="l"/>
            <a:endParaRPr sz="400"/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57200" y="4411980"/>
            <a:ext cx="5593080" cy="1714500"/>
          </a:xfrm>
          <a:prstGeom prst="rect">
            <a:avLst/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57200" y="4411980"/>
            <a:ext cx="5593080" cy="320040"/>
          </a:xfrm>
          <a:prstGeom prst="rect">
            <a:avLst/>
          </a:prstGeom>
          <a:solidFill>
            <a:srgbClr val="EE8150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⚠️  약점 (Weakness)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57200" y="479202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높은 라이선스·유지보수 비용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0043DA"/>
                </a:solidFill>
                <a:latin typeface="Freesentation"/>
                <a:ea typeface="Freesentation"/>
              </a:rPr>
              <a:t>   → 단계별 구독 전환으로 비용 분산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플랫폼 종속성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OGG DBA 전문 인력 필수 (운영 복잡도)</a:t>
            </a:r>
          </a:p>
          <a:p>
            <a:pPr algn="l"/>
            <a:endParaRPr sz="400"/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6141720" y="4411980"/>
            <a:ext cx="5593080" cy="1714500"/>
          </a:xfrm>
          <a:prstGeom prst="rect">
            <a:avLst/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6141720" y="4411980"/>
            <a:ext cx="5593080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⛔  위협 (Threat)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6141720" y="479202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AWS DMS 무료 서비스 경쟁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0043DA"/>
                </a:solidFill>
                <a:latin typeface="Freesentation"/>
                <a:ea typeface="Freesentation"/>
              </a:rPr>
              <a:t>   → Oracle 특화 기능으로 차별화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오픈소스 CDC(Debezium) 성장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라이선스 정책 변화 리스크</a:t>
            </a:r>
          </a:p>
          <a:p>
            <a:pPr algn="l"/>
            <a:endParaRPr sz="400"/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457200" y="6217920"/>
            <a:ext cx="1127760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📋  전략 방향: SO전략 집중 — AWS OCI GoldenGate 활용 + 금융권 선점 | WO: 라이선스 구독 전환으로 초기 비용 해소</a:t>
            </a:r>
          </a:p>
        </p:txBody>
      </p:sp>
    </p:spTree>
    <p:extLst>
      <p:ext uri="{BB962C8B-B14F-4D97-AF65-F5344CB8AC3E}">
        <p14:creationId xmlns:p14="http://schemas.microsoft.com/office/powerpoint/2010/main" val="1978617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 smtClean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  <a:endParaRPr lang="en-US" altLang="ko-KR" sz="6000" dirty="0">
              <a:solidFill>
                <a:schemeClr val="bg1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7872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 smtClean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  <a:endParaRPr lang="en-US" altLang="ko-KR" sz="2800" dirty="0">
              <a:solidFill>
                <a:srgbClr val="0043DA"/>
              </a:solidFill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6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3927349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운영 Do &amp; Don't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GoldenGate SWOT 분석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2163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6789</TotalTime>
  <Words>3134</Words>
  <Application>Microsoft Office PowerPoint</Application>
  <PresentationFormat>와이드스크린</PresentationFormat>
  <Paragraphs>739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2" baseType="lpstr">
      <vt:lpstr>Pretendard</vt:lpstr>
      <vt:lpstr>Pretendard ExtraBold</vt:lpstr>
      <vt:lpstr>맑은 고딕</vt:lpstr>
      <vt:lpstr>맑은 고딕</vt:lpstr>
      <vt:lpstr>프리젠테이션 4 Regular</vt:lpstr>
      <vt:lpstr>프리젠테이션 5 Medium</vt:lpstr>
      <vt:lpstr>프리젠테이션 6 SemiBold</vt:lpstr>
      <vt:lpstr>프리젠테이션 7 Bold</vt:lpstr>
      <vt:lpstr>Arial</vt:lpstr>
      <vt:lpstr>Segoe UI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디자인</cp:lastModifiedBy>
  <cp:revision>772</cp:revision>
  <dcterms:created xsi:type="dcterms:W3CDTF">2022-03-02T05:40:55Z</dcterms:created>
  <dcterms:modified xsi:type="dcterms:W3CDTF">2025-02-21T00:46:30Z</dcterms:modified>
</cp:coreProperties>
</file>