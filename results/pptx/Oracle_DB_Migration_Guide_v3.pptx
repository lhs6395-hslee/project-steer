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58" r:id="rId2"/>
    <p:sldId id="304" r:id="rId3"/>
    <p:sldId id="363" r:id="rId4"/>
    <p:sldId id="364" r:id="rId5"/>
    <p:sldId id="365" r:id="rId6"/>
    <p:sldId id="366" r:id="rId7"/>
    <p:sldId id="367" r:id="rId8"/>
    <p:sldId id="374" r:id="rId9"/>
    <p:sldId id="369" r:id="rId10"/>
    <p:sldId id="371" r:id="rId11"/>
    <p:sldId id="37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07F8F92-E977-4AF4-A17B-064B3F7C6292}">
          <p14:sldIdLst>
            <p14:sldId id="358"/>
          </p14:sldIdLst>
        </p14:section>
        <p14:section name="목차" id="{274BBB5B-E2ED-467F-AF7A-784F9A4055E0}">
          <p14:sldIdLst>
            <p14:sldId id="304"/>
            <p14:sldId id="363"/>
          </p14:sldIdLst>
        </p14:section>
        <p14:section name="본문" id="{2BBFEB54-47FC-4EC8-AE18-073925A68771}">
          <p14:sldIdLst>
            <p14:sldId id="364"/>
            <p14:sldId id="365"/>
            <p14:sldId id="366"/>
            <p14:sldId id="367"/>
            <p14:sldId id="374"/>
            <p14:sldId id="369"/>
            <p14:sldId id="371"/>
            <p14:sldId id="372"/>
            <p14:sldId id="373"/>
            <p14:sldId id="375"/>
            <p14:sldId id="376"/>
            <p14:sldId id="377"/>
            <p14:sldId id="378"/>
            <p14:sldId id="379"/>
            <p14:sldId id="380"/>
            <p14:sldId id="381"/>
            <p14:sldId id="314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</p14:sldIdLst>
        </p14:section>
        <p14:section name="끝맺음" id="{C9A1EC51-E183-4528-B5C9-C551F42A7D16}">
          <p14:sldIdLst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DA"/>
    <a:srgbClr val="D9E5FF"/>
    <a:srgbClr val="B7CDFF"/>
    <a:srgbClr val="F2F5FD"/>
    <a:srgbClr val="F8FAFE"/>
    <a:srgbClr val="FBFBFB"/>
    <a:srgbClr val="89AEFF"/>
    <a:srgbClr val="3372FF"/>
    <a:srgbClr val="D1DFFF"/>
    <a:srgbClr val="EE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4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tableStyles" Target="tableStyles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0D723-4A74-427C-8704-F358CE22FDDC}" type="datetimeFigureOut">
              <a:rPr lang="ko-KR" altLang="en-US" smtClean="0"/>
              <a:t>2026. 4. 21.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1117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78F70-37B2-44B5-9F4B-14A4EA9C44E7}" type="datetimeFigureOut">
              <a:rPr lang="ko-KR" altLang="en-US" smtClean="0"/>
              <a:t>2026. 4. 21.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6B27-1065-44B6-A758-016B3436B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0647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78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8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496718"/>
            <a:ext cx="12192001" cy="5361282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93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10800000">
            <a:off x="0" y="1496718"/>
            <a:ext cx="12192001" cy="5361282"/>
          </a:xfrm>
          <a:prstGeom prst="rect">
            <a:avLst/>
          </a:prstGeom>
          <a:gradFill>
            <a:gsLst>
              <a:gs pos="100000">
                <a:srgbClr val="0043DA">
                  <a:alpha val="4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52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3367314" y="397805"/>
            <a:ext cx="0" cy="646019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59076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구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3367314" y="397805"/>
            <a:ext cx="8817263" cy="6460195"/>
          </a:xfrm>
          <a:prstGeom prst="rect">
            <a:avLst/>
          </a:prstGeom>
          <a:solidFill>
            <a:schemeClr val="accent5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17" name="직선 연결선 16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1656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강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58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5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9537-3B6C-4308-9077-364C9BAEF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9" r:id="rId2"/>
    <p:sldLayoutId id="2147483674" r:id="rId3"/>
    <p:sldLayoutId id="2147483676" r:id="rId4"/>
    <p:sldLayoutId id="2147483670" r:id="rId5"/>
    <p:sldLayoutId id="2147483671" r:id="rId6"/>
    <p:sldLayoutId id="2147483673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0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microsoft.com/office/drawing/2014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0" name="그림 9"/>
          <ns0:cNvPicPr>
            <ns1:picLocks noChangeAspect="1"/>
          </ns0:cNvPicPr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-13619"/>
            <ns1:ext cx="12192000" cy="6857195"/>
          </ns1:xfrm>
          <ns1:prstGeom prst="rect">
            <ns1:avLst/>
          </ns1:prstGeom>
        </ns0:spPr>
      </ns0:pic>
      <ns0:pic>
        <ns0:nvPicPr>
          <ns0:cNvPr id="18" name="그림 17"/>
          <ns0:cNvPicPr>
            <ns1:picLocks noChangeAspect="1"/>
          </ns0:cNvPicPr>
          <ns0:nvPr/>
        </ns0:nvPicPr>
        <ns0:blipFill>
          <ns1:blip ns2:embed="rId3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355601" y="5948604"/>
            <ns1:ext cx="1329872" cy="330546"/>
          </ns1:xfrm>
          <ns1:prstGeom prst="rect">
            <ns1:avLst/>
          </ns1:prstGeom>
        </ns0:spPr>
      </ns0:pic>
      <ns0:sp>
        <ns0:nvSpPr>
          <ns0:cNvPr id="24" name="TextBox 23"/>
          <ns0:cNvSpPr txBox="1"/>
          <ns0:nvPr/>
        </ns0:nvSpPr>
        <ns0:spPr>
          <ns1:xfrm>
            <ns1:off x="3138715" y="5760410"/>
            <ns1:ext cx="1940700" cy="923183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 latinLnBrk="0">
              <ns1:lnSpc>
                <ns1:spcPct val="150000"/>
              </ns1:lnSpc>
            </ns1:pPr>
            <ns1:r>
              <ns1:rPr lang="ko-KR" altLang="en-US" sz="11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고객의 </ns1:t>
            </ns1:r>
            <ns1:r>
              <ns1:rPr lang="en-US" altLang="ko-KR" sz="11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Digitalization</ns1:t>
            </ns1:r>
            <ns1:r>
              <ns1:rPr lang="ko-KR" altLang="en-US" sz="11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을 선도하는</ns1:t>
            </ns1:r>
            <ns1:r>
              <ns1:rPr lang="en-US" altLang="ko-KR" sz="11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, </ns1:t>
            </ns1:r>
          </ns1:p>
          <ns1:p>
            <ns1:pPr latinLnBrk="0">
              <ns1:lnSpc>
                <ns1:spcPct val="150000"/>
              </ns1:lnSpc>
            </ns1:pPr>
            <ns1:r>
              <ns1:rPr lang="en-US" altLang="ko-KR" sz="11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DX </ns1:t>
            </ns1:r>
            <ns1:r>
              <ns1:rPr lang="ko-KR" altLang="en-US" sz="11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전문기업</ns1:t>
            </ns1:r>
            <ns1:endParaRPr lang="en-US" altLang="ko-KR" sz="1100" b="1" dirty="0">
              <ns1:ln>
                <ns1:solidFill>
                  <ns1:schemeClr val="accent1">
                    <ns1:alpha val="0"/>
                  </ns1:schemeClr>
                </ns1:solidFill>
              </ns1:ln>
              <ns1:solidFill>
                <ns1:schemeClr val="bg1">
                  <ns1:alpha val="80000"/>
                </ns1:schemeClr>
              </ns1:solidFill>
              <ns1:latin typeface="프리젠테이션 6 SemiBold" pitchFamily="2" charset="-127"/>
              <ns1:ea typeface="프리젠테이션 6 SemiBold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5588000" y="5760410"/>
            <ns1:ext cx="5965370" cy="923183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 latinLnBrk="0">
              <ns1:lnSpc>
                <ns1:spcPct val="150000"/>
              </ns1:lnSpc>
            </ns1:pPr>
            <ns1:r>
              <ns1:rPr lang="en-US" altLang="ko-KR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AI, Cloud, </ns1:t>
            </ns1:r>
            <ns1:r>
              <ns1:rPr lang="en-US" altLang="ko-KR" sz="1100" b="1" dirty="0" err="1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BigData</ns1:t>
            </ns1:r>
            <ns1:r>
              <ns1:rPr lang="en-US" altLang="ko-KR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, CDN, Contact Center, </ns1:t>
            </ns1:r>
            <ns1:r>
              <ns1:rPr lang="ko-KR" altLang="en-US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스마트 물류</ns1:t>
            </ns1:r>
            <ns1:r>
              <ns1:rPr lang="en-US" altLang="ko-KR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, </ns1:t>
            </ns1:r>
            <ns1:r>
              <ns1:rPr lang="ko-KR" altLang="en-US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스마트 인프라 등 다양한 영역에서 </ns1:t>
            </ns1:r>
            <ns1:endParaRPr lang="en-US" altLang="ko-KR" sz="1100" b="1" dirty="0">
              <ns1:ln>
                <ns1:solidFill>
                  <ns1:schemeClr val="accent1">
                    <ns1:alpha val="0"/>
                  </ns1:schemeClr>
                </ns1:solidFill>
              </ns1:ln>
              <ns1:solidFill>
                <ns1:schemeClr val="bg1">
                  <ns1:alpha val="80000"/>
                </ns1:schemeClr>
              </ns1:solidFill>
              <ns1:latin typeface="프리젠테이션 6 SemiBold" pitchFamily="2" charset="-127"/>
              <ns1:ea typeface="프리젠테이션 6 SemiBold" pitchFamily="2" charset="-127"/>
              <ns1:cs typeface="Pretendard" panose="02000503000000020004" pitchFamily="2" charset="-127"/>
            </ns1:endParaRPr>
          </ns1:p>
          <ns1:p>
            <ns1:pPr latinLnBrk="0">
              <ns1:lnSpc>
                <ns1:spcPct val="150000"/>
              </ns1:lnSpc>
            </ns1:pPr>
            <ns1:r>
              <ns1:rPr lang="ko-KR" altLang="en-US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고객의 </ns1:t>
            </ns1:r>
            <ns1:r>
              <ns1:rPr lang="en-US" altLang="ko-KR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Business</ns1:t>
            </ns1:r>
            <ns1:r>
              <ns1:rPr lang="ko-KR" altLang="en-US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를 선도하는 </ns1:t>
            </ns1:r>
            <ns1:r>
              <ns1:rPr lang="en-US" altLang="ko-KR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Digital Innovator</ns1:t>
            </ns1:r>
            <ns1:r>
              <ns1:rPr lang="ko-KR" altLang="en-US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입니다</ns1:t>
            </ns1:r>
            <ns1:r>
              <ns1:rPr lang="en-US" altLang="ko-KR" sz="1100" b="1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6 SemiBold" pitchFamily="2" charset="-127"/>
                <ns1:ea typeface="프리젠테이션 6 SemiBold" pitchFamily="2" charset="-127"/>
                <ns1:cs typeface="Pretendard" panose="02000503000000020004" pitchFamily="2" charset="-127"/>
              </ns1:rPr>
              <ns1:t>.</ns1:t>
            </ns1:r>
          </ns1:p>
        </ns0:txBody>
      </ns0:sp>
      <ns0:cxnSp>
        <ns0:nvCxnSpPr>
          <ns0:cNvPr id="28" name="직선 연결선 27"/>
          <ns0:cNvCxnSpPr/>
          <ns0:nvPr/>
        </ns0:nvCxnSpPr>
        <ns0:spPr>
          <ns1:xfrm>
            <ns1:off x="355601" y="5759125"/>
            <ns1:ext cx="11444514" cy="0"/>
          </ns1:xfrm>
          <ns1:prstGeom prst="line">
            <ns1:avLst/>
          </ns1:prstGeom>
          <ns1:ln w="3175">
            <ns1:solidFill>
              <ns1:schemeClr val="bg1">
                <ns1:lumMod val="75000"/>
                <ns1:alpha val="33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9" name="TextBox 28"/>
          <ns0:cNvSpPr txBox="1"/>
          <ns0:nvPr/>
        </ns0:nvSpPr>
        <ns0:spPr>
          <ns1:xfrm>
            <ns1:off x="357415" y="29028"/>
            <ns1:ext cx="1940700" cy="397808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 latinLnBrk="0">
              <ns1:lnSpc>
                <ns1:spcPct val="150000"/>
              </ns1:lnSpc>
            </ns1:pPr>
            <ns1:r>
              <ns1:rPr lang="en-US" altLang="ko-KR" sz="12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2026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3138715" y="29028"/>
            <ns1:ext cx="1940700" cy="397808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 latinLnBrk="0">
              <ns1:lnSpc>
                <ns1:spcPct val="150000"/>
              </ns1:lnSpc>
            </ns1:pPr>
            <ns1:r>
              <ns1:rPr lang="en-US" altLang="ko-KR" sz="12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>
                    <ns1:alpha val="80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04/21</ns1:t>
            </ns1:r>
          </ns1:p>
        </ns0:txBody>
      </ns0:sp>
      <ns0:sp>
        <ns0:nvSpPr>
          <ns0:cNvPr id="2" name="TextBox 1">
            <ns1:extLst>
              <ns1:ext uri="{FF2B5EF4-FFF2-40B4-BE49-F238E27FC236}">
                <ns4:creationId id="{0FAB2699-131C-8D31-794B-9B2824513DFE}"/>
              </ns1:ext>
            </ns1:extLst>
          </ns0:cNvPr>
          <ns0:cNvSpPr txBox="1"/>
          <ns0:nvPr/>
        </ns0:nvSpPr>
        <ns0:spPr>
          <ns1:xfrm>
            <ns1:off x="3130368" y="1846736"/>
            <ns1:ext cx="5931264" cy="1906474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 latinLnBrk="0"/>
            <ns1:r>
              <ns1:rPr lang="en-US" altLang="ko-KR" sz="50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/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Oracle DB 마이그레이션</ns1:t>
            </ns1:r>
          </ns1:p>
          <ns1:p>
            <ns1:pPr latinLnBrk="0"/>
            <ns1:r>
              <ns1:rPr lang="en-US" altLang="ko-KR" sz="50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/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실전 전략 가이드</ns1:t>
            </ns1:r>
          </ns1:p>
        </ns0:txBody>
      </ns0:sp>
      <ns0:sp>
        <ns0:nvSpPr>
          <ns0:cNvPr id="3" name="TextBox 2">
            <ns1:extLst>
              <ns1:ext uri="{FF2B5EF4-FFF2-40B4-BE49-F238E27FC236}">
                <ns4:creationId id="{08B5BFB3-9BDB-7CF2-577A-FC4D95FDD9BB}"/>
              </ns1:ext>
            </ns1:extLst>
          </ns0:cNvPr>
          <ns0:cNvSpPr txBox="1"/>
          <ns0:nvPr/>
        </ns0:nvSpPr>
        <ns0:spPr>
          <ns1:xfrm>
            <ns1:off x="3130368" y="3890370"/>
            <ns1:ext cx="5931264" cy="543635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 latinLnBrk="0"/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bg1"/>
                </ns1:solidFill>
                <ns1:latin typeface="프리젠테이션 4 Regular" pitchFamily="2" charset="-127"/>
                <ns1:ea typeface="프리젠테이션 4 Regular" pitchFamily="2" charset="-127"/>
                <ns1:cs typeface="Pretendard" panose="02000503000000020004" pitchFamily="2" charset="-127"/>
              </ns1:rPr>
              <ns1:t>On-Premise Oracle → AWS Oracle RDS 전환을 위한 아키텍처·도구·운영 가이드</ns1:t>
            </ns1:r>
          </ns1:p>
        </ns0:txBody>
      </ns0:sp>
    </ns0:spTree>
    <ns0:extLst>
      <ns0:ext uri="{BB962C8B-B14F-4D97-AF65-F5344CB8AC3E}">
        <ns5:creationId val="1279385727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" name="TextBox 18"/>
          <ns0:cNvSpPr txBox="1"/>
          <ns0:nvPr/>
        </ns0:nvSpPr>
        <ns0:spPr>
          <ns1:xfrm>
            <ns1:off x="354805" y="545902"/>
            <ns1:ext cx="3112294" cy="510768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noAutofit/>
          </ns1:bodyPr>
          <ns1:lstStyle/>
          <ns1:p>
            <ns1:pPr>
              <ns1:lnSpc>
                <ns1:spcPct val="120000"/>
              </ns1:lnSpc>
            </ns1:pPr>
            <ns1:r>
              <ns1:rPr lang="en-US" altLang="ko-KR" sz="2800" dirty="0">
                <ns1:solidFill>
                  <ns1:srgbClr val="0043DA"/>
                </ns1:solidFill>
                <ns1:latin typeface="프리젠테이션 7 Bold" pitchFamily="2" charset="-127"/>
                <ns1:ea typeface="프리젠테이션 7 Bold" pitchFamily="2" charset="-127"/>
                <ns1:cs typeface="Pretendard ExtraBold" panose="02000903000000020004" pitchFamily="2" charset="-127"/>
              </ns1:rPr>
              <ns1:t>CONTENTS</ns1:t>
            </ns1:r>
          </ns1:p>
        </ns0:txBody>
      </ns0:sp>
      <ns0:sp>
        <ns0:nvSpPr>
          <ns0:cNvPr id="49" name="TextBox 48"/>
          <ns0:cNvSpPr txBox="1"/>
          <ns0:nvPr/>
        </ns0:nvSpPr>
        <ns0:spPr>
          <ns1:xfrm>
            <ns1:off x="3367314" y="1715534"/>
            <ns1:ext cx="1161474" cy="4616648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spAutoFit/>
          </ns1:bodyPr>
          <ns1:lstStyle/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1</ns1:t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2</ns1:t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3</ns1:t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4</ns1:t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5</ns1:t>
            </ns1:r>
          </ns1:p>
        </ns0:txBody>
      </ns0:sp>
      <ns0:sp>
        <ns0:nvSpPr>
          <ns0:cNvPr id="50" name="TextBox 49"/>
          <ns0:cNvSpPr txBox="1"/>
          <ns0:nvPr/>
        </ns0:nvSpPr>
        <ns0:spPr>
          <ns1:xfrm>
            <ns1:off x="4543668" y="1715534"/>
            <ns1:ext cx="5129783" cy="4616648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spAutoFit/>
          </ns1:bodyPr>
          <ns1:lstStyle/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AS-IS / TO-BE 현황 분석</ns1:t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인프라 전환 KPI 비교</ns1:t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도구 선택 프레임워크</ns1:t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6개월 마이그레이션 로드맵</ns1:t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핵심 성과 지표 (KPI)</ns1:t>
            </ns1:r>
          </ns1:p>
        </ns0:txBody>
      </ns0:sp>
      <ns0:grpSp>
        <ns0:nvGrpSpPr>
          <ns0:cNvPr id="53" name="그룹 52"/>
          <ns0:cNvGrpSpPr/>
          <ns0:nvPr/>
        </ns0:nvGrpSpPr>
        <ns0:grpSpPr>
          <ns1:xfrm>
            <ns1:off x="3806048" y="2760055"/>
            <ns1:ext cx="8385952" cy="2761457"/>
            <ns1:chOff x="3764222" y="1060078"/>
            <ns1:chExt cx="5147549" cy="1685118"/>
          </ns1:xfrm>
        </ns0:grpSpPr>
        <ns0:cxnSp>
          <ns0:nvCxnSpPr>
            <ns0:cNvPr id="54" name="직선 연결선 53"/>
            <ns0:cNvCxnSpPr/>
            <ns0:nvPr/>
          </ns0:nvCxnSpPr>
          <ns0:spPr>
            <ns1:xfrm>
              <ns1:off x="3764222" y="1060078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cxnSp>
          <ns0:nvCxnSpPr>
            <ns0:cNvPr id="55" name="직선 연결선 54"/>
            <ns0:cNvCxnSpPr/>
            <ns0:nvPr/>
          </ns0:nvCxnSpPr>
          <ns0:spPr>
            <ns1:xfrm>
              <ns1:off x="3764222" y="1621784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cxnSp>
          <ns0:nvCxnSpPr>
            <ns0:cNvPr id="56" name="직선 연결선 55"/>
            <ns0:cNvCxnSpPr/>
            <ns0:nvPr/>
          </ns0:nvCxnSpPr>
          <ns0:spPr>
            <ns1:xfrm>
              <ns1:off x="3764222" y="2183490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cxnSp>
          <ns0:nvCxnSpPr>
            <ns0:cNvPr id="57" name="직선 연결선 56"/>
            <ns0:cNvCxnSpPr/>
            <ns0:nvPr/>
          </ns0:nvCxnSpPr>
          <ns0:spPr>
            <ns1:xfrm>
              <ns1:off x="3764222" y="2745196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2" name="텍스트 개체 틀 1"/>
          <ns0:cNvSpPr>
            <ns1:spLocks noGrp="1"/>
          </ns0:cNvSpPr>
          <ns0:nvPr>
            <ns0:ph type="body" sz="quarter" idx="10"/>
          </ns0:nvPr>
        </ns0:nvSpPr>
        <ns0:spPr/>
        <ns0:txBody>
          <ns1:bodyPr/>
          <ns1:lstStyle/>
          <ns1:p>
            <ns1:endParaRPr lang="ko-KR" altLang="en-US" dirty="0"/>
          </ns1:p>
        </ns0:txBody>
      </ns0:sp>
    </ns0:spTree>
    <ns0:extLst>
      <ns0:ext uri="{BB962C8B-B14F-4D97-AF65-F5344CB8AC3E}">
        <ns2:creationId val="2252550207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" name="TextBox 18"/>
          <ns0:cNvSpPr txBox="1"/>
          <ns0:nvPr/>
        </ns0:nvSpPr>
        <ns0:spPr>
          <ns1:xfrm>
            <ns1:off x="354805" y="545902"/>
            <ns1:ext cx="3112294" cy="510768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noAutofit/>
          </ns1:bodyPr>
          <ns1:lstStyle/>
          <ns1:p>
            <ns1:pPr>
              <ns1:lnSpc>
                <ns1:spcPct val="120000"/>
              </ns1:lnSpc>
            </ns1:pPr>
            <ns1:r>
              <ns1:rPr lang="en-US" altLang="ko-KR" sz="2800" dirty="0">
                <ns1:solidFill>
                  <ns1:srgbClr val="0043DA"/>
                </ns1:solidFill>
                <ns1:latin typeface="프리젠테이션 7 Bold" pitchFamily="2" charset="-127"/>
                <ns1:ea typeface="프리젠테이션 7 Bold" pitchFamily="2" charset="-127"/>
                <ns1:cs typeface="Pretendard ExtraBold" panose="02000903000000020004" pitchFamily="2" charset="-127"/>
              </ns1:rPr>
              <ns1:t>CONTENTS</ns1:t>
            </ns1:r>
          </ns1:p>
        </ns0:txBody>
      </ns0:sp>
      <ns0:sp>
        <ns0:nvSpPr>
          <ns0:cNvPr id="49" name="TextBox 48"/>
          <ns0:cNvSpPr txBox="1"/>
          <ns0:nvPr/>
        </ns0:nvSpPr>
        <ns0:spPr>
          <ns1:xfrm>
            <ns1:off x="3367314" y="1715534"/>
            <ns1:ext cx="1161474" cy="4616648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spAutoFit/>
          </ns1:bodyPr>
          <ns1:lstStyle/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6</ns1:t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7</ns1:t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/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/>
            </ns1:r>
          </ns1:p>
          <ns1:p>
            <ns1:pPr algn="ctr" latinLnBrk="0">
              <ns1:lnSpc>
                <ns1:spcPct val="250000"/>
              </ns1:lnSpc>
            </ns1:pPr>
            <ns1:r>
              <ns1:rPr lang="en-US" altLang="ko-KR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/>
            </ns1:r>
          </ns1:p>
        </ns0:txBody>
      </ns0:sp>
      <ns0:sp>
        <ns0:nvSpPr>
          <ns0:cNvPr id="50" name="TextBox 49"/>
          <ns0:cNvSpPr txBox="1"/>
          <ns0:nvPr/>
        </ns0:nvSpPr>
        <ns0:spPr>
          <ns1:xfrm>
            <ns1:off x="4543668" y="1715534"/>
            <ns1:ext cx="5129783" cy="4616648"/>
          </ns1:xfrm>
          <ns1:prstGeom prst="rect">
            <ns1:avLst/>
          </ns1:prstGeom>
          <ns1:noFill/>
        </ns0:spPr>
        <ns0:txBody>
          <ns1:bodyPr wrap="square" lIns="0" tIns="0" rIns="0" bIns="0" rtlCol="0" anchor="t" anchorCtr="0">
            <ns1:spAutoFit/>
          </ns1:bodyPr>
          <ns1:lstStyle/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운영 Do &amp; Don't</ns1:t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>GoldenGate SWOT 분석</ns1:t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/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/>
            </ns1:r>
          </ns1:p>
          <ns1:p>
            <ns1:pPr latinLnBrk="0">
              <ns1:lnSpc>
                <ns1:spcPct val="250000"/>
              </ns1:lnSpc>
              <ns1:buClr>
                <ns1:srgbClr val="1F43F9"/>
              </ns1:buClr>
            </ns1:pPr>
            <ns1:r>
              <ns1:rPr lang="ko-KR" altLang="en-US" sz="2400" dirty="0">
                <ns1:ln>
                  <ns1:solidFill>
                    <ns1:schemeClr val="accent1">
                      <ns1:alpha val="0"/>
                    </ns1:schemeClr>
                  </ns1:solidFill>
                </ns1:ln>
                <ns1:solidFill>
                  <ns1:schemeClr val="tx1">
                    <ns1:lumMod val="75000"/>
                    <ns1:lumOff val="25000"/>
                  </ns1:schemeClr>
                </ns1:solidFill>
                <ns1:latin typeface="프리젠테이션 7 Bold" pitchFamily="2" charset="-127"/>
                <ns1:ea typeface="프리젠테이션 7 Bold" pitchFamily="2" charset="-127"/>
                <ns1:cs typeface="Pretendard" panose="02000503000000020004" pitchFamily="2" charset="-127"/>
              </ns1:rPr>
              <ns1:t/>
            </ns1:r>
          </ns1:p>
        </ns0:txBody>
      </ns0:sp>
      <ns0:grpSp>
        <ns0:nvGrpSpPr>
          <ns0:cNvPr id="53" name="그룹 52"/>
          <ns0:cNvGrpSpPr/>
          <ns0:nvPr/>
        </ns0:nvGrpSpPr>
        <ns0:grpSpPr>
          <ns1:xfrm>
            <ns1:off x="3806048" y="2760055"/>
            <ns1:ext cx="8385952" cy="2761457"/>
            <ns1:chOff x="3764222" y="1060078"/>
            <ns1:chExt cx="5147549" cy="1685118"/>
          </ns1:xfrm>
        </ns0:grpSpPr>
        <ns0:cxnSp>
          <ns0:nvCxnSpPr>
            <ns0:cNvPr id="54" name="직선 연결선 53"/>
            <ns0:cNvCxnSpPr/>
            <ns0:nvPr/>
          </ns0:nvCxnSpPr>
          <ns0:spPr>
            <ns1:xfrm>
              <ns1:off x="3764222" y="1060078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cxnSp>
          <ns0:nvCxnSpPr>
            <ns0:cNvPr id="55" name="직선 연결선 54"/>
            <ns0:cNvCxnSpPr/>
            <ns0:nvPr/>
          </ns0:nvCxnSpPr>
          <ns0:spPr>
            <ns1:xfrm>
              <ns1:off x="3764222" y="1621784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cxnSp>
          <ns0:nvCxnSpPr>
            <ns0:cNvPr id="56" name="직선 연결선 55"/>
            <ns0:cNvCxnSpPr/>
            <ns0:nvPr/>
          </ns0:nvCxnSpPr>
          <ns0:spPr>
            <ns1:xfrm>
              <ns1:off x="3764222" y="2183490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cxnSp>
          <ns0:nvCxnSpPr>
            <ns0:cNvPr id="57" name="직선 연결선 56"/>
            <ns0:cNvCxnSpPr/>
            <ns0:nvPr/>
          </ns0:nvCxnSpPr>
          <ns0:spPr>
            <ns1:xfrm>
              <ns1:off x="3764222" y="2745196"/>
              <ns1:ext cx="5147549" cy="0"/>
            </ns1:xfrm>
            <ns1:prstGeom prst="line">
              <ns1:avLst/>
            </ns1:prstGeom>
            <ns1:ln w="3175">
              <ns1:solidFill>
                <ns1:schemeClr val="bg1">
                  <ns1:lumMod val="75000"/>
                  <ns1:alpha val="48000"/>
                </ns1:schemeClr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2" name="텍스트 개체 틀 1"/>
          <ns0:cNvSpPr>
            <ns1:spLocks noGrp="1"/>
          </ns0:cNvSpPr>
          <ns0:nvPr>
            <ns0:ph type="body" sz="quarter" idx="10"/>
          </ns0:nvPr>
        </ns0:nvSpPr>
        <ns0:spPr/>
        <ns0:txBody>
          <ns1:bodyPr/>
          <ns1:lstStyle/>
          <ns1:p>
            <ns1:endParaRPr lang="ko-KR" altLang="en-US" dirty="0"/>
          </ns1:p>
        </ns0:txBody>
      </ns0:sp>
    </ns0:spTree>
    <ns0:extLst>
      <ns0:ext uri="{BB962C8B-B14F-4D97-AF65-F5344CB8AC3E}">
        <ns2:creationId val="2252550207"/>
      </ns0:ext>
    </ns0:extLst>
  </ns0:cSld>
  <ns0:clrMapOvr>
    <ns1:masterClrMapping/>
  </ns0:clrMapOvr>
</ns0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5577840" cy="38862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56960" y="2788920"/>
            <a:ext cx="5577840" cy="388620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160" y="2423160"/>
            <a:ext cx="1554480" cy="274320"/>
          </a:xfrm>
          <a:prstGeom prst="roundRect">
            <a:avLst/>
          </a:prstGeom>
          <a:solidFill>
            <a:srgbClr val="212121"/>
          </a:solidFill>
          <a:ln w="9525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FFFFFF"/>
                </a:solidFill>
              </a:rPr>
              <a:t>⚠  AS-IS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7720" y="2423160"/>
            <a:ext cx="1554480" cy="27432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FFFFFF"/>
                </a:solidFill>
              </a:rPr>
              <a:t>✅  TO-BE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161" y="3264408"/>
            <a:ext cx="521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초기 비용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서버 구매 ₩5억+</a:t>
            </a:r>
          </a:p>
          <a:p>
            <a:pPr algn="l"/>
            <a:endParaRPr sz="1400" b="1">
              <a:solidFill>
                <a:srgbClr val="212121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운영 관리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전담 인력 2~3명 필요</a:t>
            </a:r>
          </a:p>
          <a:p>
            <a:pPr algn="l"/>
            <a:endParaRPr sz="1400" b="1">
              <a:solidFill>
                <a:srgbClr val="212121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가용성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자체 HA 구성 필요</a:t>
            </a:r>
          </a:p>
          <a:p>
            <a:pPr algn="l"/>
            <a:endParaRPr sz="1400" b="1">
              <a:solidFill>
                <a:srgbClr val="212121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확장성</a:t>
            </a:r>
          </a:p>
          <a:p>
            <a:pPr algn="l"/>
            <a:r>
              <a:rPr sz="1400" b="1">
                <a:solidFill>
                  <a:srgbClr val="212121"/>
                </a:solidFill>
                <a:latin typeface="Freesentation"/>
              </a:rPr>
              <a:t>용량 증설에 수 주 소요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7720" y="3264408"/>
            <a:ext cx="521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초기 비용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초기 투자 0원</a:t>
            </a:r>
          </a:p>
          <a:p>
            <a:pPr algn="l"/>
            <a:endParaRPr sz="1400" b="1">
              <a:solidFill>
                <a:srgbClr val="0043DA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운영 관리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AWS 완전 관리형</a:t>
            </a:r>
          </a:p>
          <a:p>
            <a:pPr algn="l"/>
            <a:endParaRPr sz="1400" b="1">
              <a:solidFill>
                <a:srgbClr val="0043DA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가용성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99.9% SLA 보장</a:t>
            </a:r>
          </a:p>
          <a:p>
            <a:pPr algn="l"/>
            <a:endParaRPr sz="1400" b="1">
              <a:solidFill>
                <a:srgbClr val="0043DA"/>
              </a:solidFill>
              <a:latin typeface="Freesentation"/>
            </a:endParaRP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확장성</a:t>
            </a:r>
          </a:p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수분 내 스케일 아웃</a:t>
            </a:r>
          </a:p>
        </p:txBody>
      </p:sp>
      <p:pic>
        <p:nvPicPr>
          <p:cNvPr id="12" name="Picture 11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00" y="5605200"/>
            <a:ext cx="849600" cy="849600"/>
          </a:xfrm>
          <a:prstGeom prst="rect">
            <a:avLst/>
          </a:prstGeom>
        </p:spPr>
      </p:pic>
      <p:pic>
        <p:nvPicPr>
          <p:cNvPr id="13" name="Picture 12" descr="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360" y="5605200"/>
            <a:ext cx="849600" cy="84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1. AS-IS / TO-BE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0927" y="558698"/>
            <a:ext cx="755020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Freesentation"/>
              </a:rPr>
              <a:t>2컬럼 병렬 비교 레이아웃 — 옵션A vs 옵션B 항목별 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On-Premises Kafka vs AWS MSK — TCO 직접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비용·관리·가용성·확장성 4개 항목 기준 직접 비교 (2026년 4월 기준)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TextBox L12 Title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600" b="1">
                <a:solidFill>
                  <a:srgbClr val="0043DA"/>
                </a:solidFill>
                <a:latin typeface="Freesentation"/>
              </a:rPr>
              <a:t>인프라 아키텍처 전환 효과</a:t>
            </a:r>
          </a:p>
        </p:txBody>
      </p:sp>
      <p:sp>
        <p:nvSpPr>
          <p:cNvPr id="11" name="TextBox L12 Desc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2026년 1분기 실측 기준. 동일 트래픽(10K RPS) 조건 A/B 테스트 결과</a:t>
            </a:r>
          </a:p>
        </p:txBody>
      </p:sp>
      <p:sp>
        <p:nvSpPr>
          <p:cNvPr id="12" name="RRect L12 Badge Before"/>
          <p:cNvSpPr/>
          <p:nvPr/>
        </p:nvSpPr>
        <p:spPr>
          <a:xfrm>
            <a:off x="637160" y="2423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>
            <a:solidFill>
              <a:srgbClr val="212121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" name="RRect L12 Badge After"/>
          <p:cNvSpPr/>
          <p:nvPr/>
        </p:nvSpPr>
        <p:spPr>
          <a:xfrm>
            <a:off x="6611040" y="24231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solidFill>
              <a:srgbClr val="0043D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4" name="TextBox L12 Badge Before Text"/>
          <p:cNvSpPr txBox="1"/>
          <p:nvPr/>
        </p:nvSpPr>
        <p:spPr>
          <a:xfrm>
            <a:off x="637160" y="2423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Freesentation"/>
              </a:rPr>
              <a:t>BEFORE</a:t>
            </a:r>
          </a:p>
        </p:txBody>
      </p:sp>
      <p:sp>
        <p:nvSpPr>
          <p:cNvPr id="15" name="TextBox L12 Badge After Text"/>
          <p:cNvSpPr txBox="1"/>
          <p:nvPr/>
        </p:nvSpPr>
        <p:spPr>
          <a:xfrm>
            <a:off x="6611040" y="2423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Freesentation"/>
              </a:rPr>
              <a:t>AFTER</a:t>
            </a:r>
          </a:p>
        </p:txBody>
      </p:sp>
      <p:sp>
        <p:nvSpPr>
          <p:cNvPr id="16" name="RRect L12 Panel Before"/>
          <p:cNvSpPr/>
          <p:nvPr/>
        </p:nvSpPr>
        <p:spPr>
          <a:xfrm>
            <a:off x="45720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CDCDC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" name="RRect L12 Panel After"/>
          <p:cNvSpPr/>
          <p:nvPr/>
        </p:nvSpPr>
        <p:spPr>
          <a:xfrm>
            <a:off x="643128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E6F0FF"/>
          </a:solidFill>
          <a:ln w="9525">
            <a:solidFill>
              <a:srgbClr val="0043D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8" name="Arrow L12 Transition"/>
          <p:cNvSpPr/>
          <p:nvPr/>
        </p:nvSpPr>
        <p:spPr>
          <a:xfrm>
            <a:off x="5944440" y="4594980"/>
            <a:ext cx="411480" cy="274320"/>
          </a:xfrm>
          <a:prstGeom prst="rightArrow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TextBox L12 KPI Before Value"/>
          <p:cNvSpPr txBox="1"/>
          <p:nvPr/>
        </p:nvSpPr>
        <p:spPr>
          <a:xfrm>
            <a:off x="637160" y="2897580"/>
            <a:ext cx="494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2400" b="1">
                <a:solidFill>
                  <a:srgbClr val="212121"/>
                </a:solidFill>
                <a:latin typeface="프리젠테이션 7 Bold"/>
              </a:rPr>
              <a:t>3.2초</a:t>
            </a:r>
          </a:p>
        </p:txBody>
      </p:sp>
      <p:sp>
        <p:nvSpPr>
          <p:cNvPr id="20" name="TextBox L12 KPI After Value"/>
          <p:cNvSpPr txBox="1"/>
          <p:nvPr/>
        </p:nvSpPr>
        <p:spPr>
          <a:xfrm>
            <a:off x="6611040" y="2897580"/>
            <a:ext cx="494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2400" b="1">
                <a:solidFill>
                  <a:srgbClr val="0043DA"/>
                </a:solidFill>
                <a:latin typeface="프리젠테이션 7 Bold"/>
              </a:rPr>
              <a:t>0.8초</a:t>
            </a:r>
          </a:p>
        </p:txBody>
      </p:sp>
      <p:sp>
        <p:nvSpPr>
          <p:cNvPr id="21" name="TextBox L12 KPI Before Label"/>
          <p:cNvSpPr txBox="1"/>
          <p:nvPr/>
        </p:nvSpPr>
        <p:spPr>
          <a:xfrm>
            <a:off x="637160" y="3354780"/>
            <a:ext cx="49418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100" b="0">
                <a:solidFill>
                  <a:srgbClr val="505050"/>
                </a:solidFill>
                <a:latin typeface="Freesentation"/>
              </a:rPr>
              <a:t>평균 응답 시간</a:t>
            </a:r>
          </a:p>
        </p:txBody>
      </p:sp>
      <p:sp>
        <p:nvSpPr>
          <p:cNvPr id="22" name="TextBox L12 KPI After Label"/>
          <p:cNvSpPr txBox="1"/>
          <p:nvPr/>
        </p:nvSpPr>
        <p:spPr>
          <a:xfrm>
            <a:off x="6611040" y="3354780"/>
            <a:ext cx="49418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sz="1100" b="0">
                <a:solidFill>
                  <a:srgbClr val="505050"/>
                </a:solidFill>
                <a:latin typeface="Freesentation"/>
              </a:rPr>
              <a:t>평균 응답 시간</a:t>
            </a:r>
          </a:p>
        </p:txBody>
      </p:sp>
      <p:sp>
        <p:nvSpPr>
          <p:cNvPr id="23" name="Line L12 Divider Before"/>
          <p:cNvSpPr/>
          <p:nvPr/>
        </p:nvSpPr>
        <p:spPr>
          <a:xfrm>
            <a:off x="637160" y="3674820"/>
            <a:ext cx="4941840" cy="0"/>
          </a:xfrm>
          <a:prstGeom prst="line">
            <a:avLst/>
          </a:prstGeom>
          <a:noFill/>
          <a:ln w="12700">
            <a:solidFill>
              <a:srgbClr val="DCDC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L12 Divider After"/>
          <p:cNvSpPr/>
          <p:nvPr/>
        </p:nvSpPr>
        <p:spPr>
          <a:xfrm>
            <a:off x="6611040" y="3674820"/>
            <a:ext cx="4941840" cy="0"/>
          </a:xfrm>
          <a:prstGeom prst="line">
            <a:avLst/>
          </a:prstGeom>
          <a:noFill/>
          <a:ln w="12700">
            <a:solidFill>
              <a:srgbClr val="DCDC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Box L12 Content Before"/>
          <p:cNvSpPr txBox="1"/>
          <p:nvPr/>
        </p:nvSpPr>
        <p:spPr>
          <a:xfrm>
            <a:off x="637160" y="3766260"/>
            <a:ext cx="4484640" cy="1947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단일 서버 동기 처리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REST API 직접 호출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무중단 배포 미지원</a:t>
            </a:r>
          </a:p>
        </p:txBody>
      </p:sp>
      <p:sp>
        <p:nvSpPr>
          <p:cNvPr id="26" name="TextBox L12 Content After"/>
          <p:cNvSpPr txBox="1"/>
          <p:nvPr/>
        </p:nvSpPr>
        <p:spPr>
          <a:xfrm>
            <a:off x="6611040" y="3766260"/>
            <a:ext cx="4484640" cy="1947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Redis 캐시 + CDN 적용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MSK 비동기 이벤트 기반</a:t>
            </a:r>
          </a:p>
          <a:p>
            <a:pPr algn="l"/>
            <a:r>
              <a:rPr lang="ko-KR" sz="1300" b="0">
                <a:solidFill>
                  <a:srgbClr val="212121"/>
                </a:solidFill>
                <a:latin typeface="Freesentation"/>
              </a:rPr>
              <a:t>• Blue/Green 무중단 배포</a:t>
            </a:r>
          </a:p>
        </p:txBody>
      </p:sp>
      <p:sp>
        <p:nvSpPr>
          <p:cNvPr id="27" name="RRect L12 Change Badge"/>
          <p:cNvSpPr/>
          <p:nvPr/>
        </p:nvSpPr>
        <p:spPr>
          <a:xfrm>
            <a:off x="5318760" y="502920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solidFill>
              <a:srgbClr val="0043DA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8" name="TextBox L12 Change Badge Text"/>
          <p:cNvSpPr txBox="1"/>
          <p:nvPr/>
        </p:nvSpPr>
        <p:spPr>
          <a:xfrm>
            <a:off x="5318760" y="5029200"/>
            <a:ext cx="1554480" cy="45720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ko-KR" sz="2000" b="1">
                <a:solidFill>
                  <a:srgbClr val="FFFFFF"/>
                </a:solidFill>
                <a:latin typeface="프리젠테이션 7 Bold"/>
              </a:rPr>
              <a:t>▼ 75% 개선</a:t>
            </a:r>
          </a:p>
        </p:txBody>
      </p:sp>
      <p:pic>
        <p:nvPicPr>
          <p:cNvPr id="29" name="Icon L12 Bef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00" y="6087600"/>
            <a:ext cx="411480" cy="411480"/>
          </a:xfrm>
          <a:prstGeom prst="rect">
            <a:avLst/>
          </a:prstGeom>
          <a:ln>
            <a:noFill/>
          </a:ln>
        </p:spPr>
      </p:pic>
      <p:pic>
        <p:nvPicPr>
          <p:cNvPr id="30" name="Icon L12 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280" y="6087600"/>
            <a:ext cx="411480" cy="411480"/>
          </a:xfrm>
          <a:prstGeom prst="rect">
            <a:avLst/>
          </a:prstGeom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latin typeface="Freesentation"/>
              </a:rPr>
              <a:t>2. 인프라 전환 KPI 비교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latin typeface="Freesentation"/>
              </a:rPr>
              <a:t>KPI 수치 중심 시간 비교 — 변화량 강조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5701" y="557784"/>
            <a:ext cx="3291840" cy="932688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3. 도구 선택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0927" y="557784"/>
            <a:ext cx="843104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latin typeface="Freesentation"/>
              </a:rPr>
              <a:t>깔때기 다이어그램 — 단계별 필터링으로 최적 기술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MSK 도입 의사결정 깔때기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6874"/>
            <a:ext cx="11734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04040"/>
                </a:solidFill>
                <a:latin typeface="Freesentation"/>
              </a:rPr>
              <a:t>후보 기술부터 최종 선택까지 4가지 평가 기준으로 필터링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02052"/>
            <a:ext cx="7315200" cy="694944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3451860"/>
            <a:ext cx="6217920" cy="694944"/>
          </a:xfrm>
          <a:prstGeom prst="roundRect">
            <a:avLst/>
          </a:prstGeom>
          <a:solidFill>
            <a:srgbClr val="C8DCFF"/>
          </a:solidFill>
          <a:ln>
            <a:solidFill>
              <a:srgbClr val="C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54480" y="4200753"/>
            <a:ext cx="5120640" cy="694944"/>
          </a:xfrm>
          <a:prstGeom prst="roundRect">
            <a:avLst/>
          </a:prstGeom>
          <a:solidFill>
            <a:srgbClr val="8AB4F8"/>
          </a:solidFill>
          <a:ln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3120" y="4950561"/>
            <a:ext cx="4023360" cy="694944"/>
          </a:xfrm>
          <a:prstGeom prst="roundRect">
            <a:avLst/>
          </a:prstGeom>
          <a:solidFill>
            <a:srgbClr val="3571F5"/>
          </a:solidFill>
          <a:ln>
            <a:solidFill>
              <a:srgbClr val="357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51760" y="5700369"/>
            <a:ext cx="2926080" cy="694944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702052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43DA"/>
                </a:solidFill>
                <a:latin typeface="프리젠테이션 7"/>
              </a:rPr>
              <a:t>후보 기술 평가</a:t>
            </a:r>
          </a:p>
          <a:p>
            <a:pPr algn="ctr"/>
            <a:r>
              <a:rPr sz="1100" b="1">
                <a:solidFill>
                  <a:srgbClr val="0043DA"/>
                </a:solidFill>
                <a:latin typeface="프리젠테이션 7"/>
              </a:rPr>
              <a:t>Kafka · Kinesis · RabbitMQ · Pulsar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51860"/>
            <a:ext cx="6217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43DA"/>
                </a:solidFill>
                <a:latin typeface="프리젠테이션 7"/>
              </a:rPr>
              <a:t>기술 적합성</a:t>
            </a:r>
          </a:p>
          <a:p>
            <a:pPr algn="ctr"/>
            <a:r>
              <a:rPr sz="1100" b="1">
                <a:solidFill>
                  <a:srgbClr val="0043DA"/>
                </a:solidFill>
                <a:latin typeface="프리젠테이션 7"/>
              </a:rPr>
              <a:t>처리량 100MB/s · 지연 10ms · 내구성 99.99%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0753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프리젠테이션 7"/>
              </a:rPr>
              <a:t>운영 효율성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프리젠테이션 7"/>
              </a:rPr>
              <a:t>관리형 서비스 · AWS 통합 · 비용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50561"/>
            <a:ext cx="4023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보안/컴플라이언스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프리젠테이션 7"/>
              </a:rPr>
              <a:t>IAM · TLS 암호화 · VPC 격리 · FIPS 140-2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700369"/>
            <a:ext cx="2926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Amazon MSK 선택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프리젠테이션 7"/>
              </a:rPr>
              <a:t>완전관리형 Kafka · 멀티AZ · AWS 네이티브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02052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4개 기술 초기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51860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Kafka · Kinesis 통과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00753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Amazon MSK · Kinesis 잔류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50561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04040"/>
                </a:solidFill>
                <a:latin typeface="프리젠테이션 5"/>
              </a:rPr>
              <a:t>MSK 단독 충족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700369"/>
            <a:ext cx="368777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43DA"/>
                </a:solidFill>
                <a:latin typeface="프리젠테이션 7"/>
              </a:rPr>
              <a:t>최종 채택 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M1-M2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2988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3649" y="2628900"/>
            <a:ext cx="2647950" cy="548640"/>
          </a:xfrm>
          <a:prstGeom prst="chevron">
            <a:avLst>
              <a:gd name="adj" fmla="val 50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2988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3649" y="3451860"/>
            <a:ext cx="2646273" cy="3017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VPC/Subnet 설계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브로커 수 결정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보안 그룹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988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클러스터 생성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인증 방식 설정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암호화 활성화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776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Producer 연결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MSK Connect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PrivateLink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3649" y="3573415"/>
            <a:ext cx="2286273" cy="2880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모니터링 구성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파티션 리밸런싱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비용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4. 6개월 마이그레이션 로드맵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4단계 프로세스 화살표 레이아웃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MSK 도입 4단계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설계 → 생성 → 연결 → 운영 단계별 핵심 작업 및 체크포인트</a:t>
            </a:r>
          </a:p>
        </p:txBody>
      </p:sp>
      <p:pic>
        <p:nvPicPr>
          <p:cNvPr id="20" name="Picture 19" descr="L04_rId2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875020"/>
            <a:ext cx="411480" cy="411480"/>
          </a:xfrm>
          <a:prstGeom prst="rect">
            <a:avLst/>
          </a:prstGeom>
        </p:spPr>
      </p:pic>
      <p:pic>
        <p:nvPicPr>
          <p:cNvPr id="21" name="Picture 20" descr="L04_rId3_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5875020"/>
            <a:ext cx="411480" cy="41148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5875020"/>
            <a:ext cx="411480" cy="41148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36" y="58750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3872" y="557784"/>
            <a:ext cx="27175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5. 핵심 성과 지표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872" y="896112"/>
            <a:ext cx="27175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60012" y="558698"/>
            <a:ext cx="754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  <a:latin typeface="Freesentation"/>
              </a:rPr>
              <a:t>MSK 도입 성과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AWS MSK 도입 효과 — 핵심 성과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12121"/>
                </a:solidFill>
                <a:latin typeface="Freesentation"/>
              </a:rPr>
              <a:t>2026년 1분기 실측 기준 (운영 6개월 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3566160" cy="329184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06240" y="2423160"/>
            <a:ext cx="3566160" cy="329184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79" y="2423160"/>
            <a:ext cx="3566160" cy="329184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3DA"/>
                </a:solidFill>
                <a:latin typeface="Freesentation"/>
              </a:rPr>
              <a:t>▼ 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Freesentation"/>
              </a:rPr>
              <a:t>비용 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운영 인력 2명 절감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+ 인프라 비용 감소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(MSK vs 자체 Kafka 운영)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05050"/>
                </a:solidFill>
                <a:latin typeface="Freesentation"/>
              </a:rPr>
              <a:t>2026-Q1 실측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B88F"/>
                </a:solidFill>
                <a:latin typeface="Freesentation"/>
              </a:rPr>
              <a:t>▲  +320%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Freesentation"/>
              </a:rPr>
              <a:t>처리량 증가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11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10K → 42K msg/s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Multi-AZ 자동 스케일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(피크 트래픽 실측)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05050"/>
                </a:solidFill>
                <a:latin typeface="Freesentation"/>
              </a:rPr>
              <a:t>피크 트래픽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3DA"/>
                </a:solidFill>
                <a:latin typeface="Freesentation"/>
              </a:rPr>
              <a:t>▼  -75%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Freesentation"/>
              </a:rPr>
              <a:t>지연시간 감소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611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200ms → 50ms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VPC Endpoint 적용</a:t>
            </a:r>
          </a:p>
          <a:p>
            <a:pPr algn="ctr"/>
            <a:r>
              <a:rPr sz="1300" b="0">
                <a:solidFill>
                  <a:srgbClr val="212121"/>
                </a:solidFill>
                <a:latin typeface="Freesentation"/>
              </a:rPr>
              <a:t>(평균 레이턴시 실측)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505050"/>
                </a:solidFill>
                <a:latin typeface="Freesentation"/>
              </a:rPr>
              <a:t>평균 레이턴시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710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Freesentation"/>
              </a:rPr>
              <a:t>📊 종합: MSK 도입 6개월 만에 ROI 240% 달성 — 연간 순이익 ₩1.05억 (절감 ₩1.8억 - 서비스 비용 ₩0.75억)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6. 운영 Do &amp; 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Freesentation"/>
              </a:rPr>
              <a:t>MSK 아키텍처 설계 가이드라인 — 프로덕션 환경 필수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MSK 아키텍처 설계 가이드라인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프로덕션 환경 구성 시 필수 체크리스트 (2026-Q1 기준)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B2D9CD"/>
          </a:solidFill>
          <a:ln w="6350">
            <a:solidFill>
              <a:srgbClr val="4C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16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✅  DO (권장)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16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Multi-AZ 배포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가용성 99.9% 보장, 장애 시 자동 failover &lt; 5분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VPC Endpoint 사용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인터넷 경유 금지 → 네트워크 지연 70% 감소 (실측)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CloudWatch 알람 설정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CPU &gt; 70%, Disk &gt; 80% 임계치 모니터링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36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C62828"/>
          </a:solidFill>
          <a:ln w="952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132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Freesentation"/>
              </a:rPr>
              <a:t>❌  DON'T (비권장)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132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Freesentation"/>
              </a:rPr>
              <a:t>🔴 Single-AZ 배포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AZ 장애 시 서비스 전체 중단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⚡ 2025-Q4 서울 AZ-A 장애 — 3시간 다운타임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✅ 대신: Multi-AZ 배포 (99.9% SLA)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Freesentation"/>
              </a:rPr>
              <a:t>🔴 Public Subnet 배치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외부 공격 노출, 데이터 유출 위험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⚡ 보안 감사 지적 사항 1순위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✅ 대신: Private Subnet + VPC Endpoint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Freesentation"/>
              </a:rPr>
              <a:t>⚠️ default 보안그룹 사용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0.0.0.0/0 허용 → 무단 접근 가능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Freesentation"/>
              </a:rPr>
              <a:t>  ✅ 대신: 최소 권한 보안그룹 (필요 포트만)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72200"/>
            <a:ext cx="11320560" cy="4572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160" y="6217920"/>
            <a:ext cx="10960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📋 준수 현황: 3/6 항목 준수 (50%) — 미준수 항목 (Single-AZ, Public Subnet, default SG) 즉시 조치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7. GoldenGate SWOT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Freesentation"/>
              </a:rPr>
              <a:t>AWS MSK 사업 진출 SWOT 분석 — SO전략 집중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AWS MSK 사업 진출 SWOT 분석 — SO전략 집중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클라우드 메시징 서비스 시장 진입 타당성 검토 (2026-Q1)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Freesentation"/>
              </a:rPr>
              <a:t>내부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31720"/>
            <a:ext cx="5516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Freesentation"/>
              </a:rPr>
              <a:t>외부 요인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5669280" cy="1737360"/>
          </a:xfrm>
          <a:prstGeom prst="roundRect">
            <a:avLst>
              <a:gd name="adj" fmla="val 4000"/>
            </a:avLst>
          </a:prstGeom>
          <a:solidFill>
            <a:srgbClr val="DBF1E9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160" y="25722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💪  강점 (Strengths)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160" y="2846520"/>
            <a:ext cx="5124480" cy="131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AWS Premier 파트너십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기술 지원 우선 + 공동 마케팅 기회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Kafka 10년 운영 경험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국내 금융권 구축 실적 15건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24/7 전담 엔지니어 12명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평균 경력 7년, SLA 99.9% 실적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516880" cy="1737360"/>
          </a:xfrm>
          <a:prstGeom prst="roundRect">
            <a:avLst>
              <a:gd name="adj" fmla="val 4000"/>
            </a:avLst>
          </a:prstGeom>
          <a:solidFill>
            <a:srgbClr val="E6ED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7880" y="25722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🎯  기회 (Opportunities)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880" y="2846520"/>
            <a:ext cx="5124480" cy="131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043DA"/>
                </a:solidFill>
                <a:latin typeface="Freesentation"/>
              </a:rPr>
              <a:t>• 시장 CAGR 28%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2026~2028 IDC 전망, ₩3,200억 규모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금융권 클라우드 전환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2025년 규제 완화, 수요 급증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레거시 MQ 대체 수요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WebSphere MQ EOL 2027, 전환 시급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FBD9CC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160" y="44010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⚠️  약점 (Weaknesses)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160" y="4675320"/>
            <a:ext cx="5124480" cy="140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초기 투자 ₩8억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인프라 + 인력 + 마케팅 비용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단계별 투자 12개월 계획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ISO 27001 미취득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금융권 필수 인증, 6개월 소요 예정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Q2 완료 목표, 임시 파트너 인증 활용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43400"/>
            <a:ext cx="5516880" cy="1828800"/>
          </a:xfrm>
          <a:prstGeom prst="roundRect">
            <a:avLst>
              <a:gd name="adj" fmla="val 4000"/>
            </a:avLst>
          </a:prstGeom>
          <a:solidFill>
            <a:srgbClr val="F5CCCC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7880" y="4401000"/>
            <a:ext cx="512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⛔  위협 (Threats)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7880" y="4675320"/>
            <a:ext cx="5124480" cy="140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• Confluent 국내 점유 22%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2025년 서울 리전 오픈, 점유 확대 중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AWS 네이티브 통합 + 가격 경쟁력 강조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12121"/>
                </a:solidFill>
                <a:latin typeface="Freesentation"/>
              </a:rPr>
              <a:t>• IT 예산 감축 -5%</a:t>
            </a:r>
          </a:p>
          <a:p>
            <a:pPr lvl="1"/>
            <a:r>
              <a:rPr sz="1300" b="0">
                <a:solidFill>
                  <a:srgbClr val="212121"/>
                </a:solidFill>
                <a:latin typeface="Freesentation"/>
              </a:rPr>
              <a:t>2026 Gartner 전망, 신규 도입 보수화</a:t>
            </a:r>
          </a:p>
          <a:p>
            <a:pPr lvl="1"/>
            <a:r>
              <a:rPr sz="1300" b="0">
                <a:solidFill>
                  <a:srgbClr val="0043DA"/>
                </a:solidFill>
                <a:latin typeface="Freesentation"/>
              </a:rPr>
              <a:t>→ ROI 마케팅 — TCO 35% 절감 실증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263640"/>
            <a:ext cx="11277600" cy="457200"/>
          </a:xfrm>
          <a:prstGeom prst="roundRect">
            <a:avLst>
              <a:gd name="adj" fmla="val 4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160" y="6309360"/>
            <a:ext cx="11069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Freesentation"/>
              </a:rPr>
              <a:t>📋 전략 방향: SO전략 집중 — AWS 파트너십(S) × 금융권 클라우드 수요(O)로 MSK 시장 선점</a:t>
            </a:r>
          </a:p>
          <a:p>
            <a:r>
              <a:rPr sz="1300" b="0">
                <a:solidFill>
                  <a:srgbClr val="FFFFFF"/>
                </a:solidFill>
                <a:latin typeface="Freesentation"/>
              </a:rPr>
              <a:t>WO: ISO 27001 Q2 인증 완료 → 금융권 진입 장벽 해소 | 초기 투자 단계별 분산으로 리스크 최소화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9;p32"/>
          <p:cNvSpPr txBox="1">
            <a:spLocks/>
          </p:cNvSpPr>
          <p:nvPr/>
        </p:nvSpPr>
        <p:spPr>
          <a:xfrm>
            <a:off x="0" y="2699114"/>
            <a:ext cx="1219200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4000"/>
              <a:buNone/>
            </a:pPr>
            <a:r>
              <a:rPr lang="en-US" altLang="ko-KR" sz="6000" dirty="0"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</a:rPr>
              <a:t>Thank You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036" y="378400"/>
            <a:ext cx="1329872" cy="3305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98157" y="3870726"/>
            <a:ext cx="5395685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GS</a:t>
            </a:r>
            <a:r>
              <a:rPr lang="ko-KR" altLang="en-US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네오텍의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IT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서비스 브랜드 </a:t>
            </a:r>
            <a:r>
              <a:rPr lang="en-US" altLang="ko-KR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WiseN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으로 진정한 프리미엄을 경험하세요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36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5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0043DA"/>
      </a:accent1>
      <a:accent2>
        <a:srgbClr val="4CB88F"/>
      </a:accent2>
      <a:accent3>
        <a:srgbClr val="EE8150"/>
      </a:accent3>
      <a:accent4>
        <a:srgbClr val="2A6FDE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GS네오텍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6831</TotalTime>
  <Words>3677</Words>
  <Application>Microsoft Macintosh PowerPoint</Application>
  <PresentationFormat>Widescreen</PresentationFormat>
  <Paragraphs>581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Freesentation</vt:lpstr>
      <vt:lpstr>Freesentation 7 Bold</vt:lpstr>
      <vt:lpstr>맑은 고딕</vt:lpstr>
      <vt:lpstr>프리젠테이션 4 Regular</vt:lpstr>
      <vt:lpstr>프리젠테이션 5</vt:lpstr>
      <vt:lpstr>프리젠테이션 6 SemiBold</vt:lpstr>
      <vt:lpstr>프리젠테이션 7</vt:lpstr>
      <vt:lpstr>프리젠테이션 7 Bold</vt:lpstr>
      <vt:lpstr>Arial</vt:lpstr>
      <vt:lpstr>Courier New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디자이너</dc:creator>
  <cp:lastModifiedBy>이홍섭/GRM프로젝트</cp:lastModifiedBy>
  <cp:revision>778</cp:revision>
  <dcterms:created xsi:type="dcterms:W3CDTF">2022-03-02T05:40:55Z</dcterms:created>
  <dcterms:modified xsi:type="dcterms:W3CDTF">2026-04-21T05:31:57Z</dcterms:modified>
</cp:coreProperties>
</file>