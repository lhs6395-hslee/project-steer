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500" r:id="rId2"/>
    <p:sldId id="501" r:id="rId3"/>
    <p:sldId id="502" r:id="rId4"/>
    <p:sldId id="503" r:id="rId5"/>
    <p:sldId id="504" r:id="rId6"/>
    <p:sldId id="505" r:id="rId7"/>
    <p:sldId id="506" r:id="rId8"/>
    <p:sldId id="50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07F8F92-E977-4AF4-A17B-064B3F7C6292}">
          <p14:sldIdLst>
            <p14:sldId id="358"/>
          </p14:sldIdLst>
        </p14:section>
        <p14:section name="목차" id="{274BBB5B-E2ED-467F-AF7A-784F9A4055E0}">
          <p14:sldIdLst>
            <p14:sldId id="304"/>
          </p14:sldIdLst>
        </p14:section>
        <p14:section name="본문" id="{2BBFEB54-47FC-4EC8-AE18-073925A68771}">
          <p14:sldIdLst>
            <p14:sldId id="363"/>
            <p14:sldId id="364"/>
            <p14:sldId id="365"/>
            <p14:sldId id="366"/>
            <p14:sldId id="367"/>
            <p14:sldId id="374"/>
            <p14:sldId id="369"/>
            <p14:sldId id="371"/>
            <p14:sldId id="372"/>
            <p14:sldId id="373"/>
            <p14:sldId id="375"/>
            <p14:sldId id="376"/>
            <p14:sldId id="377"/>
            <p14:sldId id="378"/>
            <p14:sldId id="379"/>
            <p14:sldId id="380"/>
            <p14:sldId id="381"/>
            <p14:sldId id="314"/>
            <p14:sldId id="382"/>
            <p14:sldId id="383"/>
            <p14:sldId id="384"/>
            <p14:sldId id="385"/>
            <p14:sldId id="386"/>
            <p14:sldId id="387"/>
          </p14:sldIdLst>
        </p14:section>
        <p14:section name="끝맺음" id="{C9A1EC51-E183-4528-B5C9-C551F42A7D16}">
          <p14:sldIdLst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DA"/>
    <a:srgbClr val="D9E5FF"/>
    <a:srgbClr val="B7CDFF"/>
    <a:srgbClr val="F2F5FD"/>
    <a:srgbClr val="F8FAFE"/>
    <a:srgbClr val="FBFBFB"/>
    <a:srgbClr val="89AEFF"/>
    <a:srgbClr val="3372FF"/>
    <a:srgbClr val="D1DFFF"/>
    <a:srgbClr val="EE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56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0D723-4A74-427C-8704-F358CE22FDDC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1117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78F70-37B2-44B5-9F4B-14A4EA9C44E7}" type="datetimeFigureOut">
              <a:rPr lang="ko-KR" altLang="en-US" smtClean="0"/>
              <a:t>2026. 4. 20.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6B27-1065-44B6-A758-016B3436B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0647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78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8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496718"/>
            <a:ext cx="12192001" cy="5361282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93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10800000">
            <a:off x="0" y="1496718"/>
            <a:ext cx="12192001" cy="5361282"/>
          </a:xfrm>
          <a:prstGeom prst="rect">
            <a:avLst/>
          </a:prstGeom>
          <a:gradFill>
            <a:gsLst>
              <a:gs pos="100000">
                <a:srgbClr val="0043DA">
                  <a:alpha val="4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52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3367314" y="397805"/>
            <a:ext cx="0" cy="646019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59076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구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3367314" y="397805"/>
            <a:ext cx="8817263" cy="6460195"/>
          </a:xfrm>
          <a:prstGeom prst="rect">
            <a:avLst/>
          </a:prstGeom>
          <a:solidFill>
            <a:schemeClr val="accent5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17" name="직선 연결선 16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1656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강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58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523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9537-3B6C-4308-9077-364C9BAEF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9" r:id="rId2"/>
    <p:sldLayoutId id="2147483674" r:id="rId3"/>
    <p:sldLayoutId id="2147483676" r:id="rId4"/>
    <p:sldLayoutId id="2147483670" r:id="rId5"/>
    <p:sldLayoutId id="2147483671" r:id="rId6"/>
    <p:sldLayoutId id="2147483673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0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1" y="5948604"/>
            <a:ext cx="1329872" cy="33054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26616" y="1490472"/>
            <a:ext cx="9144000" cy="25603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Oracle GoldenGate vs IBM DataStage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온프레미스 Oracle → AWS Oracle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마이그레이션 도구 비교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8715" y="5760410"/>
            <a:ext cx="194070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Digitalization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을 선도하는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</a:p>
          <a:p>
            <a:pPr latinLnBrk="0">
              <a:lnSpc>
                <a:spcPct val="150000"/>
              </a:lnSpc>
            </a:pP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DX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전문기업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8000" y="5760410"/>
            <a:ext cx="596537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AI, Cloud, </a:t>
            </a:r>
            <a:r>
              <a:rPr lang="en-US" altLang="ko-KR" sz="11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BigData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CDN, Contact Center,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물류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인프라 등 다양한 영역에서 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Business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를 선도하는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 Innovator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6616" y="4187952"/>
            <a:ext cx="9144000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전문가 DBA를 위한 CDC/ETL 도구 선택 가이드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355601" y="5759125"/>
            <a:ext cx="11444514" cy="0"/>
          </a:xfrm>
          <a:prstGeom prst="line">
            <a:avLst/>
          </a:prstGeom>
          <a:ln w="3175">
            <a:solidFill>
              <a:schemeClr val="bg1">
                <a:lumMod val="75000"/>
                <a:alpha val="3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74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87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04/20</a:t>
            </a:r>
          </a:p>
        </p:txBody>
      </p:sp>
    </p:spTree>
    <p:extLst>
      <p:ext uri="{BB962C8B-B14F-4D97-AF65-F5344CB8AC3E}">
        <p14:creationId xmlns:p14="http://schemas.microsoft.com/office/powerpoint/2010/main" val="125727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54805" y="545902"/>
            <a:ext cx="3112294" cy="5107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dirty="0"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CONTENTS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7314" y="1715534"/>
            <a:ext cx="1161474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1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3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4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43668" y="1715534"/>
            <a:ext cx="5129783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마이그레이션 개요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Oracle GoldenGate 분석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IBM DataStage 분석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기술 비교 매트릭스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의사결정 가이드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3806048" y="2760055"/>
            <a:ext cx="8385952" cy="2761457"/>
            <a:chOff x="3764222" y="1060078"/>
            <a:chExt cx="5147549" cy="1685118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3764222" y="1060078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>
              <a:off x="3764222" y="1621784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764222" y="2183490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764222" y="2745196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24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628900"/>
            <a:ext cx="5394960" cy="38404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81308" y="2628900"/>
            <a:ext cx="5650992" cy="2057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81308" y="4960620"/>
            <a:ext cx="5650992" cy="15087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4979662"/>
            <a:ext cx="4663440" cy="1256546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34440" y="5242175"/>
            <a:ext cx="1097280" cy="457200"/>
          </a:xfrm>
          <a:prstGeom prst="roundRect">
            <a:avLst/>
          </a:prstGeom>
          <a:solidFill>
            <a:srgbClr val="EE8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06040" y="5242175"/>
            <a:ext cx="1097280" cy="457200"/>
          </a:xfrm>
          <a:prstGeom prst="roundRect">
            <a:avLst/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77640" y="5242175"/>
            <a:ext cx="1097280" cy="457200"/>
          </a:xfrm>
          <a:prstGeom prst="roundRect">
            <a:avLst/>
          </a:prstGeom>
          <a:solidFill>
            <a:srgbClr val="4C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2331720" y="5356475"/>
            <a:ext cx="274320" cy="228600"/>
          </a:xfrm>
          <a:prstGeom prst="rightArrow">
            <a:avLst/>
          </a:prstGeom>
          <a:solidFill>
            <a:srgbClr val="969696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703320" y="5356475"/>
            <a:ext cx="274320" cy="228600"/>
          </a:xfrm>
          <a:prstGeom prst="rightArrow">
            <a:avLst/>
          </a:prstGeom>
          <a:solidFill>
            <a:srgbClr val="969696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1-1. 마이그레이션 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온프레미스 Oracle DB → AWS Oracle RDS/EC2 이관 전략 및 도구 선택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Oracle 마이그레이션 아키텍처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마이그레이션 단계, 핵심 도전과제, 도구 선택 기준, Zero Data Loss 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" y="2859982"/>
            <a:ext cx="50349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이관 아키텍처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00" y="3288022"/>
            <a:ext cx="5034960" cy="1554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Source: Oracle 11g/12c/19c On-Premise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Target: AWS RDS for Oracle (EE/SE2)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  또는 EC2 자체 설치 Oracle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이관 방식: CDC 실시간 또는 배치 ETL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목표: Zero Data Loss, 다운타임 &lt; 4시간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3단계 접근: Pilot → Wave → Cutover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1308" y="2706067"/>
            <a:ext cx="529099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핵심 도전과제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1308" y="3134107"/>
            <a:ext cx="5290992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LOB/CLOB/BLOB 대용량 처리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DDL 변경 동기화 (ALTER TABLE)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비파티션 대용량 테이블 성능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네트워크 대역폭 (Direct Connect)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1308" y="5006988"/>
            <a:ext cx="529099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43DA"/>
                </a:solidFill>
                <a:latin typeface="Freesentation"/>
              </a:rPr>
              <a:t>도구 선택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1308" y="5435028"/>
            <a:ext cx="5290992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CDC 실시간 vs 배치 ETL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RPO/RTO SLA 요건</a:t>
            </a:r>
          </a:p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• 변환 복잡도 및 비즈니스 로직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Oracle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CDC/ETL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5242175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Freesentation"/>
              </a:rPr>
              <a:t>AWS 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Freesentation"/>
              </a:rPr>
              <a:t>On-Premise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Freesentation"/>
              </a:rPr>
              <a:t>Log 기반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745095"/>
            <a:ext cx="1098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Freesentation"/>
              </a:rPr>
              <a:t>or EC2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4093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3190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4093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3190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4093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CDC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3190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093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성능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190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AWS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093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4A4A"/>
                </a:solidFill>
                <a:latin typeface="Freesentation"/>
              </a:rPr>
              <a:t>• Redo Log 기반 비침투적 CDC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Extract → Trail File → Replicat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DDL 복제 (ALTER/CREATE/DROP)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Oracle 19c+: Microservices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190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4A4A"/>
                </a:solidFill>
                <a:latin typeface="Freesentation"/>
              </a:rPr>
              <a:t>• 무중단 마이그레이션 (Active-Active)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양방향 복제 (Bi-directional)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테이블/컬럼 레벨 필터링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SQLEXEC 변환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093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복제 지연 &lt; 1초 (LAN 기준)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처리량 ~100K TPS (단일 Replicat)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CPU 오버헤드 5~15% 추가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메모리 최소 8GB (Extract+Replicat)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190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AWS RDS for Oracle 대상 지원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EC2 자체 설치 또는 OCI GG SaaS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AWS Direct Connect 권장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VPC Peering / Transit Gateway</a:t>
            </a:r>
          </a:p>
        </p:txBody>
      </p:sp>
      <p:pic>
        <p:nvPicPr>
          <p:cNvPr id="15" name="Picture 14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784" y="2766060"/>
            <a:ext cx="411480" cy="411480"/>
          </a:xfrm>
          <a:prstGeom prst="rect">
            <a:avLst/>
          </a:prstGeom>
        </p:spPr>
      </p:pic>
      <p:pic>
        <p:nvPicPr>
          <p:cNvPr id="16" name="Picture 15" descr="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064" y="2766060"/>
            <a:ext cx="411480" cy="411480"/>
          </a:xfrm>
          <a:prstGeom prst="rect">
            <a:avLst/>
          </a:prstGeom>
        </p:spPr>
      </p:pic>
      <p:pic>
        <p:nvPicPr>
          <p:cNvPr id="17" name="Picture 16" descr="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84" y="4869180"/>
            <a:ext cx="411480" cy="411480"/>
          </a:xfrm>
          <a:prstGeom prst="rect">
            <a:avLst/>
          </a:prstGeom>
        </p:spPr>
      </p:pic>
      <p:pic>
        <p:nvPicPr>
          <p:cNvPr id="18" name="Picture 17" descr="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064" y="4869180"/>
            <a:ext cx="41148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2-1. Oracle GoldenGate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Oracle 공식 CDC 솔루션 — Redo Log 기반 실시간 복제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GoldenGate 핵심 기능 및 AWS 통합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Extract→DataPump→Replicat 파이프라인, Oracle 19c+ Microservices, AWS EC2/OCI 배포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4093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3190" y="2628900"/>
            <a:ext cx="539496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4093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3190" y="4732020"/>
            <a:ext cx="5394960" cy="17373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4093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ETL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3190" y="2691622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093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성능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190" y="4789548"/>
            <a:ext cx="50349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DA"/>
                </a:solidFill>
                <a:latin typeface="Freesentation"/>
              </a:rPr>
              <a:t>AWS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093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4A4A"/>
                </a:solidFill>
                <a:latin typeface="Freesentation"/>
              </a:rPr>
              <a:t>• MPP 병렬 파티셔닝 아키텍처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Job Flow Designer (Stage 기반)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Oracle CDC Connector (로그 기반)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배치 및 마이크로배치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190" y="3165382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4A4A"/>
                </a:solidFill>
                <a:latin typeface="Freesentation"/>
              </a:rPr>
              <a:t>• 400+ 네이티브 커넥터/Adapter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복잡한 비즈니스 변환 로직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DataStage Quality Stage 통합</a:t>
            </a:r>
          </a:p>
          <a:p>
            <a:r>
              <a:rPr sz="1300" b="0">
                <a:solidFill>
                  <a:srgbClr val="4A4A4A"/>
                </a:solidFill>
                <a:latin typeface="Freesentation"/>
              </a:rPr>
              <a:t>• Control-M/Autosys 스케줄링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093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배치 처리: 수백 GB/시간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CDC 지연: 수초 ~ 수분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무제한 병렬 파티션 (코어 기반)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엔진 최소 32GB 메모리 권장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190" y="5263308"/>
            <a:ext cx="50349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4A"/>
                </a:solidFill>
                <a:latin typeface="Freesentation"/>
              </a:rPr>
              <a:t>• EC2 자체 설치 (네이티브 없음)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S3/Redshift/RDS 커넥터 지원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Cloud Pak for Data on AWS</a:t>
            </a:r>
          </a:p>
          <a:p>
            <a:r>
              <a:rPr sz="1300">
                <a:solidFill>
                  <a:srgbClr val="4A4A4A"/>
                </a:solidFill>
                <a:latin typeface="Freesentation"/>
              </a:rPr>
              <a:t>• DataStage as a Service (SaaS)</a:t>
            </a:r>
          </a:p>
        </p:txBody>
      </p:sp>
      <p:pic>
        <p:nvPicPr>
          <p:cNvPr id="15" name="Picture 14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784" y="2766060"/>
            <a:ext cx="411480" cy="411480"/>
          </a:xfrm>
          <a:prstGeom prst="rect">
            <a:avLst/>
          </a:prstGeom>
        </p:spPr>
      </p:pic>
      <p:pic>
        <p:nvPicPr>
          <p:cNvPr id="16" name="Picture 15" descr="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064" y="2766060"/>
            <a:ext cx="411480" cy="411480"/>
          </a:xfrm>
          <a:prstGeom prst="rect">
            <a:avLst/>
          </a:prstGeom>
        </p:spPr>
      </p:pic>
      <p:pic>
        <p:nvPicPr>
          <p:cNvPr id="17" name="Picture 16" descr="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84" y="4869180"/>
            <a:ext cx="411480" cy="411480"/>
          </a:xfrm>
          <a:prstGeom prst="rect">
            <a:avLst/>
          </a:prstGeom>
        </p:spPr>
      </p:pic>
      <p:pic>
        <p:nvPicPr>
          <p:cNvPr id="18" name="Picture 17" descr="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064" y="4869180"/>
            <a:ext cx="41148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3-1. IBM DataStage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2756" y="558698"/>
            <a:ext cx="7550200" cy="9381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dirty="0">
                <a:latin typeface="Freesentation"/>
              </a:rPr>
              <a:t>IBM 엔터프라이즈 ETL — 병렬 처리 기반 대용량 변환 및 이관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020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DataStage 핵심 기능 및 AWS 통합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Freesentation"/>
              </a:rPr>
              <a:t>MPP 병렬 파티셔닝, 400+ 커넥터, Oracle CDC Connector, Cloud Pak for Data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5577840" cy="38862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56960" y="2788920"/>
            <a:ext cx="5577840" cy="3886200"/>
          </a:xfrm>
          <a:prstGeom prst="roundRect">
            <a:avLst/>
          </a:prstGeom>
          <a:solidFill>
            <a:srgbClr val="E6F0FF"/>
          </a:solidFill>
          <a:ln w="9525"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160" y="2423160"/>
            <a:ext cx="1554480" cy="274320"/>
          </a:xfrm>
          <a:prstGeom prst="roundRect">
            <a:avLst/>
          </a:prstGeom>
          <a:solidFill>
            <a:srgbClr val="212121"/>
          </a:solidFill>
          <a:ln w="9525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FFFFFF"/>
                </a:solidFill>
              </a:rPr>
              <a:t>Oracle GoldenGate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7720" y="2423160"/>
            <a:ext cx="1554480" cy="274320"/>
          </a:xfrm>
          <a:prstGeom prst="roundRect">
            <a:avLst/>
          </a:prstGeom>
          <a:solidFill>
            <a:srgbClr val="0043DA"/>
          </a:solidFill>
          <a:ln>
            <a:solidFill>
              <a:srgbClr val="004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FFFFFF"/>
                </a:solidFill>
              </a:rPr>
              <a:t>IBM DataStage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161" y="3264408"/>
            <a:ext cx="521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복제 방식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Redo Log 기반 CDC (실시간)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복제 지연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&lt; 1초 (LAN 기준)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변환 기능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SQLEXEC 기본 변환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이기종 지원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Oracle 최적화, 타 DB 제한적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DDL 복제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지원 (ALTER/CREATE/DROP)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라이선스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Oracle ULA 포함 또는 별도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7720" y="3264408"/>
            <a:ext cx="5214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복제 방식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배치 ETL / 마이크로배치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복제 지연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수초 ~ 수분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변환 기능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400+ 변환 함수, 복잡 ETL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이기종 지원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다중 소스 (Oracle + 타 DB)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DDL 복제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제한적 (수동 처리)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/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라이선스</a:t>
            </a:r>
          </a:p>
          <a:p>
            <a:pPr algn="l"/>
            <a:r>
              <a:rPr sz="1100" b="0">
                <a:solidFill>
                  <a:srgbClr val="505050"/>
                </a:solidFill>
                <a:latin typeface="Freesentation"/>
              </a:rPr>
              <a:t>IBM 별도 (PVU 기반)</a:t>
            </a:r>
          </a:p>
        </p:txBody>
      </p:sp>
      <p:pic>
        <p:nvPicPr>
          <p:cNvPr id="12" name="Picture 11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00" y="5605200"/>
            <a:ext cx="849600" cy="849600"/>
          </a:xfrm>
          <a:prstGeom prst="rect">
            <a:avLst/>
          </a:prstGeom>
        </p:spPr>
      </p:pic>
      <p:pic>
        <p:nvPicPr>
          <p:cNvPr id="13" name="Picture 12" descr="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360" y="5605200"/>
            <a:ext cx="849600" cy="84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" y="557784"/>
            <a:ext cx="2720340" cy="932688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sz="2000" b="1" dirty="0">
                <a:solidFill>
                  <a:srgbClr val="000000"/>
                </a:solidFill>
                <a:latin typeface="Freesentation"/>
              </a:rPr>
              <a:t>4-1. 기술 비교 매트릭스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0927" y="558698"/>
            <a:ext cx="755020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Freesentation"/>
              </a:rPr>
              <a:t>Oracle GoldenGate vs IBM DataStage — 6개 핵심 항목 정량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3DA"/>
                </a:solidFill>
                <a:latin typeface="Freesentation"/>
              </a:rPr>
              <a:t>GoldenGate vs DataStage — 온프레미스 Oracle 이관 적합성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복제 방식·지연·변환·이기종 지원·라이선스·AWS 통합 6개 항목 직접 비교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288" y="557760"/>
            <a:ext cx="2719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Freesentation"/>
              </a:rPr>
              <a:t>5-1. Oracle 이관 도구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1040" y="558624"/>
            <a:ext cx="7549368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212121"/>
                </a:solidFill>
                <a:latin typeface="Freesentation"/>
              </a:rPr>
              <a:t>GoldenGate 권장 시나리오 vs DataStage 적합 시나리오 — Verdict 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DA"/>
                </a:solidFill>
                <a:latin typeface="Freesentation"/>
              </a:rPr>
              <a:t>Oracle 이관 도구 최종 의사결정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121"/>
                </a:solidFill>
                <a:latin typeface="Freesentation"/>
              </a:rPr>
              <a:t>Oracle → AWS Oracle 동종 이관 기준 — 도구별 적합 시나리오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B2D9CD"/>
          </a:solidFill>
          <a:ln w="6350">
            <a:solidFill>
              <a:srgbClr val="4C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16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✅  GoldenGate 권장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16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★ Oracle → AWS RDS Oracle 동종 이관</a:t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  Redo Log CDC로 Zero Data Loss</a:t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/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• RPO &lt; 5초, RTO &lt; 1시간 요건</a:t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  → 실시간 복제로 다운타임 최소화</a:t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/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• 기존 Oracle DBA 팀 운영</a:t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  → 추가 인력 없이 운영 가능</a:t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/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• 변환 없는 구조적 1:1 이관</a:t>
            </a:r>
          </a:p>
          <a:p>
            <a:pPr algn="l"/>
            <a:r>
              <a:rPr sz="1300" b="1">
                <a:solidFill>
                  <a:srgbClr val="0043DA"/>
                </a:solidFill>
                <a:latin typeface="Freesentation"/>
              </a:rPr>
              <a:t>  → SQLEXEC 기본 변환으로 충분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360" y="242316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F6C0A8"/>
          </a:solidFill>
          <a:ln w="6350">
            <a:solidFill>
              <a:srgbClr val="EE8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1320" y="2603120"/>
            <a:ext cx="512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12121"/>
                </a:solidFill>
                <a:latin typeface="Freesentation"/>
              </a:rPr>
              <a:t>⚠️  DataStage 고려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1320" y="2968800"/>
            <a:ext cx="5124480" cy="293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다중 소스 통합 (Oracle + ERP + CRM)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→ 400+ 커넥터로 이기종 연동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/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복잡한 데이터 클렌징/변환 필요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→ Quality Stage 데이터 품질 관리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/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배치 허용 및 고처리량 우선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→ MPP 병렬로 수백 GB/시간 처리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/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• 기존 IBM DataStage 환경 보유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Freesentation"/>
              </a:rPr>
              <a:t>  → 기존 자산 활용 (라이선스 절약)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72200"/>
            <a:ext cx="11320560" cy="457200"/>
          </a:xfrm>
          <a:prstGeom prst="roundRect">
            <a:avLst>
              <a:gd name="adj" fmla="val 4000"/>
            </a:avLst>
          </a:prstGeom>
          <a:solidFill>
            <a:srgbClr val="004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160" y="6217920"/>
            <a:ext cx="10960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Freesentation"/>
              </a:rPr>
              <a:t>📋 권고: Oracle → AWS Oracle 동종 이관은 GoldenGate 우선 검토 | DataStage는 이기종 통합·복잡 변환 시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Verdict 바"/>
          <p:cNvSpPr>
            <a:spLocks noGrp="1"/>
          </p:cNvSpPr>
          <p:nvPr/>
        </p:nvSpPr>
        <p:spPr>
          <a:xfrm>
            <a:off x="457200" y="6172200"/>
            <a:ext cx="11277600" cy="457200"/>
          </a:xfrm>
          <a:prstGeom prst="roundRect">
            <a:avLst>
              <a:gd name="adj" fmla="val 16667"/>
            </a:avLst>
          </a:prstGeom>
          <a:solidFill>
            <a:srgbClr val="4CB88F"/>
          </a:solidFill>
          <a:ln>
            <a:noFill/>
          </a:ln>
        </p:spPr>
        <p:txBody>
          <a:bodyPr anchor="ctr"/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프리젠테이션 7"/>
              </a:rPr>
              <a:t>✅ Verdict: 중형(Medium) 추천 — 월 ₩150만으로 프로덕션급 10K TPS, 3-AZ 가용성 확보. 3년 TCO ₩5,400만 (대형 대비 70% 절감)</a:t>
            </a:r>
          </a:p>
        </p:txBody>
      </p:sp>
      <p:sp>
        <p:nvSpPr>
          <p:cNvPr id="230" name="셀_5_3"/>
          <p:cNvSpPr>
            <a:spLocks noGrp="1"/>
          </p:cNvSpPr>
          <p:nvPr/>
        </p:nvSpPr>
        <p:spPr>
          <a:xfrm>
            <a:off x="9438640" y="5558244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대규모 스트리밍</a:t>
            </a:r>
          </a:p>
        </p:txBody>
      </p:sp>
      <p:sp>
        <p:nvSpPr>
          <p:cNvPr id="229" name="셀_5_2"/>
          <p:cNvSpPr>
            <a:spLocks noGrp="1"/>
          </p:cNvSpPr>
          <p:nvPr/>
        </p:nvSpPr>
        <p:spPr>
          <a:xfrm>
            <a:off x="7142480" y="5558244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프로덕션</a:t>
            </a:r>
          </a:p>
        </p:txBody>
      </p:sp>
      <p:sp>
        <p:nvSpPr>
          <p:cNvPr id="228" name="셀_5_1"/>
          <p:cNvSpPr>
            <a:spLocks noGrp="1"/>
          </p:cNvSpPr>
          <p:nvPr/>
        </p:nvSpPr>
        <p:spPr>
          <a:xfrm>
            <a:off x="4846320" y="5558244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개발/테스트</a:t>
            </a:r>
          </a:p>
        </p:txBody>
      </p:sp>
      <p:sp>
        <p:nvSpPr>
          <p:cNvPr id="227" name="셀_5_0"/>
          <p:cNvSpPr>
            <a:spLocks noGrp="1"/>
          </p:cNvSpPr>
          <p:nvPr/>
        </p:nvSpPr>
        <p:spPr>
          <a:xfrm>
            <a:off x="2834640" y="5558244"/>
            <a:ext cx="201168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권장 용도</a:t>
            </a:r>
          </a:p>
        </p:txBody>
      </p:sp>
      <p:sp>
        <p:nvSpPr>
          <p:cNvPr id="226" name="셀_4_3"/>
          <p:cNvSpPr>
            <a:spLocks noGrp="1"/>
          </p:cNvSpPr>
          <p:nvPr/>
        </p:nvSpPr>
        <p:spPr>
          <a:xfrm>
            <a:off x="9438640" y="5035730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50K msg/s</a:t>
            </a:r>
          </a:p>
        </p:txBody>
      </p:sp>
      <p:sp>
        <p:nvSpPr>
          <p:cNvPr id="225" name="셀_4_2"/>
          <p:cNvSpPr>
            <a:spLocks noGrp="1"/>
          </p:cNvSpPr>
          <p:nvPr/>
        </p:nvSpPr>
        <p:spPr>
          <a:xfrm>
            <a:off x="7142480" y="5035730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10K msg/s</a:t>
            </a:r>
          </a:p>
        </p:txBody>
      </p:sp>
      <p:sp>
        <p:nvSpPr>
          <p:cNvPr id="224" name="셀_4_1"/>
          <p:cNvSpPr>
            <a:spLocks noGrp="1"/>
          </p:cNvSpPr>
          <p:nvPr/>
        </p:nvSpPr>
        <p:spPr>
          <a:xfrm>
            <a:off x="4846320" y="5035730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1K msg/s</a:t>
            </a:r>
          </a:p>
        </p:txBody>
      </p:sp>
      <p:sp>
        <p:nvSpPr>
          <p:cNvPr id="223" name="셀_4_0"/>
          <p:cNvSpPr>
            <a:spLocks noGrp="1"/>
          </p:cNvSpPr>
          <p:nvPr/>
        </p:nvSpPr>
        <p:spPr>
          <a:xfrm>
            <a:off x="2834640" y="5035730"/>
            <a:ext cx="201168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처리량 (TPS)</a:t>
            </a:r>
          </a:p>
        </p:txBody>
      </p:sp>
      <p:sp>
        <p:nvSpPr>
          <p:cNvPr id="222" name="셀_3_3"/>
          <p:cNvSpPr>
            <a:spLocks noGrp="1"/>
          </p:cNvSpPr>
          <p:nvPr/>
        </p:nvSpPr>
        <p:spPr>
          <a:xfrm>
            <a:off x="9438640" y="4513216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₩600만</a:t>
            </a:r>
          </a:p>
        </p:txBody>
      </p:sp>
      <p:sp>
        <p:nvSpPr>
          <p:cNvPr id="221" name="셀_3_2"/>
          <p:cNvSpPr>
            <a:spLocks noGrp="1"/>
          </p:cNvSpPr>
          <p:nvPr/>
        </p:nvSpPr>
        <p:spPr>
          <a:xfrm>
            <a:off x="7142480" y="4513216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₩150만</a:t>
            </a:r>
          </a:p>
        </p:txBody>
      </p:sp>
      <p:sp>
        <p:nvSpPr>
          <p:cNvPr id="220" name="셀_3_1"/>
          <p:cNvSpPr>
            <a:spLocks noGrp="1"/>
          </p:cNvSpPr>
          <p:nvPr/>
        </p:nvSpPr>
        <p:spPr>
          <a:xfrm>
            <a:off x="4846320" y="4513216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₩50만</a:t>
            </a:r>
          </a:p>
        </p:txBody>
      </p:sp>
      <p:sp>
        <p:nvSpPr>
          <p:cNvPr id="219" name="셀_3_0"/>
          <p:cNvSpPr>
            <a:spLocks noGrp="1"/>
          </p:cNvSpPr>
          <p:nvPr/>
        </p:nvSpPr>
        <p:spPr>
          <a:xfrm>
            <a:off x="2834640" y="4513216"/>
            <a:ext cx="201168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월 예상 비용</a:t>
            </a:r>
          </a:p>
        </p:txBody>
      </p:sp>
      <p:sp>
        <p:nvSpPr>
          <p:cNvPr id="218" name="셀_2_3"/>
          <p:cNvSpPr>
            <a:spLocks noGrp="1"/>
          </p:cNvSpPr>
          <p:nvPr/>
        </p:nvSpPr>
        <p:spPr>
          <a:xfrm>
            <a:off x="9438640" y="3990702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2 TB</a:t>
            </a:r>
          </a:p>
        </p:txBody>
      </p:sp>
      <p:sp>
        <p:nvSpPr>
          <p:cNvPr id="217" name="셀_2_2"/>
          <p:cNvSpPr>
            <a:spLocks noGrp="1"/>
          </p:cNvSpPr>
          <p:nvPr/>
        </p:nvSpPr>
        <p:spPr>
          <a:xfrm>
            <a:off x="7142480" y="3990702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500 GB</a:t>
            </a:r>
          </a:p>
        </p:txBody>
      </p:sp>
      <p:sp>
        <p:nvSpPr>
          <p:cNvPr id="216" name="셀_2_1"/>
          <p:cNvSpPr>
            <a:spLocks noGrp="1"/>
          </p:cNvSpPr>
          <p:nvPr/>
        </p:nvSpPr>
        <p:spPr>
          <a:xfrm>
            <a:off x="4846320" y="3990702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100 GB</a:t>
            </a:r>
          </a:p>
        </p:txBody>
      </p:sp>
      <p:sp>
        <p:nvSpPr>
          <p:cNvPr id="215" name="셀_2_0"/>
          <p:cNvSpPr>
            <a:spLocks noGrp="1"/>
          </p:cNvSpPr>
          <p:nvPr/>
        </p:nvSpPr>
        <p:spPr>
          <a:xfrm>
            <a:off x="2834640" y="3990702"/>
            <a:ext cx="201168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EBS 스토리지</a:t>
            </a:r>
          </a:p>
        </p:txBody>
      </p:sp>
      <p:sp>
        <p:nvSpPr>
          <p:cNvPr id="214" name="셀_1_3"/>
          <p:cNvSpPr>
            <a:spLocks noGrp="1"/>
          </p:cNvSpPr>
          <p:nvPr/>
        </p:nvSpPr>
        <p:spPr>
          <a:xfrm>
            <a:off x="9438640" y="3468188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6개</a:t>
            </a:r>
          </a:p>
        </p:txBody>
      </p:sp>
      <p:sp>
        <p:nvSpPr>
          <p:cNvPr id="213" name="셀_1_2"/>
          <p:cNvSpPr>
            <a:spLocks noGrp="1"/>
          </p:cNvSpPr>
          <p:nvPr/>
        </p:nvSpPr>
        <p:spPr>
          <a:xfrm>
            <a:off x="7142480" y="3468188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3개</a:t>
            </a:r>
          </a:p>
        </p:txBody>
      </p:sp>
      <p:sp>
        <p:nvSpPr>
          <p:cNvPr id="212" name="셀_1_1"/>
          <p:cNvSpPr>
            <a:spLocks noGrp="1"/>
          </p:cNvSpPr>
          <p:nvPr/>
        </p:nvSpPr>
        <p:spPr>
          <a:xfrm>
            <a:off x="4846320" y="3468188"/>
            <a:ext cx="229616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2개</a:t>
            </a:r>
          </a:p>
        </p:txBody>
      </p:sp>
      <p:sp>
        <p:nvSpPr>
          <p:cNvPr id="211" name="셀_1_0"/>
          <p:cNvSpPr>
            <a:spLocks noGrp="1"/>
          </p:cNvSpPr>
          <p:nvPr/>
        </p:nvSpPr>
        <p:spPr>
          <a:xfrm>
            <a:off x="2834640" y="3468188"/>
            <a:ext cx="2011680" cy="522514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브로커 수</a:t>
            </a:r>
          </a:p>
        </p:txBody>
      </p:sp>
      <p:sp>
        <p:nvSpPr>
          <p:cNvPr id="210" name="셀_0_3"/>
          <p:cNvSpPr>
            <a:spLocks noGrp="1"/>
          </p:cNvSpPr>
          <p:nvPr/>
        </p:nvSpPr>
        <p:spPr>
          <a:xfrm>
            <a:off x="9438640" y="2945674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kafka.m5.4xlarge</a:t>
            </a:r>
          </a:p>
        </p:txBody>
      </p:sp>
      <p:sp>
        <p:nvSpPr>
          <p:cNvPr id="209" name="셀_0_2"/>
          <p:cNvSpPr>
            <a:spLocks noGrp="1"/>
          </p:cNvSpPr>
          <p:nvPr/>
        </p:nvSpPr>
        <p:spPr>
          <a:xfrm>
            <a:off x="7142480" y="2945674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 b="1">
                <a:solidFill>
                  <a:srgbClr val="0043DA"/>
                </a:solidFill>
                <a:latin typeface="프리젠테이션 7"/>
              </a:rPr>
              <a:t>kafka.m5.large</a:t>
            </a:r>
          </a:p>
        </p:txBody>
      </p:sp>
      <p:sp>
        <p:nvSpPr>
          <p:cNvPr id="208" name="셀_0_1"/>
          <p:cNvSpPr>
            <a:spLocks noGrp="1"/>
          </p:cNvSpPr>
          <p:nvPr/>
        </p:nvSpPr>
        <p:spPr>
          <a:xfrm>
            <a:off x="4846320" y="2945674"/>
            <a:ext cx="229616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kafka.t3.small</a:t>
            </a:r>
          </a:p>
        </p:txBody>
      </p:sp>
      <p:sp>
        <p:nvSpPr>
          <p:cNvPr id="207" name="셀_0_0"/>
          <p:cNvSpPr>
            <a:spLocks noGrp="1"/>
          </p:cNvSpPr>
          <p:nvPr/>
        </p:nvSpPr>
        <p:spPr>
          <a:xfrm>
            <a:off x="2834640" y="2945674"/>
            <a:ext cx="2011680" cy="522514"/>
          </a:xfrm>
          <a:prstGeom prst="rect">
            <a:avLst/>
          </a:prstGeom>
          <a:solidFill>
            <a:srgbClr val="F0F4FF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300">
                <a:solidFill>
                  <a:srgbClr val="212121"/>
                </a:solidFill>
                <a:latin typeface="프리젠테이션 7"/>
              </a:rPr>
              <a:t>인스턴스 타입</a:t>
            </a:r>
          </a:p>
        </p:txBody>
      </p:sp>
      <p:sp>
        <p:nvSpPr>
          <p:cNvPr id="206" name="헤더_3"/>
          <p:cNvSpPr>
            <a:spLocks noGrp="1"/>
          </p:cNvSpPr>
          <p:nvPr/>
        </p:nvSpPr>
        <p:spPr>
          <a:xfrm>
            <a:off x="9438640" y="2423160"/>
            <a:ext cx="229616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대형 (Large)</a:t>
            </a:r>
          </a:p>
        </p:txBody>
      </p:sp>
      <p:sp>
        <p:nvSpPr>
          <p:cNvPr id="205" name="헤더_2"/>
          <p:cNvSpPr>
            <a:spLocks noGrp="1"/>
          </p:cNvSpPr>
          <p:nvPr/>
        </p:nvSpPr>
        <p:spPr>
          <a:xfrm>
            <a:off x="7142480" y="2423160"/>
            <a:ext cx="229616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중형 (Medium)</a:t>
            </a:r>
          </a:p>
        </p:txBody>
      </p:sp>
      <p:sp>
        <p:nvSpPr>
          <p:cNvPr id="204" name="헤더_1"/>
          <p:cNvSpPr>
            <a:spLocks noGrp="1"/>
          </p:cNvSpPr>
          <p:nvPr/>
        </p:nvSpPr>
        <p:spPr>
          <a:xfrm>
            <a:off x="4846320" y="2423160"/>
            <a:ext cx="229616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소형 (Small)</a:t>
            </a:r>
          </a:p>
        </p:txBody>
      </p:sp>
      <p:sp>
        <p:nvSpPr>
          <p:cNvPr id="203" name="헤더_0"/>
          <p:cNvSpPr>
            <a:spLocks noGrp="1"/>
          </p:cNvSpPr>
          <p:nvPr/>
        </p:nvSpPr>
        <p:spPr>
          <a:xfrm>
            <a:off x="2834640" y="2423160"/>
            <a:ext cx="2011680" cy="522514"/>
          </a:xfrm>
          <a:prstGeom prst="rect">
            <a:avLst/>
          </a:prstGeom>
          <a:solidFill>
            <a:srgbClr val="0043DA"/>
          </a:solidFill>
          <a:ln w="6350">
            <a:solidFill>
              <a:srgbClr val="DCDCDC"/>
            </a:solidFill>
          </a:ln>
        </p:spPr>
        <p:txBody>
          <a:bodyPr anchor="ctr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프리젠테이션 7"/>
              </a:rPr>
              <a:t>항목</a:t>
            </a:r>
          </a:p>
        </p:txBody>
      </p:sp>
      <p:sp>
        <p:nvSpPr>
          <p:cNvPr id="202" name="추천 콜아웃"/>
          <p:cNvSpPr>
            <a:spLocks noGrp="1"/>
          </p:cNvSpPr>
          <p:nvPr/>
        </p:nvSpPr>
        <p:spPr>
          <a:xfrm>
            <a:off x="457200" y="2423160"/>
            <a:ext cx="2194560" cy="3657600"/>
          </a:xfrm>
          <a:prstGeom prst="roundRect">
            <a:avLst>
              <a:gd name="adj" fmla="val 16667"/>
            </a:avLst>
          </a:prstGeom>
          <a:solidFill>
            <a:srgbClr val="4CB88F"/>
          </a:solidFill>
          <a:ln w="12700">
            <a:solidFill>
              <a:srgbClr val="4CB88F"/>
            </a:solidFill>
          </a:ln>
        </p:spPr>
        <p:txBody>
          <a:bodyPr anchor="ctr"/>
          <a:lstStyle/>
          <a:p>
            <a:pPr algn="ctr"/>
            <a:r>
              <a:rPr lang="ko-KR" sz="1200">
                <a:solidFill>
                  <a:srgbClr val="212121"/>
                </a:solidFill>
                <a:latin typeface="프리젠테이션 7"/>
              </a:rPr>
              <a:t>⭐ 추천
중형 (Medium)
━━━━━━━━
프로덕션 워크로드 최적
비용 대비 TPS 효율 1위
한국 고객 78% 선택
₩1,800만/년</a:t>
            </a:r>
          </a:p>
        </p:txBody>
      </p:sp>
      <p:sp>
        <p:nvSpPr>
          <p:cNvPr id="201" name="본문 설명"/>
          <p:cNvSpPr>
            <a:spLocks noGrp="1"/>
          </p:cNvSpPr>
          <p:nvPr/>
        </p:nvSpPr>
        <p:spPr>
          <a:xfrm>
            <a:off x="457200" y="1965960"/>
            <a:ext cx="1127729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300" dirty="0">
                <a:solidFill>
                  <a:srgbClr val="212121"/>
                </a:solidFill>
                <a:latin typeface="프리젠테이션 5"/>
              </a:rPr>
              <a:t>워크로드별 권장 사양 비교 (2026년 4월 기준, AWS 서울 리전)</a:t>
            </a:r>
          </a:p>
        </p:txBody>
      </p:sp>
      <p:sp>
        <p:nvSpPr>
          <p:cNvPr id="200" name="본문 제목"/>
          <p:cNvSpPr>
            <a:spLocks noGrp="1"/>
          </p:cNvSpPr>
          <p:nvPr/>
        </p:nvSpPr>
        <p:spPr>
          <a:xfrm>
            <a:off x="457200" y="1600200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altLang="en-US" sz="1600" b="1" dirty="0">
                <a:solidFill>
                  <a:srgbClr val="0043DA"/>
                </a:solidFill>
                <a:latin typeface="프리젠테이션 7"/>
              </a:rPr>
              <a:t>AWS MSK 클러스터 크기 선택 가이드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dirty="0" sz="2000" b="1">
                <a:solidFill>
                  <a:srgbClr val="212121"/>
                </a:solidFill>
                <a:latin typeface="프리젠테이션 7"/>
              </a:rPr>
              <a:t>L24. Table Callout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ko-KR" altLang="en-US" dirty="0" sz="1300">
                <a:solidFill>
                  <a:srgbClr val="212121"/>
                </a:solidFill>
                <a:latin typeface="프리젠테이션 7"/>
              </a:rPr>
              <a:t>MSK 클러스터 크기 선택 가이드</a:t>
            </a:r>
          </a:p>
        </p:txBody>
      </p:sp>
    </p:spTree>
    <p:extLst>
      <p:ext uri="{BB962C8B-B14F-4D97-AF65-F5344CB8AC3E}">
        <p14:creationId xmlns:p14="http://schemas.microsoft.com/office/powerpoint/2010/main" val="342021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5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0043DA"/>
      </a:accent1>
      <a:accent2>
        <a:srgbClr val="4CB88F"/>
      </a:accent2>
      <a:accent3>
        <a:srgbClr val="EE8150"/>
      </a:accent3>
      <a:accent4>
        <a:srgbClr val="2A6FDE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GS네오텍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6831</TotalTime>
  <Words>2900</Words>
  <Application>Microsoft Macintosh PowerPoint</Application>
  <PresentationFormat>Widescreen</PresentationFormat>
  <Paragraphs>507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Freesentation</vt:lpstr>
      <vt:lpstr>Freesentation 7 Bold</vt:lpstr>
      <vt:lpstr>맑은 고딕</vt:lpstr>
      <vt:lpstr>프리젠테이션 4 Regular</vt:lpstr>
      <vt:lpstr>프리젠테이션 5</vt:lpstr>
      <vt:lpstr>프리젠테이션 6 SemiBold</vt:lpstr>
      <vt:lpstr>프리젠테이션 7</vt:lpstr>
      <vt:lpstr>프리젠테이션 7 Bold</vt:lpstr>
      <vt:lpstr>Arial</vt:lpstr>
      <vt:lpstr>Courier New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디자이너</dc:creator>
  <cp:lastModifiedBy>이홍섭/GRM프로젝트</cp:lastModifiedBy>
  <cp:revision>777</cp:revision>
  <dcterms:created xsi:type="dcterms:W3CDTF">2022-03-02T05:40:55Z</dcterms:created>
  <dcterms:modified xsi:type="dcterms:W3CDTF">2026-04-20T07:04:56Z</dcterms:modified>
</cp:coreProperties>
</file>